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43" r:id="rId1"/>
  </p:sldMasterIdLst>
  <p:notesMasterIdLst>
    <p:notesMasterId r:id="rId28"/>
  </p:notesMasterIdLst>
  <p:sldIdLst>
    <p:sldId id="256" r:id="rId2"/>
    <p:sldId id="257" r:id="rId3"/>
    <p:sldId id="258" r:id="rId4"/>
    <p:sldId id="259" r:id="rId5"/>
    <p:sldId id="260" r:id="rId6"/>
    <p:sldId id="262" r:id="rId7"/>
    <p:sldId id="261" r:id="rId8"/>
    <p:sldId id="265" r:id="rId9"/>
    <p:sldId id="280" r:id="rId10"/>
    <p:sldId id="263" r:id="rId11"/>
    <p:sldId id="283" r:id="rId12"/>
    <p:sldId id="284" r:id="rId13"/>
    <p:sldId id="287" r:id="rId14"/>
    <p:sldId id="285" r:id="rId15"/>
    <p:sldId id="286" r:id="rId16"/>
    <p:sldId id="288" r:id="rId17"/>
    <p:sldId id="290" r:id="rId18"/>
    <p:sldId id="291" r:id="rId19"/>
    <p:sldId id="292" r:id="rId20"/>
    <p:sldId id="293" r:id="rId21"/>
    <p:sldId id="266" r:id="rId22"/>
    <p:sldId id="267" r:id="rId23"/>
    <p:sldId id="294" r:id="rId24"/>
    <p:sldId id="268" r:id="rId25"/>
    <p:sldId id="270" r:id="rId26"/>
    <p:sldId id="28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1D4CFF-838D-41B3-A70D-B7C77019CD81}"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86E1EBA5-5A6C-4F3C-8E89-CDAA1F996D66}">
      <dgm:prSet phldrT="[Texte]" custT="1"/>
      <dgm:spPr>
        <a:solidFill>
          <a:schemeClr val="bg1"/>
        </a:solidFill>
      </dgm:spPr>
      <dgm:t>
        <a:bodyPr/>
        <a:lstStyle/>
        <a:p>
          <a:pPr>
            <a:buNone/>
          </a:pPr>
          <a:r>
            <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Découverte</a:t>
          </a:r>
          <a:r>
            <a:rPr lang="fr-FR" sz="2400" b="1" i="0" u="none" strike="noStrike" baseline="0" dirty="0">
              <a:solidFill>
                <a:srgbClr val="000000"/>
              </a:solidFill>
              <a:latin typeface="Arial" panose="020B0604020202020204" pitchFamily="34" charset="0"/>
              <a:cs typeface="Arial" panose="020B0604020202020204" pitchFamily="34" charset="0"/>
            </a:rPr>
            <a:t> des données</a:t>
          </a:r>
          <a:endParaRPr lang="fr-FR" sz="2400" dirty="0"/>
        </a:p>
      </dgm:t>
    </dgm:pt>
    <dgm:pt modelId="{2ECE6BB6-9CB8-46F0-867B-19BC7C7766DB}" type="parTrans" cxnId="{C1FB347A-FB81-4FCE-BB3B-9E23CB3B481B}">
      <dgm:prSet/>
      <dgm:spPr/>
      <dgm:t>
        <a:bodyPr/>
        <a:lstStyle/>
        <a:p>
          <a:endParaRPr lang="fr-FR"/>
        </a:p>
      </dgm:t>
    </dgm:pt>
    <dgm:pt modelId="{58141040-13F6-4EB3-BAF7-D2C35E078BDD}" type="sibTrans" cxnId="{C1FB347A-FB81-4FCE-BB3B-9E23CB3B481B}">
      <dgm:prSet/>
      <dgm:spPr/>
      <dgm:t>
        <a:bodyPr/>
        <a:lstStyle/>
        <a:p>
          <a:endParaRPr lang="fr-FR"/>
        </a:p>
      </dgm:t>
    </dgm:pt>
    <dgm:pt modelId="{79B68CF9-8B96-465A-BC84-5B0843A2199E}">
      <dgm:prSet phldrT="[Texte]" custT="1"/>
      <dgm:spPr>
        <a:solidFill>
          <a:schemeClr val="bg1"/>
        </a:solidFill>
      </dgm:spPr>
      <dgm:t>
        <a:bodyPr/>
        <a:lstStyle/>
        <a:p>
          <a:pPr>
            <a:buNone/>
          </a:pPr>
          <a:endParaRPr lang="fr-FR" sz="2400" b="1" i="0" u="none" strike="noStrike" baseline="0" dirty="0">
            <a:solidFill>
              <a:srgbClr val="000000"/>
            </a:solidFill>
            <a:latin typeface="Arial" panose="020B0604020202020204" pitchFamily="34" charset="0"/>
            <a:cs typeface="Arial" panose="020B0604020202020204" pitchFamily="34" charset="0"/>
          </a:endParaRPr>
        </a:p>
        <a:p>
          <a:pPr>
            <a:buNone/>
          </a:pPr>
          <a:r>
            <a:rPr lang="fr-FR" sz="2400" b="1" i="0" u="none" strike="noStrike" baseline="0" dirty="0">
              <a:solidFill>
                <a:srgbClr val="000000"/>
              </a:solidFill>
              <a:latin typeface="Arial" panose="020B0604020202020204" pitchFamily="34" charset="0"/>
              <a:cs typeface="Arial" panose="020B0604020202020204" pitchFamily="34" charset="0"/>
            </a:rPr>
            <a:t>Préparation des données et </a:t>
          </a:r>
          <a:r>
            <a:rPr lang="fr-FR" sz="2400" b="1" i="0" u="none" strike="noStrike" baseline="0" dirty="0" err="1">
              <a:solidFill>
                <a:srgbClr val="000000"/>
              </a:solidFill>
              <a:latin typeface="Arial" panose="020B0604020202020204" pitchFamily="34" charset="0"/>
              <a:cs typeface="Arial" panose="020B0604020202020204" pitchFamily="34" charset="0"/>
            </a:rPr>
            <a:t>Feature</a:t>
          </a:r>
          <a:r>
            <a:rPr lang="fr-FR" sz="2400" b="1" i="0" u="none" strike="noStrike" baseline="0" dirty="0">
              <a:solidFill>
                <a:srgbClr val="000000"/>
              </a:solidFill>
              <a:latin typeface="Arial" panose="020B0604020202020204" pitchFamily="34" charset="0"/>
              <a:cs typeface="Arial" panose="020B0604020202020204" pitchFamily="34" charset="0"/>
            </a:rPr>
            <a:t> engineering</a:t>
          </a:r>
        </a:p>
        <a:p>
          <a:pPr>
            <a:buNone/>
          </a:pPr>
          <a:endParaRPr lang="fr-FR" sz="2400" dirty="0">
            <a:latin typeface="Calibri" panose="020F0502020204030204" pitchFamily="34" charset="0"/>
            <a:ea typeface="Calibri" panose="020F0502020204030204" pitchFamily="34" charset="0"/>
            <a:cs typeface="Calibri" panose="020F0502020204030204" pitchFamily="34" charset="0"/>
          </a:endParaRPr>
        </a:p>
      </dgm:t>
    </dgm:pt>
    <dgm:pt modelId="{836CC1A1-60DC-44C5-B47F-AE37131027CC}" type="parTrans" cxnId="{3023AB68-E67A-4DAD-B5F8-253DCFA289A3}">
      <dgm:prSet/>
      <dgm:spPr/>
      <dgm:t>
        <a:bodyPr/>
        <a:lstStyle/>
        <a:p>
          <a:endParaRPr lang="fr-FR"/>
        </a:p>
      </dgm:t>
    </dgm:pt>
    <dgm:pt modelId="{2186C93A-CF4E-41DF-BA0A-51B1468E51B8}" type="sibTrans" cxnId="{3023AB68-E67A-4DAD-B5F8-253DCFA289A3}">
      <dgm:prSet/>
      <dgm:spPr/>
      <dgm:t>
        <a:bodyPr/>
        <a:lstStyle/>
        <a:p>
          <a:endParaRPr lang="fr-FR"/>
        </a:p>
      </dgm:t>
    </dgm:pt>
    <dgm:pt modelId="{40F461E1-53AA-4ABD-9E56-0190480A3201}">
      <dgm:prSet custT="1"/>
      <dgm:spPr>
        <a:solidFill>
          <a:schemeClr val="bg1"/>
        </a:solidFill>
      </dgm:spPr>
      <dgm:t>
        <a:bodyPr/>
        <a:lstStyle/>
        <a:p>
          <a:endPar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Modélisation</a:t>
          </a:r>
        </a:p>
        <a:p>
          <a:endPar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dgm:t>
    </dgm:pt>
    <dgm:pt modelId="{7D851EEC-77A4-48D6-AC99-F7E902C57786}" type="parTrans" cxnId="{CA904C52-0FDF-41ED-8C40-C9A2D61DDF6D}">
      <dgm:prSet/>
      <dgm:spPr/>
      <dgm:t>
        <a:bodyPr/>
        <a:lstStyle/>
        <a:p>
          <a:endParaRPr lang="fr-FR"/>
        </a:p>
      </dgm:t>
    </dgm:pt>
    <dgm:pt modelId="{1764EE43-8208-4B58-AF8F-4EF432FFA5DA}" type="sibTrans" cxnId="{CA904C52-0FDF-41ED-8C40-C9A2D61DDF6D}">
      <dgm:prSet/>
      <dgm:spPr/>
      <dgm:t>
        <a:bodyPr/>
        <a:lstStyle/>
        <a:p>
          <a:endParaRPr lang="fr-FR"/>
        </a:p>
      </dgm:t>
    </dgm:pt>
    <dgm:pt modelId="{D22F9067-F91D-4E6C-8BC4-754D0E8110DD}">
      <dgm:prSet custT="1"/>
      <dgm:spPr>
        <a:solidFill>
          <a:schemeClr val="bg1"/>
        </a:solidFill>
      </dgm:spPr>
      <dgm:t>
        <a:bodyPr/>
        <a:lstStyle/>
        <a:p>
          <a:r>
            <a:rPr lang="fr-FR" sz="2400" b="1" dirty="0">
              <a:solidFill>
                <a:schemeClr val="tx1"/>
              </a:solidFill>
              <a:latin typeface="Calibri" panose="020F0502020204030204" pitchFamily="34" charset="0"/>
              <a:ea typeface="Calibri" panose="020F0502020204030204" pitchFamily="34" charset="0"/>
              <a:cs typeface="Calibri" panose="020F0502020204030204" pitchFamily="34" charset="0"/>
            </a:rPr>
            <a:t>Déploiement d'une API de prédiction et d’un Dashboard interactif</a:t>
          </a:r>
        </a:p>
      </dgm:t>
    </dgm:pt>
    <dgm:pt modelId="{B024EA31-3C1E-4084-B618-6EBD22D43DA2}" type="parTrans" cxnId="{BB5CAC86-D4EF-4F86-AEC5-CA32F308EB1E}">
      <dgm:prSet/>
      <dgm:spPr/>
      <dgm:t>
        <a:bodyPr/>
        <a:lstStyle/>
        <a:p>
          <a:endParaRPr lang="fr-FR"/>
        </a:p>
      </dgm:t>
    </dgm:pt>
    <dgm:pt modelId="{ECB511DA-014F-4B42-9220-A32FABA0BC88}" type="sibTrans" cxnId="{BB5CAC86-D4EF-4F86-AEC5-CA32F308EB1E}">
      <dgm:prSet/>
      <dgm:spPr/>
      <dgm:t>
        <a:bodyPr/>
        <a:lstStyle/>
        <a:p>
          <a:endParaRPr lang="fr-FR"/>
        </a:p>
      </dgm:t>
    </dgm:pt>
    <dgm:pt modelId="{B69F38B5-55C1-41AD-9FE8-458353D0511E}" type="pres">
      <dgm:prSet presAssocID="{9D1D4CFF-838D-41B3-A70D-B7C77019CD81}" presName="Name0" presStyleCnt="0">
        <dgm:presLayoutVars>
          <dgm:chMax val="7"/>
          <dgm:chPref val="7"/>
          <dgm:dir/>
        </dgm:presLayoutVars>
      </dgm:prSet>
      <dgm:spPr/>
    </dgm:pt>
    <dgm:pt modelId="{60CFF4DD-76BD-45BF-859E-DDB5448BBCEC}" type="pres">
      <dgm:prSet presAssocID="{9D1D4CFF-838D-41B3-A70D-B7C77019CD81}" presName="Name1" presStyleCnt="0"/>
      <dgm:spPr/>
    </dgm:pt>
    <dgm:pt modelId="{39ECE3D3-CFF9-4F09-8264-FBD76FF027E7}" type="pres">
      <dgm:prSet presAssocID="{9D1D4CFF-838D-41B3-A70D-B7C77019CD81}" presName="cycle" presStyleCnt="0"/>
      <dgm:spPr/>
    </dgm:pt>
    <dgm:pt modelId="{76F848A5-0A15-489A-BC3D-960FC877270C}" type="pres">
      <dgm:prSet presAssocID="{9D1D4CFF-838D-41B3-A70D-B7C77019CD81}" presName="srcNode" presStyleLbl="node1" presStyleIdx="0" presStyleCnt="4"/>
      <dgm:spPr/>
    </dgm:pt>
    <dgm:pt modelId="{8DAFC662-455E-4086-AF17-B74AFED36479}" type="pres">
      <dgm:prSet presAssocID="{9D1D4CFF-838D-41B3-A70D-B7C77019CD81}" presName="conn" presStyleLbl="parChTrans1D2" presStyleIdx="0" presStyleCnt="1"/>
      <dgm:spPr/>
    </dgm:pt>
    <dgm:pt modelId="{6EE9D7C3-4023-4AAC-AAC5-EBFE0EFE3415}" type="pres">
      <dgm:prSet presAssocID="{9D1D4CFF-838D-41B3-A70D-B7C77019CD81}" presName="extraNode" presStyleLbl="node1" presStyleIdx="0" presStyleCnt="4"/>
      <dgm:spPr/>
    </dgm:pt>
    <dgm:pt modelId="{F3503144-3608-4B59-9119-E21581B42608}" type="pres">
      <dgm:prSet presAssocID="{9D1D4CFF-838D-41B3-A70D-B7C77019CD81}" presName="dstNode" presStyleLbl="node1" presStyleIdx="0" presStyleCnt="4"/>
      <dgm:spPr/>
    </dgm:pt>
    <dgm:pt modelId="{E7098FBD-BFAC-4443-B993-A9247A21FF35}" type="pres">
      <dgm:prSet presAssocID="{86E1EBA5-5A6C-4F3C-8E89-CDAA1F996D66}" presName="text_1" presStyleLbl="node1" presStyleIdx="0" presStyleCnt="4" custScaleY="79551">
        <dgm:presLayoutVars>
          <dgm:bulletEnabled val="1"/>
        </dgm:presLayoutVars>
      </dgm:prSet>
      <dgm:spPr/>
    </dgm:pt>
    <dgm:pt modelId="{78395153-4E56-4026-979E-B01D7C083D67}" type="pres">
      <dgm:prSet presAssocID="{86E1EBA5-5A6C-4F3C-8E89-CDAA1F996D66}" presName="accent_1" presStyleCnt="0"/>
      <dgm:spPr/>
    </dgm:pt>
    <dgm:pt modelId="{9A7D817A-8046-4654-ABC9-E30F2B6E6CEC}" type="pres">
      <dgm:prSet presAssocID="{86E1EBA5-5A6C-4F3C-8E89-CDAA1F996D66}" presName="accentRepeatNode" presStyleLbl="solidFgAcc1" presStyleIdx="0" presStyleCnt="4"/>
      <dgm:spPr>
        <a:solidFill>
          <a:schemeClr val="tx2"/>
        </a:solidFill>
      </dgm:spPr>
    </dgm:pt>
    <dgm:pt modelId="{DBDC84D9-0969-4521-98BE-99CC1717297E}" type="pres">
      <dgm:prSet presAssocID="{79B68CF9-8B96-465A-BC84-5B0843A2199E}" presName="text_2" presStyleLbl="node1" presStyleIdx="1" presStyleCnt="4">
        <dgm:presLayoutVars>
          <dgm:bulletEnabled val="1"/>
        </dgm:presLayoutVars>
      </dgm:prSet>
      <dgm:spPr/>
    </dgm:pt>
    <dgm:pt modelId="{D7E26046-A868-4DD2-B61A-D48F415EDF80}" type="pres">
      <dgm:prSet presAssocID="{79B68CF9-8B96-465A-BC84-5B0843A2199E}" presName="accent_2" presStyleCnt="0"/>
      <dgm:spPr/>
    </dgm:pt>
    <dgm:pt modelId="{2A0B939D-340B-4959-A7FF-DA92750D2705}" type="pres">
      <dgm:prSet presAssocID="{79B68CF9-8B96-465A-BC84-5B0843A2199E}" presName="accentRepeatNode" presStyleLbl="solidFgAcc1" presStyleIdx="1" presStyleCnt="4"/>
      <dgm:spPr/>
    </dgm:pt>
    <dgm:pt modelId="{5F6D72F9-157F-4CB8-8DC7-0EAC340DC36E}" type="pres">
      <dgm:prSet presAssocID="{40F461E1-53AA-4ABD-9E56-0190480A3201}" presName="text_3" presStyleLbl="node1" presStyleIdx="2" presStyleCnt="4">
        <dgm:presLayoutVars>
          <dgm:bulletEnabled val="1"/>
        </dgm:presLayoutVars>
      </dgm:prSet>
      <dgm:spPr/>
    </dgm:pt>
    <dgm:pt modelId="{D0E96EA5-DF4E-4F35-8C70-4F678C465F02}" type="pres">
      <dgm:prSet presAssocID="{40F461E1-53AA-4ABD-9E56-0190480A3201}" presName="accent_3" presStyleCnt="0"/>
      <dgm:spPr/>
    </dgm:pt>
    <dgm:pt modelId="{B311CE32-0198-4C20-9A42-4EFE6FAD3E81}" type="pres">
      <dgm:prSet presAssocID="{40F461E1-53AA-4ABD-9E56-0190480A3201}" presName="accentRepeatNode" presStyleLbl="solidFgAcc1" presStyleIdx="2" presStyleCnt="4"/>
      <dgm:spPr/>
    </dgm:pt>
    <dgm:pt modelId="{82090FC8-52A0-46AF-BD05-40E7E227F1A7}" type="pres">
      <dgm:prSet presAssocID="{D22F9067-F91D-4E6C-8BC4-754D0E8110DD}" presName="text_4" presStyleLbl="node1" presStyleIdx="3" presStyleCnt="4">
        <dgm:presLayoutVars>
          <dgm:bulletEnabled val="1"/>
        </dgm:presLayoutVars>
      </dgm:prSet>
      <dgm:spPr/>
    </dgm:pt>
    <dgm:pt modelId="{8CC75F9F-9F91-4DBC-9652-7A6285DD74D8}" type="pres">
      <dgm:prSet presAssocID="{D22F9067-F91D-4E6C-8BC4-754D0E8110DD}" presName="accent_4" presStyleCnt="0"/>
      <dgm:spPr/>
    </dgm:pt>
    <dgm:pt modelId="{B6E64628-C5BE-4CB8-B331-8C2B188C0813}" type="pres">
      <dgm:prSet presAssocID="{D22F9067-F91D-4E6C-8BC4-754D0E8110DD}" presName="accentRepeatNode" presStyleLbl="solidFgAcc1" presStyleIdx="3" presStyleCnt="4"/>
      <dgm:spPr/>
    </dgm:pt>
  </dgm:ptLst>
  <dgm:cxnLst>
    <dgm:cxn modelId="{10C7CF0F-F049-47FC-9E08-A1545451E60F}" type="presOf" srcId="{40F461E1-53AA-4ABD-9E56-0190480A3201}" destId="{5F6D72F9-157F-4CB8-8DC7-0EAC340DC36E}" srcOrd="0" destOrd="0" presId="urn:microsoft.com/office/officeart/2008/layout/VerticalCurvedList"/>
    <dgm:cxn modelId="{FA9B3E12-CEB1-43FC-9C03-D768B8901295}" type="presOf" srcId="{D22F9067-F91D-4E6C-8BC4-754D0E8110DD}" destId="{82090FC8-52A0-46AF-BD05-40E7E227F1A7}" srcOrd="0" destOrd="0" presId="urn:microsoft.com/office/officeart/2008/layout/VerticalCurvedList"/>
    <dgm:cxn modelId="{A4FBF839-1BCF-4BD5-9946-AE729F4BF59D}" type="presOf" srcId="{9D1D4CFF-838D-41B3-A70D-B7C77019CD81}" destId="{B69F38B5-55C1-41AD-9FE8-458353D0511E}" srcOrd="0" destOrd="0" presId="urn:microsoft.com/office/officeart/2008/layout/VerticalCurvedList"/>
    <dgm:cxn modelId="{3023AB68-E67A-4DAD-B5F8-253DCFA289A3}" srcId="{9D1D4CFF-838D-41B3-A70D-B7C77019CD81}" destId="{79B68CF9-8B96-465A-BC84-5B0843A2199E}" srcOrd="1" destOrd="0" parTransId="{836CC1A1-60DC-44C5-B47F-AE37131027CC}" sibTransId="{2186C93A-CF4E-41DF-BA0A-51B1468E51B8}"/>
    <dgm:cxn modelId="{CA904C52-0FDF-41ED-8C40-C9A2D61DDF6D}" srcId="{9D1D4CFF-838D-41B3-A70D-B7C77019CD81}" destId="{40F461E1-53AA-4ABD-9E56-0190480A3201}" srcOrd="2" destOrd="0" parTransId="{7D851EEC-77A4-48D6-AC99-F7E902C57786}" sibTransId="{1764EE43-8208-4B58-AF8F-4EF432FFA5DA}"/>
    <dgm:cxn modelId="{C1FB347A-FB81-4FCE-BB3B-9E23CB3B481B}" srcId="{9D1D4CFF-838D-41B3-A70D-B7C77019CD81}" destId="{86E1EBA5-5A6C-4F3C-8E89-CDAA1F996D66}" srcOrd="0" destOrd="0" parTransId="{2ECE6BB6-9CB8-46F0-867B-19BC7C7766DB}" sibTransId="{58141040-13F6-4EB3-BAF7-D2C35E078BDD}"/>
    <dgm:cxn modelId="{BB5CAC86-D4EF-4F86-AEC5-CA32F308EB1E}" srcId="{9D1D4CFF-838D-41B3-A70D-B7C77019CD81}" destId="{D22F9067-F91D-4E6C-8BC4-754D0E8110DD}" srcOrd="3" destOrd="0" parTransId="{B024EA31-3C1E-4084-B618-6EBD22D43DA2}" sibTransId="{ECB511DA-014F-4B42-9220-A32FABA0BC88}"/>
    <dgm:cxn modelId="{715E5A9B-BA48-4D2E-859A-EB2F8431C4A7}" type="presOf" srcId="{86E1EBA5-5A6C-4F3C-8E89-CDAA1F996D66}" destId="{E7098FBD-BFAC-4443-B993-A9247A21FF35}" srcOrd="0" destOrd="0" presId="urn:microsoft.com/office/officeart/2008/layout/VerticalCurvedList"/>
    <dgm:cxn modelId="{93F2CEB2-D47F-45C9-AEA2-F47E9693A3E1}" type="presOf" srcId="{79B68CF9-8B96-465A-BC84-5B0843A2199E}" destId="{DBDC84D9-0969-4521-98BE-99CC1717297E}" srcOrd="0" destOrd="0" presId="urn:microsoft.com/office/officeart/2008/layout/VerticalCurvedList"/>
    <dgm:cxn modelId="{EEFC0FDF-A91C-479E-9BCF-96E1F0EC4920}" type="presOf" srcId="{58141040-13F6-4EB3-BAF7-D2C35E078BDD}" destId="{8DAFC662-455E-4086-AF17-B74AFED36479}" srcOrd="0" destOrd="0" presId="urn:microsoft.com/office/officeart/2008/layout/VerticalCurvedList"/>
    <dgm:cxn modelId="{8651327E-28E0-4256-9C15-393B9BE5AC1D}" type="presParOf" srcId="{B69F38B5-55C1-41AD-9FE8-458353D0511E}" destId="{60CFF4DD-76BD-45BF-859E-DDB5448BBCEC}" srcOrd="0" destOrd="0" presId="urn:microsoft.com/office/officeart/2008/layout/VerticalCurvedList"/>
    <dgm:cxn modelId="{0A4B35FA-6494-4B3A-81E7-D809F5107472}" type="presParOf" srcId="{60CFF4DD-76BD-45BF-859E-DDB5448BBCEC}" destId="{39ECE3D3-CFF9-4F09-8264-FBD76FF027E7}" srcOrd="0" destOrd="0" presId="urn:microsoft.com/office/officeart/2008/layout/VerticalCurvedList"/>
    <dgm:cxn modelId="{DD2CBEBC-1FC5-4CBD-B76B-0C5AE3C2F739}" type="presParOf" srcId="{39ECE3D3-CFF9-4F09-8264-FBD76FF027E7}" destId="{76F848A5-0A15-489A-BC3D-960FC877270C}" srcOrd="0" destOrd="0" presId="urn:microsoft.com/office/officeart/2008/layout/VerticalCurvedList"/>
    <dgm:cxn modelId="{8C4A48ED-A2F6-4ED4-95D8-9BACB47AFF70}" type="presParOf" srcId="{39ECE3D3-CFF9-4F09-8264-FBD76FF027E7}" destId="{8DAFC662-455E-4086-AF17-B74AFED36479}" srcOrd="1" destOrd="0" presId="urn:microsoft.com/office/officeart/2008/layout/VerticalCurvedList"/>
    <dgm:cxn modelId="{175984CC-97B1-4130-B700-7930B05D84D5}" type="presParOf" srcId="{39ECE3D3-CFF9-4F09-8264-FBD76FF027E7}" destId="{6EE9D7C3-4023-4AAC-AAC5-EBFE0EFE3415}" srcOrd="2" destOrd="0" presId="urn:microsoft.com/office/officeart/2008/layout/VerticalCurvedList"/>
    <dgm:cxn modelId="{9DBD0835-A3B9-483E-9D91-2611B34E927A}" type="presParOf" srcId="{39ECE3D3-CFF9-4F09-8264-FBD76FF027E7}" destId="{F3503144-3608-4B59-9119-E21581B42608}" srcOrd="3" destOrd="0" presId="urn:microsoft.com/office/officeart/2008/layout/VerticalCurvedList"/>
    <dgm:cxn modelId="{36F9321D-F540-4F66-8948-896CBD47BCDC}" type="presParOf" srcId="{60CFF4DD-76BD-45BF-859E-DDB5448BBCEC}" destId="{E7098FBD-BFAC-4443-B993-A9247A21FF35}" srcOrd="1" destOrd="0" presId="urn:microsoft.com/office/officeart/2008/layout/VerticalCurvedList"/>
    <dgm:cxn modelId="{82B57F18-5AE9-4334-A66C-5FAEE18BD4D6}" type="presParOf" srcId="{60CFF4DD-76BD-45BF-859E-DDB5448BBCEC}" destId="{78395153-4E56-4026-979E-B01D7C083D67}" srcOrd="2" destOrd="0" presId="urn:microsoft.com/office/officeart/2008/layout/VerticalCurvedList"/>
    <dgm:cxn modelId="{A8F45059-C121-4D8B-9746-1E0F6F063888}" type="presParOf" srcId="{78395153-4E56-4026-979E-B01D7C083D67}" destId="{9A7D817A-8046-4654-ABC9-E30F2B6E6CEC}" srcOrd="0" destOrd="0" presId="urn:microsoft.com/office/officeart/2008/layout/VerticalCurvedList"/>
    <dgm:cxn modelId="{3CEDA700-8BC5-413A-85BA-4649A741BF22}" type="presParOf" srcId="{60CFF4DD-76BD-45BF-859E-DDB5448BBCEC}" destId="{DBDC84D9-0969-4521-98BE-99CC1717297E}" srcOrd="3" destOrd="0" presId="urn:microsoft.com/office/officeart/2008/layout/VerticalCurvedList"/>
    <dgm:cxn modelId="{347683D5-2825-4C64-8DB0-CCF88854E216}" type="presParOf" srcId="{60CFF4DD-76BD-45BF-859E-DDB5448BBCEC}" destId="{D7E26046-A868-4DD2-B61A-D48F415EDF80}" srcOrd="4" destOrd="0" presId="urn:microsoft.com/office/officeart/2008/layout/VerticalCurvedList"/>
    <dgm:cxn modelId="{F325B96F-78A2-4EC7-A337-48C2E0576B1E}" type="presParOf" srcId="{D7E26046-A868-4DD2-B61A-D48F415EDF80}" destId="{2A0B939D-340B-4959-A7FF-DA92750D2705}" srcOrd="0" destOrd="0" presId="urn:microsoft.com/office/officeart/2008/layout/VerticalCurvedList"/>
    <dgm:cxn modelId="{4BBDC01D-37E8-4B31-8C81-BC599D07E774}" type="presParOf" srcId="{60CFF4DD-76BD-45BF-859E-DDB5448BBCEC}" destId="{5F6D72F9-157F-4CB8-8DC7-0EAC340DC36E}" srcOrd="5" destOrd="0" presId="urn:microsoft.com/office/officeart/2008/layout/VerticalCurvedList"/>
    <dgm:cxn modelId="{8098F042-8398-49CE-9D80-D6C2F0874DA1}" type="presParOf" srcId="{60CFF4DD-76BD-45BF-859E-DDB5448BBCEC}" destId="{D0E96EA5-DF4E-4F35-8C70-4F678C465F02}" srcOrd="6" destOrd="0" presId="urn:microsoft.com/office/officeart/2008/layout/VerticalCurvedList"/>
    <dgm:cxn modelId="{35DC1BE9-E948-47EA-A3A9-BFF23D348A09}" type="presParOf" srcId="{D0E96EA5-DF4E-4F35-8C70-4F678C465F02}" destId="{B311CE32-0198-4C20-9A42-4EFE6FAD3E81}" srcOrd="0" destOrd="0" presId="urn:microsoft.com/office/officeart/2008/layout/VerticalCurvedList"/>
    <dgm:cxn modelId="{BA8F94DA-CB2B-4068-98B8-8494FB3A4067}" type="presParOf" srcId="{60CFF4DD-76BD-45BF-859E-DDB5448BBCEC}" destId="{82090FC8-52A0-46AF-BD05-40E7E227F1A7}" srcOrd="7" destOrd="0" presId="urn:microsoft.com/office/officeart/2008/layout/VerticalCurvedList"/>
    <dgm:cxn modelId="{AADD68A7-A23B-4EEB-A487-1ACDAFE0D48D}" type="presParOf" srcId="{60CFF4DD-76BD-45BF-859E-DDB5448BBCEC}" destId="{8CC75F9F-9F91-4DBC-9652-7A6285DD74D8}" srcOrd="8" destOrd="0" presId="urn:microsoft.com/office/officeart/2008/layout/VerticalCurvedList"/>
    <dgm:cxn modelId="{554899E3-EEC0-43EE-A2E9-88D227E1B556}" type="presParOf" srcId="{8CC75F9F-9F91-4DBC-9652-7A6285DD74D8}" destId="{B6E64628-C5BE-4CB8-B331-8C2B188C081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1D4CFF-838D-41B3-A70D-B7C77019CD81}"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86E1EBA5-5A6C-4F3C-8E89-CDAA1F996D66}">
      <dgm:prSet phldrT="[Texte]" custT="1"/>
      <dgm:spPr>
        <a:solidFill>
          <a:schemeClr val="bg1"/>
        </a:solidFill>
      </dgm:spPr>
      <dgm:t>
        <a:bodyPr/>
        <a:lstStyle/>
        <a:p>
          <a:pPr>
            <a:buNone/>
          </a:pPr>
          <a:r>
            <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Découverte</a:t>
          </a:r>
          <a:r>
            <a:rPr lang="fr-FR" sz="2400" b="1" i="0" u="none" strike="noStrike" baseline="0" dirty="0">
              <a:solidFill>
                <a:srgbClr val="000000"/>
              </a:solidFill>
              <a:latin typeface="Arial" panose="020B0604020202020204" pitchFamily="34" charset="0"/>
              <a:cs typeface="Arial" panose="020B0604020202020204" pitchFamily="34" charset="0"/>
            </a:rPr>
            <a:t> des données</a:t>
          </a:r>
          <a:endParaRPr lang="fr-FR" sz="2400" dirty="0"/>
        </a:p>
      </dgm:t>
    </dgm:pt>
    <dgm:pt modelId="{2ECE6BB6-9CB8-46F0-867B-19BC7C7766DB}" type="parTrans" cxnId="{C1FB347A-FB81-4FCE-BB3B-9E23CB3B481B}">
      <dgm:prSet/>
      <dgm:spPr/>
      <dgm:t>
        <a:bodyPr/>
        <a:lstStyle/>
        <a:p>
          <a:endParaRPr lang="fr-FR"/>
        </a:p>
      </dgm:t>
    </dgm:pt>
    <dgm:pt modelId="{58141040-13F6-4EB3-BAF7-D2C35E078BDD}" type="sibTrans" cxnId="{C1FB347A-FB81-4FCE-BB3B-9E23CB3B481B}">
      <dgm:prSet/>
      <dgm:spPr/>
      <dgm:t>
        <a:bodyPr/>
        <a:lstStyle/>
        <a:p>
          <a:endParaRPr lang="fr-FR"/>
        </a:p>
      </dgm:t>
    </dgm:pt>
    <dgm:pt modelId="{79B68CF9-8B96-465A-BC84-5B0843A2199E}">
      <dgm:prSet phldrT="[Texte]" custT="1"/>
      <dgm:spPr>
        <a:solidFill>
          <a:schemeClr val="bg1"/>
        </a:solidFill>
      </dgm:spPr>
      <dgm:t>
        <a:bodyPr/>
        <a:lstStyle/>
        <a:p>
          <a:pPr>
            <a:buNone/>
          </a:pPr>
          <a:endParaRPr lang="fr-FR" sz="2400" b="1" i="0" u="none" strike="noStrike" baseline="0" dirty="0">
            <a:solidFill>
              <a:srgbClr val="000000"/>
            </a:solidFill>
            <a:latin typeface="Arial" panose="020B0604020202020204" pitchFamily="34" charset="0"/>
            <a:cs typeface="Arial" panose="020B0604020202020204" pitchFamily="34" charset="0"/>
          </a:endParaRPr>
        </a:p>
        <a:p>
          <a:pPr>
            <a:buNone/>
          </a:pPr>
          <a:r>
            <a:rPr lang="fr-FR" sz="2400" b="1" i="0" u="none" strike="noStrike" baseline="0" dirty="0">
              <a:solidFill>
                <a:srgbClr val="000000"/>
              </a:solidFill>
              <a:latin typeface="Arial" panose="020B0604020202020204" pitchFamily="34" charset="0"/>
              <a:cs typeface="Arial" panose="020B0604020202020204" pitchFamily="34" charset="0"/>
            </a:rPr>
            <a:t>Préparation des données et </a:t>
          </a:r>
          <a:r>
            <a:rPr lang="fr-FR" sz="2400" b="1" i="0" u="none" strike="noStrike" baseline="0" dirty="0" err="1">
              <a:solidFill>
                <a:srgbClr val="000000"/>
              </a:solidFill>
              <a:latin typeface="Arial" panose="020B0604020202020204" pitchFamily="34" charset="0"/>
              <a:cs typeface="Arial" panose="020B0604020202020204" pitchFamily="34" charset="0"/>
            </a:rPr>
            <a:t>Feature</a:t>
          </a:r>
          <a:r>
            <a:rPr lang="fr-FR" sz="2400" b="1" i="0" u="none" strike="noStrike" baseline="0" dirty="0">
              <a:solidFill>
                <a:srgbClr val="000000"/>
              </a:solidFill>
              <a:latin typeface="Arial" panose="020B0604020202020204" pitchFamily="34" charset="0"/>
              <a:cs typeface="Arial" panose="020B0604020202020204" pitchFamily="34" charset="0"/>
            </a:rPr>
            <a:t> engineering</a:t>
          </a:r>
        </a:p>
        <a:p>
          <a:pPr>
            <a:buNone/>
          </a:pPr>
          <a:endParaRPr lang="fr-FR" sz="2400" dirty="0">
            <a:latin typeface="Calibri" panose="020F0502020204030204" pitchFamily="34" charset="0"/>
            <a:ea typeface="Calibri" panose="020F0502020204030204" pitchFamily="34" charset="0"/>
            <a:cs typeface="Calibri" panose="020F0502020204030204" pitchFamily="34" charset="0"/>
          </a:endParaRPr>
        </a:p>
      </dgm:t>
    </dgm:pt>
    <dgm:pt modelId="{836CC1A1-60DC-44C5-B47F-AE37131027CC}" type="parTrans" cxnId="{3023AB68-E67A-4DAD-B5F8-253DCFA289A3}">
      <dgm:prSet/>
      <dgm:spPr/>
      <dgm:t>
        <a:bodyPr/>
        <a:lstStyle/>
        <a:p>
          <a:endParaRPr lang="fr-FR"/>
        </a:p>
      </dgm:t>
    </dgm:pt>
    <dgm:pt modelId="{2186C93A-CF4E-41DF-BA0A-51B1468E51B8}" type="sibTrans" cxnId="{3023AB68-E67A-4DAD-B5F8-253DCFA289A3}">
      <dgm:prSet/>
      <dgm:spPr/>
      <dgm:t>
        <a:bodyPr/>
        <a:lstStyle/>
        <a:p>
          <a:endParaRPr lang="fr-FR"/>
        </a:p>
      </dgm:t>
    </dgm:pt>
    <dgm:pt modelId="{40F461E1-53AA-4ABD-9E56-0190480A3201}">
      <dgm:prSet custT="1"/>
      <dgm:spPr>
        <a:solidFill>
          <a:schemeClr val="bg1"/>
        </a:solidFill>
      </dgm:spPr>
      <dgm:t>
        <a:bodyPr/>
        <a:lstStyle/>
        <a:p>
          <a:endPar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Modélisation</a:t>
          </a:r>
        </a:p>
        <a:p>
          <a:endPar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dgm:t>
    </dgm:pt>
    <dgm:pt modelId="{7D851EEC-77A4-48D6-AC99-F7E902C57786}" type="parTrans" cxnId="{CA904C52-0FDF-41ED-8C40-C9A2D61DDF6D}">
      <dgm:prSet/>
      <dgm:spPr/>
      <dgm:t>
        <a:bodyPr/>
        <a:lstStyle/>
        <a:p>
          <a:endParaRPr lang="fr-FR"/>
        </a:p>
      </dgm:t>
    </dgm:pt>
    <dgm:pt modelId="{1764EE43-8208-4B58-AF8F-4EF432FFA5DA}" type="sibTrans" cxnId="{CA904C52-0FDF-41ED-8C40-C9A2D61DDF6D}">
      <dgm:prSet/>
      <dgm:spPr/>
      <dgm:t>
        <a:bodyPr/>
        <a:lstStyle/>
        <a:p>
          <a:endParaRPr lang="fr-FR"/>
        </a:p>
      </dgm:t>
    </dgm:pt>
    <dgm:pt modelId="{D22F9067-F91D-4E6C-8BC4-754D0E8110DD}">
      <dgm:prSet custT="1"/>
      <dgm:spPr>
        <a:solidFill>
          <a:schemeClr val="bg1"/>
        </a:solidFill>
      </dgm:spPr>
      <dgm:t>
        <a:bodyPr/>
        <a:lstStyle/>
        <a:p>
          <a:r>
            <a:rPr lang="fr-FR" sz="2400" b="1" dirty="0">
              <a:solidFill>
                <a:schemeClr val="tx1"/>
              </a:solidFill>
              <a:latin typeface="Calibri" panose="020F0502020204030204" pitchFamily="34" charset="0"/>
              <a:ea typeface="Calibri" panose="020F0502020204030204" pitchFamily="34" charset="0"/>
              <a:cs typeface="Calibri" panose="020F0502020204030204" pitchFamily="34" charset="0"/>
            </a:rPr>
            <a:t>Déploiement d'une API de prédiction et d’un Dashboard interactif</a:t>
          </a:r>
        </a:p>
      </dgm:t>
    </dgm:pt>
    <dgm:pt modelId="{B024EA31-3C1E-4084-B618-6EBD22D43DA2}" type="parTrans" cxnId="{BB5CAC86-D4EF-4F86-AEC5-CA32F308EB1E}">
      <dgm:prSet/>
      <dgm:spPr/>
      <dgm:t>
        <a:bodyPr/>
        <a:lstStyle/>
        <a:p>
          <a:endParaRPr lang="fr-FR"/>
        </a:p>
      </dgm:t>
    </dgm:pt>
    <dgm:pt modelId="{ECB511DA-014F-4B42-9220-A32FABA0BC88}" type="sibTrans" cxnId="{BB5CAC86-D4EF-4F86-AEC5-CA32F308EB1E}">
      <dgm:prSet/>
      <dgm:spPr/>
      <dgm:t>
        <a:bodyPr/>
        <a:lstStyle/>
        <a:p>
          <a:endParaRPr lang="fr-FR"/>
        </a:p>
      </dgm:t>
    </dgm:pt>
    <dgm:pt modelId="{B69F38B5-55C1-41AD-9FE8-458353D0511E}" type="pres">
      <dgm:prSet presAssocID="{9D1D4CFF-838D-41B3-A70D-B7C77019CD81}" presName="Name0" presStyleCnt="0">
        <dgm:presLayoutVars>
          <dgm:chMax val="7"/>
          <dgm:chPref val="7"/>
          <dgm:dir/>
        </dgm:presLayoutVars>
      </dgm:prSet>
      <dgm:spPr/>
    </dgm:pt>
    <dgm:pt modelId="{60CFF4DD-76BD-45BF-859E-DDB5448BBCEC}" type="pres">
      <dgm:prSet presAssocID="{9D1D4CFF-838D-41B3-A70D-B7C77019CD81}" presName="Name1" presStyleCnt="0"/>
      <dgm:spPr/>
    </dgm:pt>
    <dgm:pt modelId="{39ECE3D3-CFF9-4F09-8264-FBD76FF027E7}" type="pres">
      <dgm:prSet presAssocID="{9D1D4CFF-838D-41B3-A70D-B7C77019CD81}" presName="cycle" presStyleCnt="0"/>
      <dgm:spPr/>
    </dgm:pt>
    <dgm:pt modelId="{76F848A5-0A15-489A-BC3D-960FC877270C}" type="pres">
      <dgm:prSet presAssocID="{9D1D4CFF-838D-41B3-A70D-B7C77019CD81}" presName="srcNode" presStyleLbl="node1" presStyleIdx="0" presStyleCnt="4"/>
      <dgm:spPr/>
    </dgm:pt>
    <dgm:pt modelId="{8DAFC662-455E-4086-AF17-B74AFED36479}" type="pres">
      <dgm:prSet presAssocID="{9D1D4CFF-838D-41B3-A70D-B7C77019CD81}" presName="conn" presStyleLbl="parChTrans1D2" presStyleIdx="0" presStyleCnt="1"/>
      <dgm:spPr/>
    </dgm:pt>
    <dgm:pt modelId="{6EE9D7C3-4023-4AAC-AAC5-EBFE0EFE3415}" type="pres">
      <dgm:prSet presAssocID="{9D1D4CFF-838D-41B3-A70D-B7C77019CD81}" presName="extraNode" presStyleLbl="node1" presStyleIdx="0" presStyleCnt="4"/>
      <dgm:spPr/>
    </dgm:pt>
    <dgm:pt modelId="{F3503144-3608-4B59-9119-E21581B42608}" type="pres">
      <dgm:prSet presAssocID="{9D1D4CFF-838D-41B3-A70D-B7C77019CD81}" presName="dstNode" presStyleLbl="node1" presStyleIdx="0" presStyleCnt="4"/>
      <dgm:spPr/>
    </dgm:pt>
    <dgm:pt modelId="{E7098FBD-BFAC-4443-B993-A9247A21FF35}" type="pres">
      <dgm:prSet presAssocID="{86E1EBA5-5A6C-4F3C-8E89-CDAA1F996D66}" presName="text_1" presStyleLbl="node1" presStyleIdx="0" presStyleCnt="4" custScaleY="79551">
        <dgm:presLayoutVars>
          <dgm:bulletEnabled val="1"/>
        </dgm:presLayoutVars>
      </dgm:prSet>
      <dgm:spPr/>
    </dgm:pt>
    <dgm:pt modelId="{78395153-4E56-4026-979E-B01D7C083D67}" type="pres">
      <dgm:prSet presAssocID="{86E1EBA5-5A6C-4F3C-8E89-CDAA1F996D66}" presName="accent_1" presStyleCnt="0"/>
      <dgm:spPr/>
    </dgm:pt>
    <dgm:pt modelId="{9A7D817A-8046-4654-ABC9-E30F2B6E6CEC}" type="pres">
      <dgm:prSet presAssocID="{86E1EBA5-5A6C-4F3C-8E89-CDAA1F996D66}" presName="accentRepeatNode" presStyleLbl="solidFgAcc1" presStyleIdx="0" presStyleCnt="4"/>
      <dgm:spPr>
        <a:solidFill>
          <a:schemeClr val="bg1"/>
        </a:solidFill>
      </dgm:spPr>
    </dgm:pt>
    <dgm:pt modelId="{50D6B736-43D4-4100-A798-F9FED2DC0B3D}" type="pres">
      <dgm:prSet presAssocID="{79B68CF9-8B96-465A-BC84-5B0843A2199E}" presName="text_2" presStyleLbl="node1" presStyleIdx="1" presStyleCnt="4">
        <dgm:presLayoutVars>
          <dgm:bulletEnabled val="1"/>
        </dgm:presLayoutVars>
      </dgm:prSet>
      <dgm:spPr/>
    </dgm:pt>
    <dgm:pt modelId="{532938A8-4ADA-4374-96E2-3B42BF4B8666}" type="pres">
      <dgm:prSet presAssocID="{79B68CF9-8B96-465A-BC84-5B0843A2199E}" presName="accent_2" presStyleCnt="0"/>
      <dgm:spPr/>
    </dgm:pt>
    <dgm:pt modelId="{2A0B939D-340B-4959-A7FF-DA92750D2705}" type="pres">
      <dgm:prSet presAssocID="{79B68CF9-8B96-465A-BC84-5B0843A2199E}" presName="accentRepeatNode" presStyleLbl="solidFgAcc1" presStyleIdx="1" presStyleCnt="4"/>
      <dgm:spPr>
        <a:solidFill>
          <a:schemeClr val="tx2"/>
        </a:solidFill>
      </dgm:spPr>
    </dgm:pt>
    <dgm:pt modelId="{6B777465-C310-4754-8949-3251CF825512}" type="pres">
      <dgm:prSet presAssocID="{40F461E1-53AA-4ABD-9E56-0190480A3201}" presName="text_3" presStyleLbl="node1" presStyleIdx="2" presStyleCnt="4">
        <dgm:presLayoutVars>
          <dgm:bulletEnabled val="1"/>
        </dgm:presLayoutVars>
      </dgm:prSet>
      <dgm:spPr/>
    </dgm:pt>
    <dgm:pt modelId="{98EF19D5-1432-4256-9176-B1E0BDF29FD1}" type="pres">
      <dgm:prSet presAssocID="{40F461E1-53AA-4ABD-9E56-0190480A3201}" presName="accent_3" presStyleCnt="0"/>
      <dgm:spPr/>
    </dgm:pt>
    <dgm:pt modelId="{B311CE32-0198-4C20-9A42-4EFE6FAD3E81}" type="pres">
      <dgm:prSet presAssocID="{40F461E1-53AA-4ABD-9E56-0190480A3201}" presName="accentRepeatNode" presStyleLbl="solidFgAcc1" presStyleIdx="2" presStyleCnt="4"/>
      <dgm:spPr/>
    </dgm:pt>
    <dgm:pt modelId="{34081682-7A1D-45F5-97FA-64A77434A4D0}" type="pres">
      <dgm:prSet presAssocID="{D22F9067-F91D-4E6C-8BC4-754D0E8110DD}" presName="text_4" presStyleLbl="node1" presStyleIdx="3" presStyleCnt="4">
        <dgm:presLayoutVars>
          <dgm:bulletEnabled val="1"/>
        </dgm:presLayoutVars>
      </dgm:prSet>
      <dgm:spPr/>
    </dgm:pt>
    <dgm:pt modelId="{E52FD8B1-D271-48A7-8595-BAF0229526C5}" type="pres">
      <dgm:prSet presAssocID="{D22F9067-F91D-4E6C-8BC4-754D0E8110DD}" presName="accent_4" presStyleCnt="0"/>
      <dgm:spPr/>
    </dgm:pt>
    <dgm:pt modelId="{B6E64628-C5BE-4CB8-B331-8C2B188C0813}" type="pres">
      <dgm:prSet presAssocID="{D22F9067-F91D-4E6C-8BC4-754D0E8110DD}" presName="accentRepeatNode" presStyleLbl="solidFgAcc1" presStyleIdx="3" presStyleCnt="4"/>
      <dgm:spPr/>
    </dgm:pt>
  </dgm:ptLst>
  <dgm:cxnLst>
    <dgm:cxn modelId="{745A4E2B-E9D7-4E8B-B7A9-68A5091A0C5D}" type="presOf" srcId="{D22F9067-F91D-4E6C-8BC4-754D0E8110DD}" destId="{34081682-7A1D-45F5-97FA-64A77434A4D0}" srcOrd="0" destOrd="0" presId="urn:microsoft.com/office/officeart/2008/layout/VerticalCurvedList"/>
    <dgm:cxn modelId="{A4FBF839-1BCF-4BD5-9946-AE729F4BF59D}" type="presOf" srcId="{9D1D4CFF-838D-41B3-A70D-B7C77019CD81}" destId="{B69F38B5-55C1-41AD-9FE8-458353D0511E}" srcOrd="0" destOrd="0" presId="urn:microsoft.com/office/officeart/2008/layout/VerticalCurvedList"/>
    <dgm:cxn modelId="{3023AB68-E67A-4DAD-B5F8-253DCFA289A3}" srcId="{9D1D4CFF-838D-41B3-A70D-B7C77019CD81}" destId="{79B68CF9-8B96-465A-BC84-5B0843A2199E}" srcOrd="1" destOrd="0" parTransId="{836CC1A1-60DC-44C5-B47F-AE37131027CC}" sibTransId="{2186C93A-CF4E-41DF-BA0A-51B1468E51B8}"/>
    <dgm:cxn modelId="{CA904C52-0FDF-41ED-8C40-C9A2D61DDF6D}" srcId="{9D1D4CFF-838D-41B3-A70D-B7C77019CD81}" destId="{40F461E1-53AA-4ABD-9E56-0190480A3201}" srcOrd="2" destOrd="0" parTransId="{7D851EEC-77A4-48D6-AC99-F7E902C57786}" sibTransId="{1764EE43-8208-4B58-AF8F-4EF432FFA5DA}"/>
    <dgm:cxn modelId="{C1FB347A-FB81-4FCE-BB3B-9E23CB3B481B}" srcId="{9D1D4CFF-838D-41B3-A70D-B7C77019CD81}" destId="{86E1EBA5-5A6C-4F3C-8E89-CDAA1F996D66}" srcOrd="0" destOrd="0" parTransId="{2ECE6BB6-9CB8-46F0-867B-19BC7C7766DB}" sibTransId="{58141040-13F6-4EB3-BAF7-D2C35E078BDD}"/>
    <dgm:cxn modelId="{BB5CAC86-D4EF-4F86-AEC5-CA32F308EB1E}" srcId="{9D1D4CFF-838D-41B3-A70D-B7C77019CD81}" destId="{D22F9067-F91D-4E6C-8BC4-754D0E8110DD}" srcOrd="3" destOrd="0" parTransId="{B024EA31-3C1E-4084-B618-6EBD22D43DA2}" sibTransId="{ECB511DA-014F-4B42-9220-A32FABA0BC88}"/>
    <dgm:cxn modelId="{715E5A9B-BA48-4D2E-859A-EB2F8431C4A7}" type="presOf" srcId="{86E1EBA5-5A6C-4F3C-8E89-CDAA1F996D66}" destId="{E7098FBD-BFAC-4443-B993-A9247A21FF35}" srcOrd="0" destOrd="0" presId="urn:microsoft.com/office/officeart/2008/layout/VerticalCurvedList"/>
    <dgm:cxn modelId="{11E3C3A1-C848-4440-87CA-44011C5A7FEE}" type="presOf" srcId="{79B68CF9-8B96-465A-BC84-5B0843A2199E}" destId="{50D6B736-43D4-4100-A798-F9FED2DC0B3D}" srcOrd="0" destOrd="0" presId="urn:microsoft.com/office/officeart/2008/layout/VerticalCurvedList"/>
    <dgm:cxn modelId="{EEFC0FDF-A91C-479E-9BCF-96E1F0EC4920}" type="presOf" srcId="{58141040-13F6-4EB3-BAF7-D2C35E078BDD}" destId="{8DAFC662-455E-4086-AF17-B74AFED36479}" srcOrd="0" destOrd="0" presId="urn:microsoft.com/office/officeart/2008/layout/VerticalCurvedList"/>
    <dgm:cxn modelId="{72EC0DE1-50B0-4CFD-97DF-7A0803CB7094}" type="presOf" srcId="{40F461E1-53AA-4ABD-9E56-0190480A3201}" destId="{6B777465-C310-4754-8949-3251CF825512}" srcOrd="0" destOrd="0" presId="urn:microsoft.com/office/officeart/2008/layout/VerticalCurvedList"/>
    <dgm:cxn modelId="{8651327E-28E0-4256-9C15-393B9BE5AC1D}" type="presParOf" srcId="{B69F38B5-55C1-41AD-9FE8-458353D0511E}" destId="{60CFF4DD-76BD-45BF-859E-DDB5448BBCEC}" srcOrd="0" destOrd="0" presId="urn:microsoft.com/office/officeart/2008/layout/VerticalCurvedList"/>
    <dgm:cxn modelId="{0A4B35FA-6494-4B3A-81E7-D809F5107472}" type="presParOf" srcId="{60CFF4DD-76BD-45BF-859E-DDB5448BBCEC}" destId="{39ECE3D3-CFF9-4F09-8264-FBD76FF027E7}" srcOrd="0" destOrd="0" presId="urn:microsoft.com/office/officeart/2008/layout/VerticalCurvedList"/>
    <dgm:cxn modelId="{DD2CBEBC-1FC5-4CBD-B76B-0C5AE3C2F739}" type="presParOf" srcId="{39ECE3D3-CFF9-4F09-8264-FBD76FF027E7}" destId="{76F848A5-0A15-489A-BC3D-960FC877270C}" srcOrd="0" destOrd="0" presId="urn:microsoft.com/office/officeart/2008/layout/VerticalCurvedList"/>
    <dgm:cxn modelId="{8C4A48ED-A2F6-4ED4-95D8-9BACB47AFF70}" type="presParOf" srcId="{39ECE3D3-CFF9-4F09-8264-FBD76FF027E7}" destId="{8DAFC662-455E-4086-AF17-B74AFED36479}" srcOrd="1" destOrd="0" presId="urn:microsoft.com/office/officeart/2008/layout/VerticalCurvedList"/>
    <dgm:cxn modelId="{175984CC-97B1-4130-B700-7930B05D84D5}" type="presParOf" srcId="{39ECE3D3-CFF9-4F09-8264-FBD76FF027E7}" destId="{6EE9D7C3-4023-4AAC-AAC5-EBFE0EFE3415}" srcOrd="2" destOrd="0" presId="urn:microsoft.com/office/officeart/2008/layout/VerticalCurvedList"/>
    <dgm:cxn modelId="{9DBD0835-A3B9-483E-9D91-2611B34E927A}" type="presParOf" srcId="{39ECE3D3-CFF9-4F09-8264-FBD76FF027E7}" destId="{F3503144-3608-4B59-9119-E21581B42608}" srcOrd="3" destOrd="0" presId="urn:microsoft.com/office/officeart/2008/layout/VerticalCurvedList"/>
    <dgm:cxn modelId="{36F9321D-F540-4F66-8948-896CBD47BCDC}" type="presParOf" srcId="{60CFF4DD-76BD-45BF-859E-DDB5448BBCEC}" destId="{E7098FBD-BFAC-4443-B993-A9247A21FF35}" srcOrd="1" destOrd="0" presId="urn:microsoft.com/office/officeart/2008/layout/VerticalCurvedList"/>
    <dgm:cxn modelId="{82B57F18-5AE9-4334-A66C-5FAEE18BD4D6}" type="presParOf" srcId="{60CFF4DD-76BD-45BF-859E-DDB5448BBCEC}" destId="{78395153-4E56-4026-979E-B01D7C083D67}" srcOrd="2" destOrd="0" presId="urn:microsoft.com/office/officeart/2008/layout/VerticalCurvedList"/>
    <dgm:cxn modelId="{A8F45059-C121-4D8B-9746-1E0F6F063888}" type="presParOf" srcId="{78395153-4E56-4026-979E-B01D7C083D67}" destId="{9A7D817A-8046-4654-ABC9-E30F2B6E6CEC}" srcOrd="0" destOrd="0" presId="urn:microsoft.com/office/officeart/2008/layout/VerticalCurvedList"/>
    <dgm:cxn modelId="{F0B44DBB-0082-4F86-BD3E-4D2C7DB7933E}" type="presParOf" srcId="{60CFF4DD-76BD-45BF-859E-DDB5448BBCEC}" destId="{50D6B736-43D4-4100-A798-F9FED2DC0B3D}" srcOrd="3" destOrd="0" presId="urn:microsoft.com/office/officeart/2008/layout/VerticalCurvedList"/>
    <dgm:cxn modelId="{FAB48B2D-8FB2-40D2-8E42-5462D2DE169E}" type="presParOf" srcId="{60CFF4DD-76BD-45BF-859E-DDB5448BBCEC}" destId="{532938A8-4ADA-4374-96E2-3B42BF4B8666}" srcOrd="4" destOrd="0" presId="urn:microsoft.com/office/officeart/2008/layout/VerticalCurvedList"/>
    <dgm:cxn modelId="{2E4E9B3F-0288-4F21-96B5-F4D3DB9EEB2A}" type="presParOf" srcId="{532938A8-4ADA-4374-96E2-3B42BF4B8666}" destId="{2A0B939D-340B-4959-A7FF-DA92750D2705}" srcOrd="0" destOrd="0" presId="urn:microsoft.com/office/officeart/2008/layout/VerticalCurvedList"/>
    <dgm:cxn modelId="{2C3E9258-5687-4DC4-BCEB-93EA6ED476E6}" type="presParOf" srcId="{60CFF4DD-76BD-45BF-859E-DDB5448BBCEC}" destId="{6B777465-C310-4754-8949-3251CF825512}" srcOrd="5" destOrd="0" presId="urn:microsoft.com/office/officeart/2008/layout/VerticalCurvedList"/>
    <dgm:cxn modelId="{67E21721-22DB-42F1-9418-E11F64543816}" type="presParOf" srcId="{60CFF4DD-76BD-45BF-859E-DDB5448BBCEC}" destId="{98EF19D5-1432-4256-9176-B1E0BDF29FD1}" srcOrd="6" destOrd="0" presId="urn:microsoft.com/office/officeart/2008/layout/VerticalCurvedList"/>
    <dgm:cxn modelId="{A9007347-C894-4B01-A67B-D792FF31B76D}" type="presParOf" srcId="{98EF19D5-1432-4256-9176-B1E0BDF29FD1}" destId="{B311CE32-0198-4C20-9A42-4EFE6FAD3E81}" srcOrd="0" destOrd="0" presId="urn:microsoft.com/office/officeart/2008/layout/VerticalCurvedList"/>
    <dgm:cxn modelId="{4143F73B-2A22-415B-8C2C-F5DCDD1B5327}" type="presParOf" srcId="{60CFF4DD-76BD-45BF-859E-DDB5448BBCEC}" destId="{34081682-7A1D-45F5-97FA-64A77434A4D0}" srcOrd="7" destOrd="0" presId="urn:microsoft.com/office/officeart/2008/layout/VerticalCurvedList"/>
    <dgm:cxn modelId="{6C9BE236-F991-444A-8EDF-F909F9BC6D79}" type="presParOf" srcId="{60CFF4DD-76BD-45BF-859E-DDB5448BBCEC}" destId="{E52FD8B1-D271-48A7-8595-BAF0229526C5}" srcOrd="8" destOrd="0" presId="urn:microsoft.com/office/officeart/2008/layout/VerticalCurvedList"/>
    <dgm:cxn modelId="{BE594BE7-CC40-4B45-8AF0-CB7B6FB43A65}" type="presParOf" srcId="{E52FD8B1-D271-48A7-8595-BAF0229526C5}" destId="{B6E64628-C5BE-4CB8-B331-8C2B188C081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1D4CFF-838D-41B3-A70D-B7C77019CD81}"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86E1EBA5-5A6C-4F3C-8E89-CDAA1F996D66}">
      <dgm:prSet phldrT="[Texte]" custT="1"/>
      <dgm:spPr>
        <a:solidFill>
          <a:schemeClr val="bg1"/>
        </a:solidFill>
      </dgm:spPr>
      <dgm:t>
        <a:bodyPr/>
        <a:lstStyle/>
        <a:p>
          <a:pPr>
            <a:buNone/>
          </a:pPr>
          <a:r>
            <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Découverte</a:t>
          </a:r>
          <a:r>
            <a:rPr lang="fr-FR" sz="2400" b="1" i="0" u="none" strike="noStrike" baseline="0" dirty="0">
              <a:solidFill>
                <a:srgbClr val="000000"/>
              </a:solidFill>
              <a:latin typeface="Arial" panose="020B0604020202020204" pitchFamily="34" charset="0"/>
              <a:cs typeface="Arial" panose="020B0604020202020204" pitchFamily="34" charset="0"/>
            </a:rPr>
            <a:t> des données</a:t>
          </a:r>
          <a:endParaRPr lang="fr-FR" sz="2400" dirty="0"/>
        </a:p>
      </dgm:t>
    </dgm:pt>
    <dgm:pt modelId="{2ECE6BB6-9CB8-46F0-867B-19BC7C7766DB}" type="parTrans" cxnId="{C1FB347A-FB81-4FCE-BB3B-9E23CB3B481B}">
      <dgm:prSet/>
      <dgm:spPr/>
      <dgm:t>
        <a:bodyPr/>
        <a:lstStyle/>
        <a:p>
          <a:endParaRPr lang="fr-FR"/>
        </a:p>
      </dgm:t>
    </dgm:pt>
    <dgm:pt modelId="{58141040-13F6-4EB3-BAF7-D2C35E078BDD}" type="sibTrans" cxnId="{C1FB347A-FB81-4FCE-BB3B-9E23CB3B481B}">
      <dgm:prSet/>
      <dgm:spPr/>
      <dgm:t>
        <a:bodyPr/>
        <a:lstStyle/>
        <a:p>
          <a:endParaRPr lang="fr-FR"/>
        </a:p>
      </dgm:t>
    </dgm:pt>
    <dgm:pt modelId="{79B68CF9-8B96-465A-BC84-5B0843A2199E}">
      <dgm:prSet phldrT="[Texte]" custT="1"/>
      <dgm:spPr>
        <a:solidFill>
          <a:schemeClr val="bg1"/>
        </a:solidFill>
      </dgm:spPr>
      <dgm:t>
        <a:bodyPr/>
        <a:lstStyle/>
        <a:p>
          <a:pPr>
            <a:buNone/>
          </a:pPr>
          <a:endParaRPr lang="fr-FR" sz="2400" b="1" i="0" u="none" strike="noStrike" baseline="0" dirty="0">
            <a:solidFill>
              <a:srgbClr val="000000"/>
            </a:solidFill>
            <a:latin typeface="Arial" panose="020B0604020202020204" pitchFamily="34" charset="0"/>
            <a:cs typeface="Arial" panose="020B0604020202020204" pitchFamily="34" charset="0"/>
          </a:endParaRPr>
        </a:p>
        <a:p>
          <a:pPr>
            <a:buNone/>
          </a:pPr>
          <a:r>
            <a:rPr lang="fr-FR" sz="2400" b="1" i="0" u="none" strike="noStrike" baseline="0" dirty="0">
              <a:solidFill>
                <a:srgbClr val="000000"/>
              </a:solidFill>
              <a:latin typeface="Arial" panose="020B0604020202020204" pitchFamily="34" charset="0"/>
              <a:cs typeface="Arial" panose="020B0604020202020204" pitchFamily="34" charset="0"/>
            </a:rPr>
            <a:t>Préparation des données et </a:t>
          </a:r>
          <a:r>
            <a:rPr lang="fr-FR" sz="2400" b="1" i="0" u="none" strike="noStrike" baseline="0" dirty="0" err="1">
              <a:solidFill>
                <a:srgbClr val="000000"/>
              </a:solidFill>
              <a:latin typeface="Arial" panose="020B0604020202020204" pitchFamily="34" charset="0"/>
              <a:cs typeface="Arial" panose="020B0604020202020204" pitchFamily="34" charset="0"/>
            </a:rPr>
            <a:t>Feature</a:t>
          </a:r>
          <a:r>
            <a:rPr lang="fr-FR" sz="2400" b="1" i="0" u="none" strike="noStrike" baseline="0" dirty="0">
              <a:solidFill>
                <a:srgbClr val="000000"/>
              </a:solidFill>
              <a:latin typeface="Arial" panose="020B0604020202020204" pitchFamily="34" charset="0"/>
              <a:cs typeface="Arial" panose="020B0604020202020204" pitchFamily="34" charset="0"/>
            </a:rPr>
            <a:t> engineering</a:t>
          </a:r>
        </a:p>
        <a:p>
          <a:pPr>
            <a:buNone/>
          </a:pPr>
          <a:endParaRPr lang="fr-FR" sz="2400" dirty="0">
            <a:latin typeface="Calibri" panose="020F0502020204030204" pitchFamily="34" charset="0"/>
            <a:ea typeface="Calibri" panose="020F0502020204030204" pitchFamily="34" charset="0"/>
            <a:cs typeface="Calibri" panose="020F0502020204030204" pitchFamily="34" charset="0"/>
          </a:endParaRPr>
        </a:p>
      </dgm:t>
    </dgm:pt>
    <dgm:pt modelId="{836CC1A1-60DC-44C5-B47F-AE37131027CC}" type="parTrans" cxnId="{3023AB68-E67A-4DAD-B5F8-253DCFA289A3}">
      <dgm:prSet/>
      <dgm:spPr/>
      <dgm:t>
        <a:bodyPr/>
        <a:lstStyle/>
        <a:p>
          <a:endParaRPr lang="fr-FR"/>
        </a:p>
      </dgm:t>
    </dgm:pt>
    <dgm:pt modelId="{2186C93A-CF4E-41DF-BA0A-51B1468E51B8}" type="sibTrans" cxnId="{3023AB68-E67A-4DAD-B5F8-253DCFA289A3}">
      <dgm:prSet/>
      <dgm:spPr/>
      <dgm:t>
        <a:bodyPr/>
        <a:lstStyle/>
        <a:p>
          <a:endParaRPr lang="fr-FR"/>
        </a:p>
      </dgm:t>
    </dgm:pt>
    <dgm:pt modelId="{40F461E1-53AA-4ABD-9E56-0190480A3201}">
      <dgm:prSet custT="1"/>
      <dgm:spPr>
        <a:solidFill>
          <a:schemeClr val="bg1"/>
        </a:solidFill>
      </dgm:spPr>
      <dgm:t>
        <a:bodyPr/>
        <a:lstStyle/>
        <a:p>
          <a:endPar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Modélisation</a:t>
          </a:r>
        </a:p>
        <a:p>
          <a:endPar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dgm:t>
    </dgm:pt>
    <dgm:pt modelId="{7D851EEC-77A4-48D6-AC99-F7E902C57786}" type="parTrans" cxnId="{CA904C52-0FDF-41ED-8C40-C9A2D61DDF6D}">
      <dgm:prSet/>
      <dgm:spPr/>
      <dgm:t>
        <a:bodyPr/>
        <a:lstStyle/>
        <a:p>
          <a:endParaRPr lang="fr-FR"/>
        </a:p>
      </dgm:t>
    </dgm:pt>
    <dgm:pt modelId="{1764EE43-8208-4B58-AF8F-4EF432FFA5DA}" type="sibTrans" cxnId="{CA904C52-0FDF-41ED-8C40-C9A2D61DDF6D}">
      <dgm:prSet/>
      <dgm:spPr/>
      <dgm:t>
        <a:bodyPr/>
        <a:lstStyle/>
        <a:p>
          <a:endParaRPr lang="fr-FR"/>
        </a:p>
      </dgm:t>
    </dgm:pt>
    <dgm:pt modelId="{D22F9067-F91D-4E6C-8BC4-754D0E8110DD}">
      <dgm:prSet custT="1"/>
      <dgm:spPr>
        <a:solidFill>
          <a:schemeClr val="bg1"/>
        </a:solidFill>
      </dgm:spPr>
      <dgm:t>
        <a:bodyPr/>
        <a:lstStyle/>
        <a:p>
          <a:r>
            <a:rPr lang="fr-FR" sz="2400" b="1" dirty="0">
              <a:solidFill>
                <a:schemeClr val="tx1"/>
              </a:solidFill>
              <a:latin typeface="Calibri" panose="020F0502020204030204" pitchFamily="34" charset="0"/>
              <a:ea typeface="Calibri" panose="020F0502020204030204" pitchFamily="34" charset="0"/>
              <a:cs typeface="Calibri" panose="020F0502020204030204" pitchFamily="34" charset="0"/>
            </a:rPr>
            <a:t>Déploiement d'une API de prédiction et d’un Dashboard interactif</a:t>
          </a:r>
        </a:p>
      </dgm:t>
    </dgm:pt>
    <dgm:pt modelId="{B024EA31-3C1E-4084-B618-6EBD22D43DA2}" type="parTrans" cxnId="{BB5CAC86-D4EF-4F86-AEC5-CA32F308EB1E}">
      <dgm:prSet/>
      <dgm:spPr/>
      <dgm:t>
        <a:bodyPr/>
        <a:lstStyle/>
        <a:p>
          <a:endParaRPr lang="fr-FR"/>
        </a:p>
      </dgm:t>
    </dgm:pt>
    <dgm:pt modelId="{ECB511DA-014F-4B42-9220-A32FABA0BC88}" type="sibTrans" cxnId="{BB5CAC86-D4EF-4F86-AEC5-CA32F308EB1E}">
      <dgm:prSet/>
      <dgm:spPr/>
      <dgm:t>
        <a:bodyPr/>
        <a:lstStyle/>
        <a:p>
          <a:endParaRPr lang="fr-FR"/>
        </a:p>
      </dgm:t>
    </dgm:pt>
    <dgm:pt modelId="{B69F38B5-55C1-41AD-9FE8-458353D0511E}" type="pres">
      <dgm:prSet presAssocID="{9D1D4CFF-838D-41B3-A70D-B7C77019CD81}" presName="Name0" presStyleCnt="0">
        <dgm:presLayoutVars>
          <dgm:chMax val="7"/>
          <dgm:chPref val="7"/>
          <dgm:dir/>
        </dgm:presLayoutVars>
      </dgm:prSet>
      <dgm:spPr/>
    </dgm:pt>
    <dgm:pt modelId="{60CFF4DD-76BD-45BF-859E-DDB5448BBCEC}" type="pres">
      <dgm:prSet presAssocID="{9D1D4CFF-838D-41B3-A70D-B7C77019CD81}" presName="Name1" presStyleCnt="0"/>
      <dgm:spPr/>
    </dgm:pt>
    <dgm:pt modelId="{39ECE3D3-CFF9-4F09-8264-FBD76FF027E7}" type="pres">
      <dgm:prSet presAssocID="{9D1D4CFF-838D-41B3-A70D-B7C77019CD81}" presName="cycle" presStyleCnt="0"/>
      <dgm:spPr/>
    </dgm:pt>
    <dgm:pt modelId="{76F848A5-0A15-489A-BC3D-960FC877270C}" type="pres">
      <dgm:prSet presAssocID="{9D1D4CFF-838D-41B3-A70D-B7C77019CD81}" presName="srcNode" presStyleLbl="node1" presStyleIdx="0" presStyleCnt="4"/>
      <dgm:spPr/>
    </dgm:pt>
    <dgm:pt modelId="{8DAFC662-455E-4086-AF17-B74AFED36479}" type="pres">
      <dgm:prSet presAssocID="{9D1D4CFF-838D-41B3-A70D-B7C77019CD81}" presName="conn" presStyleLbl="parChTrans1D2" presStyleIdx="0" presStyleCnt="1"/>
      <dgm:spPr/>
    </dgm:pt>
    <dgm:pt modelId="{6EE9D7C3-4023-4AAC-AAC5-EBFE0EFE3415}" type="pres">
      <dgm:prSet presAssocID="{9D1D4CFF-838D-41B3-A70D-B7C77019CD81}" presName="extraNode" presStyleLbl="node1" presStyleIdx="0" presStyleCnt="4"/>
      <dgm:spPr/>
    </dgm:pt>
    <dgm:pt modelId="{F3503144-3608-4B59-9119-E21581B42608}" type="pres">
      <dgm:prSet presAssocID="{9D1D4CFF-838D-41B3-A70D-B7C77019CD81}" presName="dstNode" presStyleLbl="node1" presStyleIdx="0" presStyleCnt="4"/>
      <dgm:spPr/>
    </dgm:pt>
    <dgm:pt modelId="{E7098FBD-BFAC-4443-B993-A9247A21FF35}" type="pres">
      <dgm:prSet presAssocID="{86E1EBA5-5A6C-4F3C-8E89-CDAA1F996D66}" presName="text_1" presStyleLbl="node1" presStyleIdx="0" presStyleCnt="4" custScaleY="79551">
        <dgm:presLayoutVars>
          <dgm:bulletEnabled val="1"/>
        </dgm:presLayoutVars>
      </dgm:prSet>
      <dgm:spPr/>
    </dgm:pt>
    <dgm:pt modelId="{78395153-4E56-4026-979E-B01D7C083D67}" type="pres">
      <dgm:prSet presAssocID="{86E1EBA5-5A6C-4F3C-8E89-CDAA1F996D66}" presName="accent_1" presStyleCnt="0"/>
      <dgm:spPr/>
    </dgm:pt>
    <dgm:pt modelId="{9A7D817A-8046-4654-ABC9-E30F2B6E6CEC}" type="pres">
      <dgm:prSet presAssocID="{86E1EBA5-5A6C-4F3C-8E89-CDAA1F996D66}" presName="accentRepeatNode" presStyleLbl="solidFgAcc1" presStyleIdx="0" presStyleCnt="4"/>
      <dgm:spPr>
        <a:solidFill>
          <a:schemeClr val="bg1"/>
        </a:solidFill>
      </dgm:spPr>
    </dgm:pt>
    <dgm:pt modelId="{989FB98C-5C2E-4ECB-B587-CED660D6CB9A}" type="pres">
      <dgm:prSet presAssocID="{79B68CF9-8B96-465A-BC84-5B0843A2199E}" presName="text_2" presStyleLbl="node1" presStyleIdx="1" presStyleCnt="4">
        <dgm:presLayoutVars>
          <dgm:bulletEnabled val="1"/>
        </dgm:presLayoutVars>
      </dgm:prSet>
      <dgm:spPr/>
    </dgm:pt>
    <dgm:pt modelId="{17511FFD-2996-409A-B580-1A4AD899D21E}" type="pres">
      <dgm:prSet presAssocID="{79B68CF9-8B96-465A-BC84-5B0843A2199E}" presName="accent_2" presStyleCnt="0"/>
      <dgm:spPr/>
    </dgm:pt>
    <dgm:pt modelId="{2A0B939D-340B-4959-A7FF-DA92750D2705}" type="pres">
      <dgm:prSet presAssocID="{79B68CF9-8B96-465A-BC84-5B0843A2199E}" presName="accentRepeatNode" presStyleLbl="solidFgAcc1" presStyleIdx="1" presStyleCnt="4"/>
      <dgm:spPr/>
    </dgm:pt>
    <dgm:pt modelId="{AA82191E-C8F3-4F98-8833-9043D02AE876}" type="pres">
      <dgm:prSet presAssocID="{40F461E1-53AA-4ABD-9E56-0190480A3201}" presName="text_3" presStyleLbl="node1" presStyleIdx="2" presStyleCnt="4">
        <dgm:presLayoutVars>
          <dgm:bulletEnabled val="1"/>
        </dgm:presLayoutVars>
      </dgm:prSet>
      <dgm:spPr/>
    </dgm:pt>
    <dgm:pt modelId="{755787B0-5100-4531-A75F-64B2DE45092F}" type="pres">
      <dgm:prSet presAssocID="{40F461E1-53AA-4ABD-9E56-0190480A3201}" presName="accent_3" presStyleCnt="0"/>
      <dgm:spPr/>
    </dgm:pt>
    <dgm:pt modelId="{B311CE32-0198-4C20-9A42-4EFE6FAD3E81}" type="pres">
      <dgm:prSet presAssocID="{40F461E1-53AA-4ABD-9E56-0190480A3201}" presName="accentRepeatNode" presStyleLbl="solidFgAcc1" presStyleIdx="2" presStyleCnt="4"/>
      <dgm:spPr>
        <a:solidFill>
          <a:schemeClr val="tx2"/>
        </a:solidFill>
      </dgm:spPr>
    </dgm:pt>
    <dgm:pt modelId="{2AFAA53D-107A-45B6-8670-144711D45C7A}" type="pres">
      <dgm:prSet presAssocID="{D22F9067-F91D-4E6C-8BC4-754D0E8110DD}" presName="text_4" presStyleLbl="node1" presStyleIdx="3" presStyleCnt="4">
        <dgm:presLayoutVars>
          <dgm:bulletEnabled val="1"/>
        </dgm:presLayoutVars>
      </dgm:prSet>
      <dgm:spPr/>
    </dgm:pt>
    <dgm:pt modelId="{50BF7C1F-1E5C-45CB-93D4-8A89B2275A6C}" type="pres">
      <dgm:prSet presAssocID="{D22F9067-F91D-4E6C-8BC4-754D0E8110DD}" presName="accent_4" presStyleCnt="0"/>
      <dgm:spPr/>
    </dgm:pt>
    <dgm:pt modelId="{B6E64628-C5BE-4CB8-B331-8C2B188C0813}" type="pres">
      <dgm:prSet presAssocID="{D22F9067-F91D-4E6C-8BC4-754D0E8110DD}" presName="accentRepeatNode" presStyleLbl="solidFgAcc1" presStyleIdx="3" presStyleCnt="4"/>
      <dgm:spPr/>
    </dgm:pt>
  </dgm:ptLst>
  <dgm:cxnLst>
    <dgm:cxn modelId="{508E6F15-399E-4650-A3C9-7CBD95E7E2E4}" type="presOf" srcId="{79B68CF9-8B96-465A-BC84-5B0843A2199E}" destId="{989FB98C-5C2E-4ECB-B587-CED660D6CB9A}" srcOrd="0" destOrd="0" presId="urn:microsoft.com/office/officeart/2008/layout/VerticalCurvedList"/>
    <dgm:cxn modelId="{A4FBF839-1BCF-4BD5-9946-AE729F4BF59D}" type="presOf" srcId="{9D1D4CFF-838D-41B3-A70D-B7C77019CD81}" destId="{B69F38B5-55C1-41AD-9FE8-458353D0511E}" srcOrd="0" destOrd="0" presId="urn:microsoft.com/office/officeart/2008/layout/VerticalCurvedList"/>
    <dgm:cxn modelId="{3023AB68-E67A-4DAD-B5F8-253DCFA289A3}" srcId="{9D1D4CFF-838D-41B3-A70D-B7C77019CD81}" destId="{79B68CF9-8B96-465A-BC84-5B0843A2199E}" srcOrd="1" destOrd="0" parTransId="{836CC1A1-60DC-44C5-B47F-AE37131027CC}" sibTransId="{2186C93A-CF4E-41DF-BA0A-51B1468E51B8}"/>
    <dgm:cxn modelId="{CA904C52-0FDF-41ED-8C40-C9A2D61DDF6D}" srcId="{9D1D4CFF-838D-41B3-A70D-B7C77019CD81}" destId="{40F461E1-53AA-4ABD-9E56-0190480A3201}" srcOrd="2" destOrd="0" parTransId="{7D851EEC-77A4-48D6-AC99-F7E902C57786}" sibTransId="{1764EE43-8208-4B58-AF8F-4EF432FFA5DA}"/>
    <dgm:cxn modelId="{C1FB347A-FB81-4FCE-BB3B-9E23CB3B481B}" srcId="{9D1D4CFF-838D-41B3-A70D-B7C77019CD81}" destId="{86E1EBA5-5A6C-4F3C-8E89-CDAA1F996D66}" srcOrd="0" destOrd="0" parTransId="{2ECE6BB6-9CB8-46F0-867B-19BC7C7766DB}" sibTransId="{58141040-13F6-4EB3-BAF7-D2C35E078BDD}"/>
    <dgm:cxn modelId="{CC4C427C-8C99-4314-8AC1-1F73A674D6B7}" type="presOf" srcId="{D22F9067-F91D-4E6C-8BC4-754D0E8110DD}" destId="{2AFAA53D-107A-45B6-8670-144711D45C7A}" srcOrd="0" destOrd="0" presId="urn:microsoft.com/office/officeart/2008/layout/VerticalCurvedList"/>
    <dgm:cxn modelId="{BB5CAC86-D4EF-4F86-AEC5-CA32F308EB1E}" srcId="{9D1D4CFF-838D-41B3-A70D-B7C77019CD81}" destId="{D22F9067-F91D-4E6C-8BC4-754D0E8110DD}" srcOrd="3" destOrd="0" parTransId="{B024EA31-3C1E-4084-B618-6EBD22D43DA2}" sibTransId="{ECB511DA-014F-4B42-9220-A32FABA0BC88}"/>
    <dgm:cxn modelId="{715E5A9B-BA48-4D2E-859A-EB2F8431C4A7}" type="presOf" srcId="{86E1EBA5-5A6C-4F3C-8E89-CDAA1F996D66}" destId="{E7098FBD-BFAC-4443-B993-A9247A21FF35}" srcOrd="0" destOrd="0" presId="urn:microsoft.com/office/officeart/2008/layout/VerticalCurvedList"/>
    <dgm:cxn modelId="{EEFC0FDF-A91C-479E-9BCF-96E1F0EC4920}" type="presOf" srcId="{58141040-13F6-4EB3-BAF7-D2C35E078BDD}" destId="{8DAFC662-455E-4086-AF17-B74AFED36479}" srcOrd="0" destOrd="0" presId="urn:microsoft.com/office/officeart/2008/layout/VerticalCurvedList"/>
    <dgm:cxn modelId="{6BDE63F9-5603-48E3-BF50-C8924D591A15}" type="presOf" srcId="{40F461E1-53AA-4ABD-9E56-0190480A3201}" destId="{AA82191E-C8F3-4F98-8833-9043D02AE876}" srcOrd="0" destOrd="0" presId="urn:microsoft.com/office/officeart/2008/layout/VerticalCurvedList"/>
    <dgm:cxn modelId="{8651327E-28E0-4256-9C15-393B9BE5AC1D}" type="presParOf" srcId="{B69F38B5-55C1-41AD-9FE8-458353D0511E}" destId="{60CFF4DD-76BD-45BF-859E-DDB5448BBCEC}" srcOrd="0" destOrd="0" presId="urn:microsoft.com/office/officeart/2008/layout/VerticalCurvedList"/>
    <dgm:cxn modelId="{0A4B35FA-6494-4B3A-81E7-D809F5107472}" type="presParOf" srcId="{60CFF4DD-76BD-45BF-859E-DDB5448BBCEC}" destId="{39ECE3D3-CFF9-4F09-8264-FBD76FF027E7}" srcOrd="0" destOrd="0" presId="urn:microsoft.com/office/officeart/2008/layout/VerticalCurvedList"/>
    <dgm:cxn modelId="{DD2CBEBC-1FC5-4CBD-B76B-0C5AE3C2F739}" type="presParOf" srcId="{39ECE3D3-CFF9-4F09-8264-FBD76FF027E7}" destId="{76F848A5-0A15-489A-BC3D-960FC877270C}" srcOrd="0" destOrd="0" presId="urn:microsoft.com/office/officeart/2008/layout/VerticalCurvedList"/>
    <dgm:cxn modelId="{8C4A48ED-A2F6-4ED4-95D8-9BACB47AFF70}" type="presParOf" srcId="{39ECE3D3-CFF9-4F09-8264-FBD76FF027E7}" destId="{8DAFC662-455E-4086-AF17-B74AFED36479}" srcOrd="1" destOrd="0" presId="urn:microsoft.com/office/officeart/2008/layout/VerticalCurvedList"/>
    <dgm:cxn modelId="{175984CC-97B1-4130-B700-7930B05D84D5}" type="presParOf" srcId="{39ECE3D3-CFF9-4F09-8264-FBD76FF027E7}" destId="{6EE9D7C3-4023-4AAC-AAC5-EBFE0EFE3415}" srcOrd="2" destOrd="0" presId="urn:microsoft.com/office/officeart/2008/layout/VerticalCurvedList"/>
    <dgm:cxn modelId="{9DBD0835-A3B9-483E-9D91-2611B34E927A}" type="presParOf" srcId="{39ECE3D3-CFF9-4F09-8264-FBD76FF027E7}" destId="{F3503144-3608-4B59-9119-E21581B42608}" srcOrd="3" destOrd="0" presId="urn:microsoft.com/office/officeart/2008/layout/VerticalCurvedList"/>
    <dgm:cxn modelId="{36F9321D-F540-4F66-8948-896CBD47BCDC}" type="presParOf" srcId="{60CFF4DD-76BD-45BF-859E-DDB5448BBCEC}" destId="{E7098FBD-BFAC-4443-B993-A9247A21FF35}" srcOrd="1" destOrd="0" presId="urn:microsoft.com/office/officeart/2008/layout/VerticalCurvedList"/>
    <dgm:cxn modelId="{82B57F18-5AE9-4334-A66C-5FAEE18BD4D6}" type="presParOf" srcId="{60CFF4DD-76BD-45BF-859E-DDB5448BBCEC}" destId="{78395153-4E56-4026-979E-B01D7C083D67}" srcOrd="2" destOrd="0" presId="urn:microsoft.com/office/officeart/2008/layout/VerticalCurvedList"/>
    <dgm:cxn modelId="{A8F45059-C121-4D8B-9746-1E0F6F063888}" type="presParOf" srcId="{78395153-4E56-4026-979E-B01D7C083D67}" destId="{9A7D817A-8046-4654-ABC9-E30F2B6E6CEC}" srcOrd="0" destOrd="0" presId="urn:microsoft.com/office/officeart/2008/layout/VerticalCurvedList"/>
    <dgm:cxn modelId="{0EF3D7A0-24AE-478A-8011-0B52DA6990D8}" type="presParOf" srcId="{60CFF4DD-76BD-45BF-859E-DDB5448BBCEC}" destId="{989FB98C-5C2E-4ECB-B587-CED660D6CB9A}" srcOrd="3" destOrd="0" presId="urn:microsoft.com/office/officeart/2008/layout/VerticalCurvedList"/>
    <dgm:cxn modelId="{F9F388C5-3FF6-4188-A4BF-CB9FD5A6FF6B}" type="presParOf" srcId="{60CFF4DD-76BD-45BF-859E-DDB5448BBCEC}" destId="{17511FFD-2996-409A-B580-1A4AD899D21E}" srcOrd="4" destOrd="0" presId="urn:microsoft.com/office/officeart/2008/layout/VerticalCurvedList"/>
    <dgm:cxn modelId="{855C1737-2258-4E38-9B0F-5C4E4A2ACE94}" type="presParOf" srcId="{17511FFD-2996-409A-B580-1A4AD899D21E}" destId="{2A0B939D-340B-4959-A7FF-DA92750D2705}" srcOrd="0" destOrd="0" presId="urn:microsoft.com/office/officeart/2008/layout/VerticalCurvedList"/>
    <dgm:cxn modelId="{135C7B94-93C3-477B-AF01-634B5DACC99B}" type="presParOf" srcId="{60CFF4DD-76BD-45BF-859E-DDB5448BBCEC}" destId="{AA82191E-C8F3-4F98-8833-9043D02AE876}" srcOrd="5" destOrd="0" presId="urn:microsoft.com/office/officeart/2008/layout/VerticalCurvedList"/>
    <dgm:cxn modelId="{664FCF15-8BA7-45D8-B506-1074F4767AF6}" type="presParOf" srcId="{60CFF4DD-76BD-45BF-859E-DDB5448BBCEC}" destId="{755787B0-5100-4531-A75F-64B2DE45092F}" srcOrd="6" destOrd="0" presId="urn:microsoft.com/office/officeart/2008/layout/VerticalCurvedList"/>
    <dgm:cxn modelId="{D356AD0A-B7AA-4435-9CDF-FC3AEF37BD48}" type="presParOf" srcId="{755787B0-5100-4531-A75F-64B2DE45092F}" destId="{B311CE32-0198-4C20-9A42-4EFE6FAD3E81}" srcOrd="0" destOrd="0" presId="urn:microsoft.com/office/officeart/2008/layout/VerticalCurvedList"/>
    <dgm:cxn modelId="{4725D3C5-8E8C-4F04-B783-39DF3626639E}" type="presParOf" srcId="{60CFF4DD-76BD-45BF-859E-DDB5448BBCEC}" destId="{2AFAA53D-107A-45B6-8670-144711D45C7A}" srcOrd="7" destOrd="0" presId="urn:microsoft.com/office/officeart/2008/layout/VerticalCurvedList"/>
    <dgm:cxn modelId="{4BD6F74A-8593-4DC9-8B16-925EE582D151}" type="presParOf" srcId="{60CFF4DD-76BD-45BF-859E-DDB5448BBCEC}" destId="{50BF7C1F-1E5C-45CB-93D4-8A89B2275A6C}" srcOrd="8" destOrd="0" presId="urn:microsoft.com/office/officeart/2008/layout/VerticalCurvedList"/>
    <dgm:cxn modelId="{B5BB3C23-B18F-4F8C-BA5C-61070D240D1A}" type="presParOf" srcId="{50BF7C1F-1E5C-45CB-93D4-8A89B2275A6C}" destId="{B6E64628-C5BE-4CB8-B331-8C2B188C081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D1D4CFF-838D-41B3-A70D-B7C77019CD81}"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86E1EBA5-5A6C-4F3C-8E89-CDAA1F996D66}">
      <dgm:prSet phldrT="[Texte]" custT="1"/>
      <dgm:spPr>
        <a:solidFill>
          <a:schemeClr val="bg1"/>
        </a:solidFill>
      </dgm:spPr>
      <dgm:t>
        <a:bodyPr/>
        <a:lstStyle/>
        <a:p>
          <a:pPr>
            <a:buNone/>
          </a:pPr>
          <a:r>
            <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Découverte</a:t>
          </a:r>
          <a:r>
            <a:rPr lang="fr-FR" sz="2400" b="1" i="0" u="none" strike="noStrike" baseline="0" dirty="0">
              <a:solidFill>
                <a:srgbClr val="000000"/>
              </a:solidFill>
              <a:latin typeface="Arial" panose="020B0604020202020204" pitchFamily="34" charset="0"/>
              <a:cs typeface="Arial" panose="020B0604020202020204" pitchFamily="34" charset="0"/>
            </a:rPr>
            <a:t> des données</a:t>
          </a:r>
          <a:endParaRPr lang="fr-FR" sz="2400" dirty="0"/>
        </a:p>
      </dgm:t>
    </dgm:pt>
    <dgm:pt modelId="{2ECE6BB6-9CB8-46F0-867B-19BC7C7766DB}" type="parTrans" cxnId="{C1FB347A-FB81-4FCE-BB3B-9E23CB3B481B}">
      <dgm:prSet/>
      <dgm:spPr/>
      <dgm:t>
        <a:bodyPr/>
        <a:lstStyle/>
        <a:p>
          <a:endParaRPr lang="fr-FR"/>
        </a:p>
      </dgm:t>
    </dgm:pt>
    <dgm:pt modelId="{58141040-13F6-4EB3-BAF7-D2C35E078BDD}" type="sibTrans" cxnId="{C1FB347A-FB81-4FCE-BB3B-9E23CB3B481B}">
      <dgm:prSet/>
      <dgm:spPr/>
      <dgm:t>
        <a:bodyPr/>
        <a:lstStyle/>
        <a:p>
          <a:endParaRPr lang="fr-FR"/>
        </a:p>
      </dgm:t>
    </dgm:pt>
    <dgm:pt modelId="{79B68CF9-8B96-465A-BC84-5B0843A2199E}">
      <dgm:prSet phldrT="[Texte]" custT="1"/>
      <dgm:spPr>
        <a:solidFill>
          <a:schemeClr val="bg1"/>
        </a:solidFill>
      </dgm:spPr>
      <dgm:t>
        <a:bodyPr/>
        <a:lstStyle/>
        <a:p>
          <a:pPr>
            <a:buNone/>
          </a:pPr>
          <a:endParaRPr lang="fr-FR" sz="2400" b="1" i="0" u="none" strike="noStrike" baseline="0" dirty="0">
            <a:solidFill>
              <a:srgbClr val="000000"/>
            </a:solidFill>
            <a:latin typeface="Arial" panose="020B0604020202020204" pitchFamily="34" charset="0"/>
            <a:cs typeface="Arial" panose="020B0604020202020204" pitchFamily="34" charset="0"/>
          </a:endParaRPr>
        </a:p>
        <a:p>
          <a:pPr>
            <a:buNone/>
          </a:pPr>
          <a:r>
            <a:rPr lang="fr-FR" sz="2400" b="1" i="0" u="none" strike="noStrike" baseline="0" dirty="0">
              <a:solidFill>
                <a:srgbClr val="000000"/>
              </a:solidFill>
              <a:latin typeface="Arial" panose="020B0604020202020204" pitchFamily="34" charset="0"/>
              <a:cs typeface="Arial" panose="020B0604020202020204" pitchFamily="34" charset="0"/>
            </a:rPr>
            <a:t>Préparation des données et </a:t>
          </a:r>
          <a:r>
            <a:rPr lang="fr-FR" sz="2400" b="1" i="0" u="none" strike="noStrike" baseline="0" dirty="0" err="1">
              <a:solidFill>
                <a:srgbClr val="000000"/>
              </a:solidFill>
              <a:latin typeface="Arial" panose="020B0604020202020204" pitchFamily="34" charset="0"/>
              <a:cs typeface="Arial" panose="020B0604020202020204" pitchFamily="34" charset="0"/>
            </a:rPr>
            <a:t>Feature</a:t>
          </a:r>
          <a:r>
            <a:rPr lang="fr-FR" sz="2400" b="1" i="0" u="none" strike="noStrike" baseline="0" dirty="0">
              <a:solidFill>
                <a:srgbClr val="000000"/>
              </a:solidFill>
              <a:latin typeface="Arial" panose="020B0604020202020204" pitchFamily="34" charset="0"/>
              <a:cs typeface="Arial" panose="020B0604020202020204" pitchFamily="34" charset="0"/>
            </a:rPr>
            <a:t> engineering</a:t>
          </a:r>
        </a:p>
        <a:p>
          <a:pPr>
            <a:buNone/>
          </a:pPr>
          <a:endParaRPr lang="fr-FR" sz="2400" dirty="0">
            <a:latin typeface="Calibri" panose="020F0502020204030204" pitchFamily="34" charset="0"/>
            <a:ea typeface="Calibri" panose="020F0502020204030204" pitchFamily="34" charset="0"/>
            <a:cs typeface="Calibri" panose="020F0502020204030204" pitchFamily="34" charset="0"/>
          </a:endParaRPr>
        </a:p>
      </dgm:t>
    </dgm:pt>
    <dgm:pt modelId="{836CC1A1-60DC-44C5-B47F-AE37131027CC}" type="parTrans" cxnId="{3023AB68-E67A-4DAD-B5F8-253DCFA289A3}">
      <dgm:prSet/>
      <dgm:spPr/>
      <dgm:t>
        <a:bodyPr/>
        <a:lstStyle/>
        <a:p>
          <a:endParaRPr lang="fr-FR"/>
        </a:p>
      </dgm:t>
    </dgm:pt>
    <dgm:pt modelId="{2186C93A-CF4E-41DF-BA0A-51B1468E51B8}" type="sibTrans" cxnId="{3023AB68-E67A-4DAD-B5F8-253DCFA289A3}">
      <dgm:prSet/>
      <dgm:spPr/>
      <dgm:t>
        <a:bodyPr/>
        <a:lstStyle/>
        <a:p>
          <a:endParaRPr lang="fr-FR"/>
        </a:p>
      </dgm:t>
    </dgm:pt>
    <dgm:pt modelId="{40F461E1-53AA-4ABD-9E56-0190480A3201}">
      <dgm:prSet custT="1"/>
      <dgm:spPr>
        <a:solidFill>
          <a:schemeClr val="bg1"/>
        </a:solidFill>
      </dgm:spPr>
      <dgm:t>
        <a:bodyPr/>
        <a:lstStyle/>
        <a:p>
          <a:endPar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Modélisation</a:t>
          </a:r>
        </a:p>
        <a:p>
          <a:endParaRPr lang="fr-FR" sz="24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dgm:t>
    </dgm:pt>
    <dgm:pt modelId="{7D851EEC-77A4-48D6-AC99-F7E902C57786}" type="parTrans" cxnId="{CA904C52-0FDF-41ED-8C40-C9A2D61DDF6D}">
      <dgm:prSet/>
      <dgm:spPr/>
      <dgm:t>
        <a:bodyPr/>
        <a:lstStyle/>
        <a:p>
          <a:endParaRPr lang="fr-FR"/>
        </a:p>
      </dgm:t>
    </dgm:pt>
    <dgm:pt modelId="{1764EE43-8208-4B58-AF8F-4EF432FFA5DA}" type="sibTrans" cxnId="{CA904C52-0FDF-41ED-8C40-C9A2D61DDF6D}">
      <dgm:prSet/>
      <dgm:spPr/>
      <dgm:t>
        <a:bodyPr/>
        <a:lstStyle/>
        <a:p>
          <a:endParaRPr lang="fr-FR"/>
        </a:p>
      </dgm:t>
    </dgm:pt>
    <dgm:pt modelId="{D22F9067-F91D-4E6C-8BC4-754D0E8110DD}">
      <dgm:prSet custT="1"/>
      <dgm:spPr>
        <a:solidFill>
          <a:schemeClr val="bg1"/>
        </a:solidFill>
      </dgm:spPr>
      <dgm:t>
        <a:bodyPr/>
        <a:lstStyle/>
        <a:p>
          <a:r>
            <a:rPr lang="fr-FR" sz="2400" b="1" dirty="0">
              <a:solidFill>
                <a:schemeClr val="tx1"/>
              </a:solidFill>
              <a:latin typeface="Calibri" panose="020F0502020204030204" pitchFamily="34" charset="0"/>
              <a:ea typeface="Calibri" panose="020F0502020204030204" pitchFamily="34" charset="0"/>
              <a:cs typeface="Calibri" panose="020F0502020204030204" pitchFamily="34" charset="0"/>
            </a:rPr>
            <a:t>Déploiement d'une API de prédiction et d’un Dashboard interactif</a:t>
          </a:r>
        </a:p>
      </dgm:t>
    </dgm:pt>
    <dgm:pt modelId="{B024EA31-3C1E-4084-B618-6EBD22D43DA2}" type="parTrans" cxnId="{BB5CAC86-D4EF-4F86-AEC5-CA32F308EB1E}">
      <dgm:prSet/>
      <dgm:spPr/>
      <dgm:t>
        <a:bodyPr/>
        <a:lstStyle/>
        <a:p>
          <a:endParaRPr lang="fr-FR"/>
        </a:p>
      </dgm:t>
    </dgm:pt>
    <dgm:pt modelId="{ECB511DA-014F-4B42-9220-A32FABA0BC88}" type="sibTrans" cxnId="{BB5CAC86-D4EF-4F86-AEC5-CA32F308EB1E}">
      <dgm:prSet/>
      <dgm:spPr/>
      <dgm:t>
        <a:bodyPr/>
        <a:lstStyle/>
        <a:p>
          <a:endParaRPr lang="fr-FR"/>
        </a:p>
      </dgm:t>
    </dgm:pt>
    <dgm:pt modelId="{B69F38B5-55C1-41AD-9FE8-458353D0511E}" type="pres">
      <dgm:prSet presAssocID="{9D1D4CFF-838D-41B3-A70D-B7C77019CD81}" presName="Name0" presStyleCnt="0">
        <dgm:presLayoutVars>
          <dgm:chMax val="7"/>
          <dgm:chPref val="7"/>
          <dgm:dir/>
        </dgm:presLayoutVars>
      </dgm:prSet>
      <dgm:spPr/>
    </dgm:pt>
    <dgm:pt modelId="{60CFF4DD-76BD-45BF-859E-DDB5448BBCEC}" type="pres">
      <dgm:prSet presAssocID="{9D1D4CFF-838D-41B3-A70D-B7C77019CD81}" presName="Name1" presStyleCnt="0"/>
      <dgm:spPr/>
    </dgm:pt>
    <dgm:pt modelId="{39ECE3D3-CFF9-4F09-8264-FBD76FF027E7}" type="pres">
      <dgm:prSet presAssocID="{9D1D4CFF-838D-41B3-A70D-B7C77019CD81}" presName="cycle" presStyleCnt="0"/>
      <dgm:spPr/>
    </dgm:pt>
    <dgm:pt modelId="{76F848A5-0A15-489A-BC3D-960FC877270C}" type="pres">
      <dgm:prSet presAssocID="{9D1D4CFF-838D-41B3-A70D-B7C77019CD81}" presName="srcNode" presStyleLbl="node1" presStyleIdx="0" presStyleCnt="4"/>
      <dgm:spPr/>
    </dgm:pt>
    <dgm:pt modelId="{8DAFC662-455E-4086-AF17-B74AFED36479}" type="pres">
      <dgm:prSet presAssocID="{9D1D4CFF-838D-41B3-A70D-B7C77019CD81}" presName="conn" presStyleLbl="parChTrans1D2" presStyleIdx="0" presStyleCnt="1"/>
      <dgm:spPr/>
    </dgm:pt>
    <dgm:pt modelId="{6EE9D7C3-4023-4AAC-AAC5-EBFE0EFE3415}" type="pres">
      <dgm:prSet presAssocID="{9D1D4CFF-838D-41B3-A70D-B7C77019CD81}" presName="extraNode" presStyleLbl="node1" presStyleIdx="0" presStyleCnt="4"/>
      <dgm:spPr/>
    </dgm:pt>
    <dgm:pt modelId="{F3503144-3608-4B59-9119-E21581B42608}" type="pres">
      <dgm:prSet presAssocID="{9D1D4CFF-838D-41B3-A70D-B7C77019CD81}" presName="dstNode" presStyleLbl="node1" presStyleIdx="0" presStyleCnt="4"/>
      <dgm:spPr/>
    </dgm:pt>
    <dgm:pt modelId="{E7098FBD-BFAC-4443-B993-A9247A21FF35}" type="pres">
      <dgm:prSet presAssocID="{86E1EBA5-5A6C-4F3C-8E89-CDAA1F996D66}" presName="text_1" presStyleLbl="node1" presStyleIdx="0" presStyleCnt="4" custScaleY="79551">
        <dgm:presLayoutVars>
          <dgm:bulletEnabled val="1"/>
        </dgm:presLayoutVars>
      </dgm:prSet>
      <dgm:spPr/>
    </dgm:pt>
    <dgm:pt modelId="{78395153-4E56-4026-979E-B01D7C083D67}" type="pres">
      <dgm:prSet presAssocID="{86E1EBA5-5A6C-4F3C-8E89-CDAA1F996D66}" presName="accent_1" presStyleCnt="0"/>
      <dgm:spPr/>
    </dgm:pt>
    <dgm:pt modelId="{9A7D817A-8046-4654-ABC9-E30F2B6E6CEC}" type="pres">
      <dgm:prSet presAssocID="{86E1EBA5-5A6C-4F3C-8E89-CDAA1F996D66}" presName="accentRepeatNode" presStyleLbl="solidFgAcc1" presStyleIdx="0" presStyleCnt="4"/>
      <dgm:spPr>
        <a:solidFill>
          <a:schemeClr val="bg1"/>
        </a:solidFill>
      </dgm:spPr>
    </dgm:pt>
    <dgm:pt modelId="{DD55BAC7-12A2-4D41-9CD7-E94857F8945D}" type="pres">
      <dgm:prSet presAssocID="{79B68CF9-8B96-465A-BC84-5B0843A2199E}" presName="text_2" presStyleLbl="node1" presStyleIdx="1" presStyleCnt="4">
        <dgm:presLayoutVars>
          <dgm:bulletEnabled val="1"/>
        </dgm:presLayoutVars>
      </dgm:prSet>
      <dgm:spPr/>
    </dgm:pt>
    <dgm:pt modelId="{CB15C69B-E325-4E68-8A3A-D6ACB02CC72E}" type="pres">
      <dgm:prSet presAssocID="{79B68CF9-8B96-465A-BC84-5B0843A2199E}" presName="accent_2" presStyleCnt="0"/>
      <dgm:spPr/>
    </dgm:pt>
    <dgm:pt modelId="{2A0B939D-340B-4959-A7FF-DA92750D2705}" type="pres">
      <dgm:prSet presAssocID="{79B68CF9-8B96-465A-BC84-5B0843A2199E}" presName="accentRepeatNode" presStyleLbl="solidFgAcc1" presStyleIdx="1" presStyleCnt="4"/>
      <dgm:spPr/>
    </dgm:pt>
    <dgm:pt modelId="{F40231F9-4108-49ED-ADF8-6DE8441B68ED}" type="pres">
      <dgm:prSet presAssocID="{40F461E1-53AA-4ABD-9E56-0190480A3201}" presName="text_3" presStyleLbl="node1" presStyleIdx="2" presStyleCnt="4">
        <dgm:presLayoutVars>
          <dgm:bulletEnabled val="1"/>
        </dgm:presLayoutVars>
      </dgm:prSet>
      <dgm:spPr/>
    </dgm:pt>
    <dgm:pt modelId="{40B1AF9A-8444-4177-A024-5D878E9FC6FA}" type="pres">
      <dgm:prSet presAssocID="{40F461E1-53AA-4ABD-9E56-0190480A3201}" presName="accent_3" presStyleCnt="0"/>
      <dgm:spPr/>
    </dgm:pt>
    <dgm:pt modelId="{B311CE32-0198-4C20-9A42-4EFE6FAD3E81}" type="pres">
      <dgm:prSet presAssocID="{40F461E1-53AA-4ABD-9E56-0190480A3201}" presName="accentRepeatNode" presStyleLbl="solidFgAcc1" presStyleIdx="2" presStyleCnt="4"/>
      <dgm:spPr/>
    </dgm:pt>
    <dgm:pt modelId="{B1749115-CCB8-4432-BAFB-FFDAE3DEC611}" type="pres">
      <dgm:prSet presAssocID="{D22F9067-F91D-4E6C-8BC4-754D0E8110DD}" presName="text_4" presStyleLbl="node1" presStyleIdx="3" presStyleCnt="4">
        <dgm:presLayoutVars>
          <dgm:bulletEnabled val="1"/>
        </dgm:presLayoutVars>
      </dgm:prSet>
      <dgm:spPr/>
    </dgm:pt>
    <dgm:pt modelId="{77DE0271-2353-40EE-B8BE-11E3F11DF136}" type="pres">
      <dgm:prSet presAssocID="{D22F9067-F91D-4E6C-8BC4-754D0E8110DD}" presName="accent_4" presStyleCnt="0"/>
      <dgm:spPr/>
    </dgm:pt>
    <dgm:pt modelId="{B6E64628-C5BE-4CB8-B331-8C2B188C0813}" type="pres">
      <dgm:prSet presAssocID="{D22F9067-F91D-4E6C-8BC4-754D0E8110DD}" presName="accentRepeatNode" presStyleLbl="solidFgAcc1" presStyleIdx="3" presStyleCnt="4"/>
      <dgm:spPr>
        <a:solidFill>
          <a:schemeClr val="tx2"/>
        </a:solidFill>
      </dgm:spPr>
    </dgm:pt>
  </dgm:ptLst>
  <dgm:cxnLst>
    <dgm:cxn modelId="{A4FBF839-1BCF-4BD5-9946-AE729F4BF59D}" type="presOf" srcId="{9D1D4CFF-838D-41B3-A70D-B7C77019CD81}" destId="{B69F38B5-55C1-41AD-9FE8-458353D0511E}" srcOrd="0" destOrd="0" presId="urn:microsoft.com/office/officeart/2008/layout/VerticalCurvedList"/>
    <dgm:cxn modelId="{F58FE764-C7D7-426B-9874-C07CCE09F1A3}" type="presOf" srcId="{79B68CF9-8B96-465A-BC84-5B0843A2199E}" destId="{DD55BAC7-12A2-4D41-9CD7-E94857F8945D}" srcOrd="0" destOrd="0" presId="urn:microsoft.com/office/officeart/2008/layout/VerticalCurvedList"/>
    <dgm:cxn modelId="{3023AB68-E67A-4DAD-B5F8-253DCFA289A3}" srcId="{9D1D4CFF-838D-41B3-A70D-B7C77019CD81}" destId="{79B68CF9-8B96-465A-BC84-5B0843A2199E}" srcOrd="1" destOrd="0" parTransId="{836CC1A1-60DC-44C5-B47F-AE37131027CC}" sibTransId="{2186C93A-CF4E-41DF-BA0A-51B1468E51B8}"/>
    <dgm:cxn modelId="{CA904C52-0FDF-41ED-8C40-C9A2D61DDF6D}" srcId="{9D1D4CFF-838D-41B3-A70D-B7C77019CD81}" destId="{40F461E1-53AA-4ABD-9E56-0190480A3201}" srcOrd="2" destOrd="0" parTransId="{7D851EEC-77A4-48D6-AC99-F7E902C57786}" sibTransId="{1764EE43-8208-4B58-AF8F-4EF432FFA5DA}"/>
    <dgm:cxn modelId="{C1FB347A-FB81-4FCE-BB3B-9E23CB3B481B}" srcId="{9D1D4CFF-838D-41B3-A70D-B7C77019CD81}" destId="{86E1EBA5-5A6C-4F3C-8E89-CDAA1F996D66}" srcOrd="0" destOrd="0" parTransId="{2ECE6BB6-9CB8-46F0-867B-19BC7C7766DB}" sibTransId="{58141040-13F6-4EB3-BAF7-D2C35E078BDD}"/>
    <dgm:cxn modelId="{BB5CAC86-D4EF-4F86-AEC5-CA32F308EB1E}" srcId="{9D1D4CFF-838D-41B3-A70D-B7C77019CD81}" destId="{D22F9067-F91D-4E6C-8BC4-754D0E8110DD}" srcOrd="3" destOrd="0" parTransId="{B024EA31-3C1E-4084-B618-6EBD22D43DA2}" sibTransId="{ECB511DA-014F-4B42-9220-A32FABA0BC88}"/>
    <dgm:cxn modelId="{715E5A9B-BA48-4D2E-859A-EB2F8431C4A7}" type="presOf" srcId="{86E1EBA5-5A6C-4F3C-8E89-CDAA1F996D66}" destId="{E7098FBD-BFAC-4443-B993-A9247A21FF35}" srcOrd="0" destOrd="0" presId="urn:microsoft.com/office/officeart/2008/layout/VerticalCurvedList"/>
    <dgm:cxn modelId="{82A791D8-F2A1-45D3-AC64-4FB31BFB3DD2}" type="presOf" srcId="{D22F9067-F91D-4E6C-8BC4-754D0E8110DD}" destId="{B1749115-CCB8-4432-BAFB-FFDAE3DEC611}" srcOrd="0" destOrd="0" presId="urn:microsoft.com/office/officeart/2008/layout/VerticalCurvedList"/>
    <dgm:cxn modelId="{EEFC0FDF-A91C-479E-9BCF-96E1F0EC4920}" type="presOf" srcId="{58141040-13F6-4EB3-BAF7-D2C35E078BDD}" destId="{8DAFC662-455E-4086-AF17-B74AFED36479}" srcOrd="0" destOrd="0" presId="urn:microsoft.com/office/officeart/2008/layout/VerticalCurvedList"/>
    <dgm:cxn modelId="{8C249EEE-3CF7-49C8-990B-E456A65FB2E6}" type="presOf" srcId="{40F461E1-53AA-4ABD-9E56-0190480A3201}" destId="{F40231F9-4108-49ED-ADF8-6DE8441B68ED}" srcOrd="0" destOrd="0" presId="urn:microsoft.com/office/officeart/2008/layout/VerticalCurvedList"/>
    <dgm:cxn modelId="{8651327E-28E0-4256-9C15-393B9BE5AC1D}" type="presParOf" srcId="{B69F38B5-55C1-41AD-9FE8-458353D0511E}" destId="{60CFF4DD-76BD-45BF-859E-DDB5448BBCEC}" srcOrd="0" destOrd="0" presId="urn:microsoft.com/office/officeart/2008/layout/VerticalCurvedList"/>
    <dgm:cxn modelId="{0A4B35FA-6494-4B3A-81E7-D809F5107472}" type="presParOf" srcId="{60CFF4DD-76BD-45BF-859E-DDB5448BBCEC}" destId="{39ECE3D3-CFF9-4F09-8264-FBD76FF027E7}" srcOrd="0" destOrd="0" presId="urn:microsoft.com/office/officeart/2008/layout/VerticalCurvedList"/>
    <dgm:cxn modelId="{DD2CBEBC-1FC5-4CBD-B76B-0C5AE3C2F739}" type="presParOf" srcId="{39ECE3D3-CFF9-4F09-8264-FBD76FF027E7}" destId="{76F848A5-0A15-489A-BC3D-960FC877270C}" srcOrd="0" destOrd="0" presId="urn:microsoft.com/office/officeart/2008/layout/VerticalCurvedList"/>
    <dgm:cxn modelId="{8C4A48ED-A2F6-4ED4-95D8-9BACB47AFF70}" type="presParOf" srcId="{39ECE3D3-CFF9-4F09-8264-FBD76FF027E7}" destId="{8DAFC662-455E-4086-AF17-B74AFED36479}" srcOrd="1" destOrd="0" presId="urn:microsoft.com/office/officeart/2008/layout/VerticalCurvedList"/>
    <dgm:cxn modelId="{175984CC-97B1-4130-B700-7930B05D84D5}" type="presParOf" srcId="{39ECE3D3-CFF9-4F09-8264-FBD76FF027E7}" destId="{6EE9D7C3-4023-4AAC-AAC5-EBFE0EFE3415}" srcOrd="2" destOrd="0" presId="urn:microsoft.com/office/officeart/2008/layout/VerticalCurvedList"/>
    <dgm:cxn modelId="{9DBD0835-A3B9-483E-9D91-2611B34E927A}" type="presParOf" srcId="{39ECE3D3-CFF9-4F09-8264-FBD76FF027E7}" destId="{F3503144-3608-4B59-9119-E21581B42608}" srcOrd="3" destOrd="0" presId="urn:microsoft.com/office/officeart/2008/layout/VerticalCurvedList"/>
    <dgm:cxn modelId="{36F9321D-F540-4F66-8948-896CBD47BCDC}" type="presParOf" srcId="{60CFF4DD-76BD-45BF-859E-DDB5448BBCEC}" destId="{E7098FBD-BFAC-4443-B993-A9247A21FF35}" srcOrd="1" destOrd="0" presId="urn:microsoft.com/office/officeart/2008/layout/VerticalCurvedList"/>
    <dgm:cxn modelId="{82B57F18-5AE9-4334-A66C-5FAEE18BD4D6}" type="presParOf" srcId="{60CFF4DD-76BD-45BF-859E-DDB5448BBCEC}" destId="{78395153-4E56-4026-979E-B01D7C083D67}" srcOrd="2" destOrd="0" presId="urn:microsoft.com/office/officeart/2008/layout/VerticalCurvedList"/>
    <dgm:cxn modelId="{A8F45059-C121-4D8B-9746-1E0F6F063888}" type="presParOf" srcId="{78395153-4E56-4026-979E-B01D7C083D67}" destId="{9A7D817A-8046-4654-ABC9-E30F2B6E6CEC}" srcOrd="0" destOrd="0" presId="urn:microsoft.com/office/officeart/2008/layout/VerticalCurvedList"/>
    <dgm:cxn modelId="{15A35854-2348-4831-A10B-5CAD29F75128}" type="presParOf" srcId="{60CFF4DD-76BD-45BF-859E-DDB5448BBCEC}" destId="{DD55BAC7-12A2-4D41-9CD7-E94857F8945D}" srcOrd="3" destOrd="0" presId="urn:microsoft.com/office/officeart/2008/layout/VerticalCurvedList"/>
    <dgm:cxn modelId="{F47241A5-741C-4EC1-917A-A7D43BEC8497}" type="presParOf" srcId="{60CFF4DD-76BD-45BF-859E-DDB5448BBCEC}" destId="{CB15C69B-E325-4E68-8A3A-D6ACB02CC72E}" srcOrd="4" destOrd="0" presId="urn:microsoft.com/office/officeart/2008/layout/VerticalCurvedList"/>
    <dgm:cxn modelId="{0A3C09DD-D1FB-4184-ABB0-DC8BC9CEB91B}" type="presParOf" srcId="{CB15C69B-E325-4E68-8A3A-D6ACB02CC72E}" destId="{2A0B939D-340B-4959-A7FF-DA92750D2705}" srcOrd="0" destOrd="0" presId="urn:microsoft.com/office/officeart/2008/layout/VerticalCurvedList"/>
    <dgm:cxn modelId="{D5C7ED2A-4B80-4E3C-9914-7B0AA3C47C31}" type="presParOf" srcId="{60CFF4DD-76BD-45BF-859E-DDB5448BBCEC}" destId="{F40231F9-4108-49ED-ADF8-6DE8441B68ED}" srcOrd="5" destOrd="0" presId="urn:microsoft.com/office/officeart/2008/layout/VerticalCurvedList"/>
    <dgm:cxn modelId="{26DA7859-362C-4BAB-B00D-FBB9052B670D}" type="presParOf" srcId="{60CFF4DD-76BD-45BF-859E-DDB5448BBCEC}" destId="{40B1AF9A-8444-4177-A024-5D878E9FC6FA}" srcOrd="6" destOrd="0" presId="urn:microsoft.com/office/officeart/2008/layout/VerticalCurvedList"/>
    <dgm:cxn modelId="{2F3A8B22-6CE3-48F3-9379-C86C363A705D}" type="presParOf" srcId="{40B1AF9A-8444-4177-A024-5D878E9FC6FA}" destId="{B311CE32-0198-4C20-9A42-4EFE6FAD3E81}" srcOrd="0" destOrd="0" presId="urn:microsoft.com/office/officeart/2008/layout/VerticalCurvedList"/>
    <dgm:cxn modelId="{2FDC43FB-9D37-4964-9A9B-2565BCBF50A2}" type="presParOf" srcId="{60CFF4DD-76BD-45BF-859E-DDB5448BBCEC}" destId="{B1749115-CCB8-4432-BAFB-FFDAE3DEC611}" srcOrd="7" destOrd="0" presId="urn:microsoft.com/office/officeart/2008/layout/VerticalCurvedList"/>
    <dgm:cxn modelId="{9B6BD5F8-218A-44DA-B831-062C7AB4826C}" type="presParOf" srcId="{60CFF4DD-76BD-45BF-859E-DDB5448BBCEC}" destId="{77DE0271-2353-40EE-B8BE-11E3F11DF136}" srcOrd="8" destOrd="0" presId="urn:microsoft.com/office/officeart/2008/layout/VerticalCurvedList"/>
    <dgm:cxn modelId="{64538AD0-D07B-47F9-8053-6F26E6FB20FE}" type="presParOf" srcId="{77DE0271-2353-40EE-B8BE-11E3F11DF136}" destId="{B6E64628-C5BE-4CB8-B331-8C2B188C081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FC662-455E-4086-AF17-B74AFED36479}">
      <dsp:nvSpPr>
        <dsp:cNvPr id="0" name=""/>
        <dsp:cNvSpPr/>
      </dsp:nvSpPr>
      <dsp:spPr>
        <a:xfrm>
          <a:off x="-4948603" y="-758266"/>
          <a:ext cx="5893660" cy="5893660"/>
        </a:xfrm>
        <a:prstGeom prst="blockArc">
          <a:avLst>
            <a:gd name="adj1" fmla="val 18900000"/>
            <a:gd name="adj2" fmla="val 2700000"/>
            <a:gd name="adj3" fmla="val 366"/>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7098FBD-BFAC-4443-B993-A9247A21FF35}">
      <dsp:nvSpPr>
        <dsp:cNvPr id="0" name=""/>
        <dsp:cNvSpPr/>
      </dsp:nvSpPr>
      <dsp:spPr>
        <a:xfrm>
          <a:off x="494887" y="405363"/>
          <a:ext cx="8206392" cy="535678"/>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r>
            <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Découverte</a:t>
          </a:r>
          <a:r>
            <a:rPr lang="fr-FR" sz="2400" b="1" i="0" u="none" strike="noStrike" kern="1200" baseline="0" dirty="0">
              <a:solidFill>
                <a:srgbClr val="000000"/>
              </a:solidFill>
              <a:latin typeface="Arial" panose="020B0604020202020204" pitchFamily="34" charset="0"/>
              <a:cs typeface="Arial" panose="020B0604020202020204" pitchFamily="34" charset="0"/>
            </a:rPr>
            <a:t> des données</a:t>
          </a:r>
          <a:endParaRPr lang="fr-FR" sz="2400" kern="1200" dirty="0"/>
        </a:p>
      </dsp:txBody>
      <dsp:txXfrm>
        <a:off x="494887" y="405363"/>
        <a:ext cx="8206392" cy="535678"/>
      </dsp:txXfrm>
    </dsp:sp>
    <dsp:sp modelId="{9A7D817A-8046-4654-ABC9-E30F2B6E6CEC}">
      <dsp:nvSpPr>
        <dsp:cNvPr id="0" name=""/>
        <dsp:cNvSpPr/>
      </dsp:nvSpPr>
      <dsp:spPr>
        <a:xfrm>
          <a:off x="74026" y="252341"/>
          <a:ext cx="841721" cy="841721"/>
        </a:xfrm>
        <a:prstGeom prst="ellipse">
          <a:avLst/>
        </a:prstGeom>
        <a:solidFill>
          <a:schemeClr val="tx2"/>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DC84D9-0969-4521-98BE-99CC1717297E}">
      <dsp:nvSpPr>
        <dsp:cNvPr id="0" name=""/>
        <dsp:cNvSpPr/>
      </dsp:nvSpPr>
      <dsp:spPr>
        <a:xfrm>
          <a:off x="880950" y="1346754"/>
          <a:ext cx="7820329" cy="673377"/>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endParaRPr lang="fr-FR" sz="2400" b="1" i="0" u="none" strike="noStrike" kern="1200" baseline="0" dirty="0">
            <a:solidFill>
              <a:srgbClr val="000000"/>
            </a:solidFill>
            <a:latin typeface="Arial" panose="020B0604020202020204" pitchFamily="34" charset="0"/>
            <a:cs typeface="Arial" panose="020B0604020202020204" pitchFamily="34" charset="0"/>
          </a:endParaRPr>
        </a:p>
        <a:p>
          <a:pPr marL="0" lvl="0" indent="0" algn="l" defTabSz="1066800">
            <a:lnSpc>
              <a:spcPct val="90000"/>
            </a:lnSpc>
            <a:spcBef>
              <a:spcPct val="0"/>
            </a:spcBef>
            <a:spcAft>
              <a:spcPct val="35000"/>
            </a:spcAft>
            <a:buNone/>
          </a:pPr>
          <a:r>
            <a:rPr lang="fr-FR" sz="2400" b="1" i="0" u="none" strike="noStrike" kern="1200" baseline="0" dirty="0">
              <a:solidFill>
                <a:srgbClr val="000000"/>
              </a:solidFill>
              <a:latin typeface="Arial" panose="020B0604020202020204" pitchFamily="34" charset="0"/>
              <a:cs typeface="Arial" panose="020B0604020202020204" pitchFamily="34" charset="0"/>
            </a:rPr>
            <a:t>Préparation des données et </a:t>
          </a:r>
          <a:r>
            <a:rPr lang="fr-FR" sz="2400" b="1" i="0" u="none" strike="noStrike" kern="1200" baseline="0" dirty="0" err="1">
              <a:solidFill>
                <a:srgbClr val="000000"/>
              </a:solidFill>
              <a:latin typeface="Arial" panose="020B0604020202020204" pitchFamily="34" charset="0"/>
              <a:cs typeface="Arial" panose="020B0604020202020204" pitchFamily="34" charset="0"/>
            </a:rPr>
            <a:t>Feature</a:t>
          </a:r>
          <a:r>
            <a:rPr lang="fr-FR" sz="2400" b="1" i="0" u="none" strike="noStrike" kern="1200" baseline="0" dirty="0">
              <a:solidFill>
                <a:srgbClr val="000000"/>
              </a:solidFill>
              <a:latin typeface="Arial" panose="020B0604020202020204" pitchFamily="34" charset="0"/>
              <a:cs typeface="Arial" panose="020B0604020202020204" pitchFamily="34" charset="0"/>
            </a:rPr>
            <a:t> engineering</a:t>
          </a:r>
        </a:p>
        <a:p>
          <a:pPr marL="0" lvl="0" indent="0" algn="l" defTabSz="1066800">
            <a:lnSpc>
              <a:spcPct val="90000"/>
            </a:lnSpc>
            <a:spcBef>
              <a:spcPct val="0"/>
            </a:spcBef>
            <a:spcAft>
              <a:spcPct val="35000"/>
            </a:spcAft>
            <a:buNone/>
          </a:pPr>
          <a:endParaRPr lang="fr-FR" sz="2400" kern="1200" dirty="0">
            <a:latin typeface="Calibri" panose="020F0502020204030204" pitchFamily="34" charset="0"/>
            <a:ea typeface="Calibri" panose="020F0502020204030204" pitchFamily="34" charset="0"/>
            <a:cs typeface="Calibri" panose="020F0502020204030204" pitchFamily="34" charset="0"/>
          </a:endParaRPr>
        </a:p>
      </dsp:txBody>
      <dsp:txXfrm>
        <a:off x="880950" y="1346754"/>
        <a:ext cx="7820329" cy="673377"/>
      </dsp:txXfrm>
    </dsp:sp>
    <dsp:sp modelId="{2A0B939D-340B-4959-A7FF-DA92750D2705}">
      <dsp:nvSpPr>
        <dsp:cNvPr id="0" name=""/>
        <dsp:cNvSpPr/>
      </dsp:nvSpPr>
      <dsp:spPr>
        <a:xfrm>
          <a:off x="460089" y="1262582"/>
          <a:ext cx="841721" cy="841721"/>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F6D72F9-157F-4CB8-8DC7-0EAC340DC36E}">
      <dsp:nvSpPr>
        <dsp:cNvPr id="0" name=""/>
        <dsp:cNvSpPr/>
      </dsp:nvSpPr>
      <dsp:spPr>
        <a:xfrm>
          <a:off x="880950" y="2356995"/>
          <a:ext cx="7820329" cy="673377"/>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endPar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defTabSz="1066800">
            <a:lnSpc>
              <a:spcPct val="90000"/>
            </a:lnSpc>
            <a:spcBef>
              <a:spcPct val="0"/>
            </a:spcBef>
            <a:spcAft>
              <a:spcPct val="35000"/>
            </a:spcAft>
            <a:buNone/>
          </a:pPr>
          <a:r>
            <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Modélisation</a:t>
          </a:r>
        </a:p>
        <a:p>
          <a:pPr marL="0" lvl="0" indent="0" algn="l" defTabSz="1066800">
            <a:lnSpc>
              <a:spcPct val="90000"/>
            </a:lnSpc>
            <a:spcBef>
              <a:spcPct val="0"/>
            </a:spcBef>
            <a:spcAft>
              <a:spcPct val="35000"/>
            </a:spcAft>
            <a:buNone/>
          </a:pPr>
          <a:endPar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dsp:txBody>
      <dsp:txXfrm>
        <a:off x="880950" y="2356995"/>
        <a:ext cx="7820329" cy="673377"/>
      </dsp:txXfrm>
    </dsp:sp>
    <dsp:sp modelId="{B311CE32-0198-4C20-9A42-4EFE6FAD3E81}">
      <dsp:nvSpPr>
        <dsp:cNvPr id="0" name=""/>
        <dsp:cNvSpPr/>
      </dsp:nvSpPr>
      <dsp:spPr>
        <a:xfrm>
          <a:off x="460089" y="2272823"/>
          <a:ext cx="841721" cy="841721"/>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2090FC8-52A0-46AF-BD05-40E7E227F1A7}">
      <dsp:nvSpPr>
        <dsp:cNvPr id="0" name=""/>
        <dsp:cNvSpPr/>
      </dsp:nvSpPr>
      <dsp:spPr>
        <a:xfrm>
          <a:off x="494887" y="3367237"/>
          <a:ext cx="8206392" cy="673377"/>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r>
            <a:rPr lang="fr-FR" sz="24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Déploiement d'une API de prédiction et d’un Dashboard interactif</a:t>
          </a:r>
        </a:p>
      </dsp:txBody>
      <dsp:txXfrm>
        <a:off x="494887" y="3367237"/>
        <a:ext cx="8206392" cy="673377"/>
      </dsp:txXfrm>
    </dsp:sp>
    <dsp:sp modelId="{B6E64628-C5BE-4CB8-B331-8C2B188C0813}">
      <dsp:nvSpPr>
        <dsp:cNvPr id="0" name=""/>
        <dsp:cNvSpPr/>
      </dsp:nvSpPr>
      <dsp:spPr>
        <a:xfrm>
          <a:off x="74026" y="3283064"/>
          <a:ext cx="841721" cy="841721"/>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FC662-455E-4086-AF17-B74AFED36479}">
      <dsp:nvSpPr>
        <dsp:cNvPr id="0" name=""/>
        <dsp:cNvSpPr/>
      </dsp:nvSpPr>
      <dsp:spPr>
        <a:xfrm>
          <a:off x="-4948603" y="-758266"/>
          <a:ext cx="5893660" cy="5893660"/>
        </a:xfrm>
        <a:prstGeom prst="blockArc">
          <a:avLst>
            <a:gd name="adj1" fmla="val 18900000"/>
            <a:gd name="adj2" fmla="val 2700000"/>
            <a:gd name="adj3" fmla="val 366"/>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7098FBD-BFAC-4443-B993-A9247A21FF35}">
      <dsp:nvSpPr>
        <dsp:cNvPr id="0" name=""/>
        <dsp:cNvSpPr/>
      </dsp:nvSpPr>
      <dsp:spPr>
        <a:xfrm>
          <a:off x="494887" y="405363"/>
          <a:ext cx="8206392" cy="535678"/>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r>
            <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Découverte</a:t>
          </a:r>
          <a:r>
            <a:rPr lang="fr-FR" sz="2400" b="1" i="0" u="none" strike="noStrike" kern="1200" baseline="0" dirty="0">
              <a:solidFill>
                <a:srgbClr val="000000"/>
              </a:solidFill>
              <a:latin typeface="Arial" panose="020B0604020202020204" pitchFamily="34" charset="0"/>
              <a:cs typeface="Arial" panose="020B0604020202020204" pitchFamily="34" charset="0"/>
            </a:rPr>
            <a:t> des données</a:t>
          </a:r>
          <a:endParaRPr lang="fr-FR" sz="2400" kern="1200" dirty="0"/>
        </a:p>
      </dsp:txBody>
      <dsp:txXfrm>
        <a:off x="494887" y="405363"/>
        <a:ext cx="8206392" cy="535678"/>
      </dsp:txXfrm>
    </dsp:sp>
    <dsp:sp modelId="{9A7D817A-8046-4654-ABC9-E30F2B6E6CEC}">
      <dsp:nvSpPr>
        <dsp:cNvPr id="0" name=""/>
        <dsp:cNvSpPr/>
      </dsp:nvSpPr>
      <dsp:spPr>
        <a:xfrm>
          <a:off x="74026" y="252341"/>
          <a:ext cx="841721" cy="841721"/>
        </a:xfrm>
        <a:prstGeom prst="ellipse">
          <a:avLst/>
        </a:prstGeom>
        <a:solidFill>
          <a:schemeClr val="bg1"/>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0D6B736-43D4-4100-A798-F9FED2DC0B3D}">
      <dsp:nvSpPr>
        <dsp:cNvPr id="0" name=""/>
        <dsp:cNvSpPr/>
      </dsp:nvSpPr>
      <dsp:spPr>
        <a:xfrm>
          <a:off x="880950" y="1346754"/>
          <a:ext cx="7820329" cy="673377"/>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endParaRPr lang="fr-FR" sz="2400" b="1" i="0" u="none" strike="noStrike" kern="1200" baseline="0" dirty="0">
            <a:solidFill>
              <a:srgbClr val="000000"/>
            </a:solidFill>
            <a:latin typeface="Arial" panose="020B0604020202020204" pitchFamily="34" charset="0"/>
            <a:cs typeface="Arial" panose="020B0604020202020204" pitchFamily="34" charset="0"/>
          </a:endParaRPr>
        </a:p>
        <a:p>
          <a:pPr marL="0" lvl="0" indent="0" algn="l" defTabSz="1066800">
            <a:lnSpc>
              <a:spcPct val="90000"/>
            </a:lnSpc>
            <a:spcBef>
              <a:spcPct val="0"/>
            </a:spcBef>
            <a:spcAft>
              <a:spcPct val="35000"/>
            </a:spcAft>
            <a:buNone/>
          </a:pPr>
          <a:r>
            <a:rPr lang="fr-FR" sz="2400" b="1" i="0" u="none" strike="noStrike" kern="1200" baseline="0" dirty="0">
              <a:solidFill>
                <a:srgbClr val="000000"/>
              </a:solidFill>
              <a:latin typeface="Arial" panose="020B0604020202020204" pitchFamily="34" charset="0"/>
              <a:cs typeface="Arial" panose="020B0604020202020204" pitchFamily="34" charset="0"/>
            </a:rPr>
            <a:t>Préparation des données et </a:t>
          </a:r>
          <a:r>
            <a:rPr lang="fr-FR" sz="2400" b="1" i="0" u="none" strike="noStrike" kern="1200" baseline="0" dirty="0" err="1">
              <a:solidFill>
                <a:srgbClr val="000000"/>
              </a:solidFill>
              <a:latin typeface="Arial" panose="020B0604020202020204" pitchFamily="34" charset="0"/>
              <a:cs typeface="Arial" panose="020B0604020202020204" pitchFamily="34" charset="0"/>
            </a:rPr>
            <a:t>Feature</a:t>
          </a:r>
          <a:r>
            <a:rPr lang="fr-FR" sz="2400" b="1" i="0" u="none" strike="noStrike" kern="1200" baseline="0" dirty="0">
              <a:solidFill>
                <a:srgbClr val="000000"/>
              </a:solidFill>
              <a:latin typeface="Arial" panose="020B0604020202020204" pitchFamily="34" charset="0"/>
              <a:cs typeface="Arial" panose="020B0604020202020204" pitchFamily="34" charset="0"/>
            </a:rPr>
            <a:t> engineering</a:t>
          </a:r>
        </a:p>
        <a:p>
          <a:pPr marL="0" lvl="0" indent="0" algn="l" defTabSz="1066800">
            <a:lnSpc>
              <a:spcPct val="90000"/>
            </a:lnSpc>
            <a:spcBef>
              <a:spcPct val="0"/>
            </a:spcBef>
            <a:spcAft>
              <a:spcPct val="35000"/>
            </a:spcAft>
            <a:buNone/>
          </a:pPr>
          <a:endParaRPr lang="fr-FR" sz="2400" kern="1200" dirty="0">
            <a:latin typeface="Calibri" panose="020F0502020204030204" pitchFamily="34" charset="0"/>
            <a:ea typeface="Calibri" panose="020F0502020204030204" pitchFamily="34" charset="0"/>
            <a:cs typeface="Calibri" panose="020F0502020204030204" pitchFamily="34" charset="0"/>
          </a:endParaRPr>
        </a:p>
      </dsp:txBody>
      <dsp:txXfrm>
        <a:off x="880950" y="1346754"/>
        <a:ext cx="7820329" cy="673377"/>
      </dsp:txXfrm>
    </dsp:sp>
    <dsp:sp modelId="{2A0B939D-340B-4959-A7FF-DA92750D2705}">
      <dsp:nvSpPr>
        <dsp:cNvPr id="0" name=""/>
        <dsp:cNvSpPr/>
      </dsp:nvSpPr>
      <dsp:spPr>
        <a:xfrm>
          <a:off x="460089" y="1262582"/>
          <a:ext cx="841721" cy="841721"/>
        </a:xfrm>
        <a:prstGeom prst="ellipse">
          <a:avLst/>
        </a:prstGeom>
        <a:solidFill>
          <a:schemeClr val="tx2"/>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B777465-C310-4754-8949-3251CF825512}">
      <dsp:nvSpPr>
        <dsp:cNvPr id="0" name=""/>
        <dsp:cNvSpPr/>
      </dsp:nvSpPr>
      <dsp:spPr>
        <a:xfrm>
          <a:off x="880950" y="2356995"/>
          <a:ext cx="7820329" cy="673377"/>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endPar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defTabSz="1066800">
            <a:lnSpc>
              <a:spcPct val="90000"/>
            </a:lnSpc>
            <a:spcBef>
              <a:spcPct val="0"/>
            </a:spcBef>
            <a:spcAft>
              <a:spcPct val="35000"/>
            </a:spcAft>
            <a:buNone/>
          </a:pPr>
          <a:r>
            <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Modélisation</a:t>
          </a:r>
        </a:p>
        <a:p>
          <a:pPr marL="0" lvl="0" indent="0" algn="l" defTabSz="1066800">
            <a:lnSpc>
              <a:spcPct val="90000"/>
            </a:lnSpc>
            <a:spcBef>
              <a:spcPct val="0"/>
            </a:spcBef>
            <a:spcAft>
              <a:spcPct val="35000"/>
            </a:spcAft>
            <a:buNone/>
          </a:pPr>
          <a:endPar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dsp:txBody>
      <dsp:txXfrm>
        <a:off x="880950" y="2356995"/>
        <a:ext cx="7820329" cy="673377"/>
      </dsp:txXfrm>
    </dsp:sp>
    <dsp:sp modelId="{B311CE32-0198-4C20-9A42-4EFE6FAD3E81}">
      <dsp:nvSpPr>
        <dsp:cNvPr id="0" name=""/>
        <dsp:cNvSpPr/>
      </dsp:nvSpPr>
      <dsp:spPr>
        <a:xfrm>
          <a:off x="460089" y="2272823"/>
          <a:ext cx="841721" cy="841721"/>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081682-7A1D-45F5-97FA-64A77434A4D0}">
      <dsp:nvSpPr>
        <dsp:cNvPr id="0" name=""/>
        <dsp:cNvSpPr/>
      </dsp:nvSpPr>
      <dsp:spPr>
        <a:xfrm>
          <a:off x="494887" y="3367237"/>
          <a:ext cx="8206392" cy="673377"/>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r>
            <a:rPr lang="fr-FR" sz="24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Déploiement d'une API de prédiction et d’un Dashboard interactif</a:t>
          </a:r>
        </a:p>
      </dsp:txBody>
      <dsp:txXfrm>
        <a:off x="494887" y="3367237"/>
        <a:ext cx="8206392" cy="673377"/>
      </dsp:txXfrm>
    </dsp:sp>
    <dsp:sp modelId="{B6E64628-C5BE-4CB8-B331-8C2B188C0813}">
      <dsp:nvSpPr>
        <dsp:cNvPr id="0" name=""/>
        <dsp:cNvSpPr/>
      </dsp:nvSpPr>
      <dsp:spPr>
        <a:xfrm>
          <a:off x="74026" y="3283064"/>
          <a:ext cx="841721" cy="841721"/>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FC662-455E-4086-AF17-B74AFED36479}">
      <dsp:nvSpPr>
        <dsp:cNvPr id="0" name=""/>
        <dsp:cNvSpPr/>
      </dsp:nvSpPr>
      <dsp:spPr>
        <a:xfrm>
          <a:off x="-4948603" y="-758266"/>
          <a:ext cx="5893660" cy="5893660"/>
        </a:xfrm>
        <a:prstGeom prst="blockArc">
          <a:avLst>
            <a:gd name="adj1" fmla="val 18900000"/>
            <a:gd name="adj2" fmla="val 2700000"/>
            <a:gd name="adj3" fmla="val 366"/>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7098FBD-BFAC-4443-B993-A9247A21FF35}">
      <dsp:nvSpPr>
        <dsp:cNvPr id="0" name=""/>
        <dsp:cNvSpPr/>
      </dsp:nvSpPr>
      <dsp:spPr>
        <a:xfrm>
          <a:off x="494887" y="405363"/>
          <a:ext cx="8206392" cy="535678"/>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r>
            <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Découverte</a:t>
          </a:r>
          <a:r>
            <a:rPr lang="fr-FR" sz="2400" b="1" i="0" u="none" strike="noStrike" kern="1200" baseline="0" dirty="0">
              <a:solidFill>
                <a:srgbClr val="000000"/>
              </a:solidFill>
              <a:latin typeface="Arial" panose="020B0604020202020204" pitchFamily="34" charset="0"/>
              <a:cs typeface="Arial" panose="020B0604020202020204" pitchFamily="34" charset="0"/>
            </a:rPr>
            <a:t> des données</a:t>
          </a:r>
          <a:endParaRPr lang="fr-FR" sz="2400" kern="1200" dirty="0"/>
        </a:p>
      </dsp:txBody>
      <dsp:txXfrm>
        <a:off x="494887" y="405363"/>
        <a:ext cx="8206392" cy="535678"/>
      </dsp:txXfrm>
    </dsp:sp>
    <dsp:sp modelId="{9A7D817A-8046-4654-ABC9-E30F2B6E6CEC}">
      <dsp:nvSpPr>
        <dsp:cNvPr id="0" name=""/>
        <dsp:cNvSpPr/>
      </dsp:nvSpPr>
      <dsp:spPr>
        <a:xfrm>
          <a:off x="74026" y="252341"/>
          <a:ext cx="841721" cy="841721"/>
        </a:xfrm>
        <a:prstGeom prst="ellipse">
          <a:avLst/>
        </a:prstGeom>
        <a:solidFill>
          <a:schemeClr val="bg1"/>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9FB98C-5C2E-4ECB-B587-CED660D6CB9A}">
      <dsp:nvSpPr>
        <dsp:cNvPr id="0" name=""/>
        <dsp:cNvSpPr/>
      </dsp:nvSpPr>
      <dsp:spPr>
        <a:xfrm>
          <a:off x="880950" y="1346754"/>
          <a:ext cx="7820329" cy="673377"/>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endParaRPr lang="fr-FR" sz="2400" b="1" i="0" u="none" strike="noStrike" kern="1200" baseline="0" dirty="0">
            <a:solidFill>
              <a:srgbClr val="000000"/>
            </a:solidFill>
            <a:latin typeface="Arial" panose="020B0604020202020204" pitchFamily="34" charset="0"/>
            <a:cs typeface="Arial" panose="020B0604020202020204" pitchFamily="34" charset="0"/>
          </a:endParaRPr>
        </a:p>
        <a:p>
          <a:pPr marL="0" lvl="0" indent="0" algn="l" defTabSz="1066800">
            <a:lnSpc>
              <a:spcPct val="90000"/>
            </a:lnSpc>
            <a:spcBef>
              <a:spcPct val="0"/>
            </a:spcBef>
            <a:spcAft>
              <a:spcPct val="35000"/>
            </a:spcAft>
            <a:buNone/>
          </a:pPr>
          <a:r>
            <a:rPr lang="fr-FR" sz="2400" b="1" i="0" u="none" strike="noStrike" kern="1200" baseline="0" dirty="0">
              <a:solidFill>
                <a:srgbClr val="000000"/>
              </a:solidFill>
              <a:latin typeface="Arial" panose="020B0604020202020204" pitchFamily="34" charset="0"/>
              <a:cs typeface="Arial" panose="020B0604020202020204" pitchFamily="34" charset="0"/>
            </a:rPr>
            <a:t>Préparation des données et </a:t>
          </a:r>
          <a:r>
            <a:rPr lang="fr-FR" sz="2400" b="1" i="0" u="none" strike="noStrike" kern="1200" baseline="0" dirty="0" err="1">
              <a:solidFill>
                <a:srgbClr val="000000"/>
              </a:solidFill>
              <a:latin typeface="Arial" panose="020B0604020202020204" pitchFamily="34" charset="0"/>
              <a:cs typeface="Arial" panose="020B0604020202020204" pitchFamily="34" charset="0"/>
            </a:rPr>
            <a:t>Feature</a:t>
          </a:r>
          <a:r>
            <a:rPr lang="fr-FR" sz="2400" b="1" i="0" u="none" strike="noStrike" kern="1200" baseline="0" dirty="0">
              <a:solidFill>
                <a:srgbClr val="000000"/>
              </a:solidFill>
              <a:latin typeface="Arial" panose="020B0604020202020204" pitchFamily="34" charset="0"/>
              <a:cs typeface="Arial" panose="020B0604020202020204" pitchFamily="34" charset="0"/>
            </a:rPr>
            <a:t> engineering</a:t>
          </a:r>
        </a:p>
        <a:p>
          <a:pPr marL="0" lvl="0" indent="0" algn="l" defTabSz="1066800">
            <a:lnSpc>
              <a:spcPct val="90000"/>
            </a:lnSpc>
            <a:spcBef>
              <a:spcPct val="0"/>
            </a:spcBef>
            <a:spcAft>
              <a:spcPct val="35000"/>
            </a:spcAft>
            <a:buNone/>
          </a:pPr>
          <a:endParaRPr lang="fr-FR" sz="2400" kern="1200" dirty="0">
            <a:latin typeface="Calibri" panose="020F0502020204030204" pitchFamily="34" charset="0"/>
            <a:ea typeface="Calibri" panose="020F0502020204030204" pitchFamily="34" charset="0"/>
            <a:cs typeface="Calibri" panose="020F0502020204030204" pitchFamily="34" charset="0"/>
          </a:endParaRPr>
        </a:p>
      </dsp:txBody>
      <dsp:txXfrm>
        <a:off x="880950" y="1346754"/>
        <a:ext cx="7820329" cy="673377"/>
      </dsp:txXfrm>
    </dsp:sp>
    <dsp:sp modelId="{2A0B939D-340B-4959-A7FF-DA92750D2705}">
      <dsp:nvSpPr>
        <dsp:cNvPr id="0" name=""/>
        <dsp:cNvSpPr/>
      </dsp:nvSpPr>
      <dsp:spPr>
        <a:xfrm>
          <a:off x="460089" y="1262582"/>
          <a:ext cx="841721" cy="841721"/>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A82191E-C8F3-4F98-8833-9043D02AE876}">
      <dsp:nvSpPr>
        <dsp:cNvPr id="0" name=""/>
        <dsp:cNvSpPr/>
      </dsp:nvSpPr>
      <dsp:spPr>
        <a:xfrm>
          <a:off x="880950" y="2356995"/>
          <a:ext cx="7820329" cy="673377"/>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endPar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defTabSz="1066800">
            <a:lnSpc>
              <a:spcPct val="90000"/>
            </a:lnSpc>
            <a:spcBef>
              <a:spcPct val="0"/>
            </a:spcBef>
            <a:spcAft>
              <a:spcPct val="35000"/>
            </a:spcAft>
            <a:buNone/>
          </a:pPr>
          <a:r>
            <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Modélisation</a:t>
          </a:r>
        </a:p>
        <a:p>
          <a:pPr marL="0" lvl="0" indent="0" algn="l" defTabSz="1066800">
            <a:lnSpc>
              <a:spcPct val="90000"/>
            </a:lnSpc>
            <a:spcBef>
              <a:spcPct val="0"/>
            </a:spcBef>
            <a:spcAft>
              <a:spcPct val="35000"/>
            </a:spcAft>
            <a:buNone/>
          </a:pPr>
          <a:endPar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dsp:txBody>
      <dsp:txXfrm>
        <a:off x="880950" y="2356995"/>
        <a:ext cx="7820329" cy="673377"/>
      </dsp:txXfrm>
    </dsp:sp>
    <dsp:sp modelId="{B311CE32-0198-4C20-9A42-4EFE6FAD3E81}">
      <dsp:nvSpPr>
        <dsp:cNvPr id="0" name=""/>
        <dsp:cNvSpPr/>
      </dsp:nvSpPr>
      <dsp:spPr>
        <a:xfrm>
          <a:off x="460089" y="2272823"/>
          <a:ext cx="841721" cy="841721"/>
        </a:xfrm>
        <a:prstGeom prst="ellipse">
          <a:avLst/>
        </a:prstGeom>
        <a:solidFill>
          <a:schemeClr val="tx2"/>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AFAA53D-107A-45B6-8670-144711D45C7A}">
      <dsp:nvSpPr>
        <dsp:cNvPr id="0" name=""/>
        <dsp:cNvSpPr/>
      </dsp:nvSpPr>
      <dsp:spPr>
        <a:xfrm>
          <a:off x="494887" y="3367237"/>
          <a:ext cx="8206392" cy="673377"/>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r>
            <a:rPr lang="fr-FR" sz="24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Déploiement d'une API de prédiction et d’un Dashboard interactif</a:t>
          </a:r>
        </a:p>
      </dsp:txBody>
      <dsp:txXfrm>
        <a:off x="494887" y="3367237"/>
        <a:ext cx="8206392" cy="673377"/>
      </dsp:txXfrm>
    </dsp:sp>
    <dsp:sp modelId="{B6E64628-C5BE-4CB8-B331-8C2B188C0813}">
      <dsp:nvSpPr>
        <dsp:cNvPr id="0" name=""/>
        <dsp:cNvSpPr/>
      </dsp:nvSpPr>
      <dsp:spPr>
        <a:xfrm>
          <a:off x="74026" y="3283064"/>
          <a:ext cx="841721" cy="841721"/>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FC662-455E-4086-AF17-B74AFED36479}">
      <dsp:nvSpPr>
        <dsp:cNvPr id="0" name=""/>
        <dsp:cNvSpPr/>
      </dsp:nvSpPr>
      <dsp:spPr>
        <a:xfrm>
          <a:off x="-4948603" y="-758266"/>
          <a:ext cx="5893660" cy="5893660"/>
        </a:xfrm>
        <a:prstGeom prst="blockArc">
          <a:avLst>
            <a:gd name="adj1" fmla="val 18900000"/>
            <a:gd name="adj2" fmla="val 2700000"/>
            <a:gd name="adj3" fmla="val 366"/>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7098FBD-BFAC-4443-B993-A9247A21FF35}">
      <dsp:nvSpPr>
        <dsp:cNvPr id="0" name=""/>
        <dsp:cNvSpPr/>
      </dsp:nvSpPr>
      <dsp:spPr>
        <a:xfrm>
          <a:off x="494887" y="405363"/>
          <a:ext cx="8206392" cy="535678"/>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r>
            <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Découverte</a:t>
          </a:r>
          <a:r>
            <a:rPr lang="fr-FR" sz="2400" b="1" i="0" u="none" strike="noStrike" kern="1200" baseline="0" dirty="0">
              <a:solidFill>
                <a:srgbClr val="000000"/>
              </a:solidFill>
              <a:latin typeface="Arial" panose="020B0604020202020204" pitchFamily="34" charset="0"/>
              <a:cs typeface="Arial" panose="020B0604020202020204" pitchFamily="34" charset="0"/>
            </a:rPr>
            <a:t> des données</a:t>
          </a:r>
          <a:endParaRPr lang="fr-FR" sz="2400" kern="1200" dirty="0"/>
        </a:p>
      </dsp:txBody>
      <dsp:txXfrm>
        <a:off x="494887" y="405363"/>
        <a:ext cx="8206392" cy="535678"/>
      </dsp:txXfrm>
    </dsp:sp>
    <dsp:sp modelId="{9A7D817A-8046-4654-ABC9-E30F2B6E6CEC}">
      <dsp:nvSpPr>
        <dsp:cNvPr id="0" name=""/>
        <dsp:cNvSpPr/>
      </dsp:nvSpPr>
      <dsp:spPr>
        <a:xfrm>
          <a:off x="74026" y="252341"/>
          <a:ext cx="841721" cy="841721"/>
        </a:xfrm>
        <a:prstGeom prst="ellipse">
          <a:avLst/>
        </a:prstGeom>
        <a:solidFill>
          <a:schemeClr val="bg1"/>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D55BAC7-12A2-4D41-9CD7-E94857F8945D}">
      <dsp:nvSpPr>
        <dsp:cNvPr id="0" name=""/>
        <dsp:cNvSpPr/>
      </dsp:nvSpPr>
      <dsp:spPr>
        <a:xfrm>
          <a:off x="880950" y="1346754"/>
          <a:ext cx="7820329" cy="673377"/>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endParaRPr lang="fr-FR" sz="2400" b="1" i="0" u="none" strike="noStrike" kern="1200" baseline="0" dirty="0">
            <a:solidFill>
              <a:srgbClr val="000000"/>
            </a:solidFill>
            <a:latin typeface="Arial" panose="020B0604020202020204" pitchFamily="34" charset="0"/>
            <a:cs typeface="Arial" panose="020B0604020202020204" pitchFamily="34" charset="0"/>
          </a:endParaRPr>
        </a:p>
        <a:p>
          <a:pPr marL="0" lvl="0" indent="0" algn="l" defTabSz="1066800">
            <a:lnSpc>
              <a:spcPct val="90000"/>
            </a:lnSpc>
            <a:spcBef>
              <a:spcPct val="0"/>
            </a:spcBef>
            <a:spcAft>
              <a:spcPct val="35000"/>
            </a:spcAft>
            <a:buNone/>
          </a:pPr>
          <a:r>
            <a:rPr lang="fr-FR" sz="2400" b="1" i="0" u="none" strike="noStrike" kern="1200" baseline="0" dirty="0">
              <a:solidFill>
                <a:srgbClr val="000000"/>
              </a:solidFill>
              <a:latin typeface="Arial" panose="020B0604020202020204" pitchFamily="34" charset="0"/>
              <a:cs typeface="Arial" panose="020B0604020202020204" pitchFamily="34" charset="0"/>
            </a:rPr>
            <a:t>Préparation des données et </a:t>
          </a:r>
          <a:r>
            <a:rPr lang="fr-FR" sz="2400" b="1" i="0" u="none" strike="noStrike" kern="1200" baseline="0" dirty="0" err="1">
              <a:solidFill>
                <a:srgbClr val="000000"/>
              </a:solidFill>
              <a:latin typeface="Arial" panose="020B0604020202020204" pitchFamily="34" charset="0"/>
              <a:cs typeface="Arial" panose="020B0604020202020204" pitchFamily="34" charset="0"/>
            </a:rPr>
            <a:t>Feature</a:t>
          </a:r>
          <a:r>
            <a:rPr lang="fr-FR" sz="2400" b="1" i="0" u="none" strike="noStrike" kern="1200" baseline="0" dirty="0">
              <a:solidFill>
                <a:srgbClr val="000000"/>
              </a:solidFill>
              <a:latin typeface="Arial" panose="020B0604020202020204" pitchFamily="34" charset="0"/>
              <a:cs typeface="Arial" panose="020B0604020202020204" pitchFamily="34" charset="0"/>
            </a:rPr>
            <a:t> engineering</a:t>
          </a:r>
        </a:p>
        <a:p>
          <a:pPr marL="0" lvl="0" indent="0" algn="l" defTabSz="1066800">
            <a:lnSpc>
              <a:spcPct val="90000"/>
            </a:lnSpc>
            <a:spcBef>
              <a:spcPct val="0"/>
            </a:spcBef>
            <a:spcAft>
              <a:spcPct val="35000"/>
            </a:spcAft>
            <a:buNone/>
          </a:pPr>
          <a:endParaRPr lang="fr-FR" sz="2400" kern="1200" dirty="0">
            <a:latin typeface="Calibri" panose="020F0502020204030204" pitchFamily="34" charset="0"/>
            <a:ea typeface="Calibri" panose="020F0502020204030204" pitchFamily="34" charset="0"/>
            <a:cs typeface="Calibri" panose="020F0502020204030204" pitchFamily="34" charset="0"/>
          </a:endParaRPr>
        </a:p>
      </dsp:txBody>
      <dsp:txXfrm>
        <a:off x="880950" y="1346754"/>
        <a:ext cx="7820329" cy="673377"/>
      </dsp:txXfrm>
    </dsp:sp>
    <dsp:sp modelId="{2A0B939D-340B-4959-A7FF-DA92750D2705}">
      <dsp:nvSpPr>
        <dsp:cNvPr id="0" name=""/>
        <dsp:cNvSpPr/>
      </dsp:nvSpPr>
      <dsp:spPr>
        <a:xfrm>
          <a:off x="460089" y="1262582"/>
          <a:ext cx="841721" cy="841721"/>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40231F9-4108-49ED-ADF8-6DE8441B68ED}">
      <dsp:nvSpPr>
        <dsp:cNvPr id="0" name=""/>
        <dsp:cNvSpPr/>
      </dsp:nvSpPr>
      <dsp:spPr>
        <a:xfrm>
          <a:off x="880950" y="2356995"/>
          <a:ext cx="7820329" cy="673377"/>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endPar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defTabSz="1066800">
            <a:lnSpc>
              <a:spcPct val="90000"/>
            </a:lnSpc>
            <a:spcBef>
              <a:spcPct val="0"/>
            </a:spcBef>
            <a:spcAft>
              <a:spcPct val="35000"/>
            </a:spcAft>
            <a:buNone/>
          </a:pPr>
          <a:r>
            <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Modélisation</a:t>
          </a:r>
        </a:p>
        <a:p>
          <a:pPr marL="0" lvl="0" indent="0" algn="l" defTabSz="1066800">
            <a:lnSpc>
              <a:spcPct val="90000"/>
            </a:lnSpc>
            <a:spcBef>
              <a:spcPct val="0"/>
            </a:spcBef>
            <a:spcAft>
              <a:spcPct val="35000"/>
            </a:spcAft>
            <a:buNone/>
          </a:pPr>
          <a:endParaRPr lang="fr-FR" sz="2400" b="1" i="0" u="none" strike="noStrike" kern="1200"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dsp:txBody>
      <dsp:txXfrm>
        <a:off x="880950" y="2356995"/>
        <a:ext cx="7820329" cy="673377"/>
      </dsp:txXfrm>
    </dsp:sp>
    <dsp:sp modelId="{B311CE32-0198-4C20-9A42-4EFE6FAD3E81}">
      <dsp:nvSpPr>
        <dsp:cNvPr id="0" name=""/>
        <dsp:cNvSpPr/>
      </dsp:nvSpPr>
      <dsp:spPr>
        <a:xfrm>
          <a:off x="460089" y="2272823"/>
          <a:ext cx="841721" cy="841721"/>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749115-CCB8-4432-BAFB-FFDAE3DEC611}">
      <dsp:nvSpPr>
        <dsp:cNvPr id="0" name=""/>
        <dsp:cNvSpPr/>
      </dsp:nvSpPr>
      <dsp:spPr>
        <a:xfrm>
          <a:off x="494887" y="3367237"/>
          <a:ext cx="8206392" cy="673377"/>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4493" tIns="60960" rIns="60960" bIns="60960" numCol="1" spcCol="1270" anchor="ctr" anchorCtr="0">
          <a:noAutofit/>
        </a:bodyPr>
        <a:lstStyle/>
        <a:p>
          <a:pPr marL="0" lvl="0" indent="0" algn="l" defTabSz="1066800">
            <a:lnSpc>
              <a:spcPct val="90000"/>
            </a:lnSpc>
            <a:spcBef>
              <a:spcPct val="0"/>
            </a:spcBef>
            <a:spcAft>
              <a:spcPct val="35000"/>
            </a:spcAft>
            <a:buNone/>
          </a:pPr>
          <a:r>
            <a:rPr lang="fr-FR" sz="24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Déploiement d'une API de prédiction et d’un Dashboard interactif</a:t>
          </a:r>
        </a:p>
      </dsp:txBody>
      <dsp:txXfrm>
        <a:off x="494887" y="3367237"/>
        <a:ext cx="8206392" cy="673377"/>
      </dsp:txXfrm>
    </dsp:sp>
    <dsp:sp modelId="{B6E64628-C5BE-4CB8-B331-8C2B188C0813}">
      <dsp:nvSpPr>
        <dsp:cNvPr id="0" name=""/>
        <dsp:cNvSpPr/>
      </dsp:nvSpPr>
      <dsp:spPr>
        <a:xfrm>
          <a:off x="74026" y="3283064"/>
          <a:ext cx="841721" cy="841721"/>
        </a:xfrm>
        <a:prstGeom prst="ellipse">
          <a:avLst/>
        </a:prstGeom>
        <a:solidFill>
          <a:schemeClr val="tx2"/>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66D4B-5B15-40DC-B79A-547796BF2ADF}" type="datetimeFigureOut">
              <a:rPr lang="fr-FR" smtClean="0"/>
              <a:t>11/06/2025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5A253-B744-4DB8-B2F5-FC3EB50041EA}" type="slidenum">
              <a:rPr lang="fr-FR" smtClean="0"/>
              <a:t>‹N°›</a:t>
            </a:fld>
            <a:endParaRPr lang="fr-FR"/>
          </a:p>
        </p:txBody>
      </p:sp>
    </p:spTree>
    <p:extLst>
      <p:ext uri="{BB962C8B-B14F-4D97-AF65-F5344CB8AC3E}">
        <p14:creationId xmlns:p14="http://schemas.microsoft.com/office/powerpoint/2010/main" val="1113276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275A253-B744-4DB8-B2F5-FC3EB50041EA}" type="slidenum">
              <a:rPr lang="fr-FR" smtClean="0"/>
              <a:t>6</a:t>
            </a:fld>
            <a:endParaRPr lang="fr-FR"/>
          </a:p>
        </p:txBody>
      </p:sp>
    </p:spTree>
    <p:extLst>
      <p:ext uri="{BB962C8B-B14F-4D97-AF65-F5344CB8AC3E}">
        <p14:creationId xmlns:p14="http://schemas.microsoft.com/office/powerpoint/2010/main" val="1019647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275A253-B744-4DB8-B2F5-FC3EB50041EA}" type="slidenum">
              <a:rPr lang="fr-FR" smtClean="0"/>
              <a:t>12</a:t>
            </a:fld>
            <a:endParaRPr lang="fr-FR"/>
          </a:p>
        </p:txBody>
      </p:sp>
    </p:spTree>
    <p:extLst>
      <p:ext uri="{BB962C8B-B14F-4D97-AF65-F5344CB8AC3E}">
        <p14:creationId xmlns:p14="http://schemas.microsoft.com/office/powerpoint/2010/main" val="1500852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275A253-B744-4DB8-B2F5-FC3EB50041EA}" type="slidenum">
              <a:rPr lang="fr-FR" smtClean="0"/>
              <a:t>14</a:t>
            </a:fld>
            <a:endParaRPr lang="fr-FR"/>
          </a:p>
        </p:txBody>
      </p:sp>
    </p:spTree>
    <p:extLst>
      <p:ext uri="{BB962C8B-B14F-4D97-AF65-F5344CB8AC3E}">
        <p14:creationId xmlns:p14="http://schemas.microsoft.com/office/powerpoint/2010/main" val="4255393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275A253-B744-4DB8-B2F5-FC3EB50041EA}" type="slidenum">
              <a:rPr lang="fr-FR" smtClean="0"/>
              <a:t>16</a:t>
            </a:fld>
            <a:endParaRPr lang="fr-FR"/>
          </a:p>
        </p:txBody>
      </p:sp>
    </p:spTree>
    <p:extLst>
      <p:ext uri="{BB962C8B-B14F-4D97-AF65-F5344CB8AC3E}">
        <p14:creationId xmlns:p14="http://schemas.microsoft.com/office/powerpoint/2010/main" val="1606123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275A253-B744-4DB8-B2F5-FC3EB50041EA}" type="slidenum">
              <a:rPr lang="fr-FR" smtClean="0"/>
              <a:t>20</a:t>
            </a:fld>
            <a:endParaRPr lang="fr-FR"/>
          </a:p>
        </p:txBody>
      </p:sp>
    </p:spTree>
    <p:extLst>
      <p:ext uri="{BB962C8B-B14F-4D97-AF65-F5344CB8AC3E}">
        <p14:creationId xmlns:p14="http://schemas.microsoft.com/office/powerpoint/2010/main" val="219543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275A253-B744-4DB8-B2F5-FC3EB50041EA}" type="slidenum">
              <a:rPr lang="fr-FR" smtClean="0"/>
              <a:t>22</a:t>
            </a:fld>
            <a:endParaRPr lang="fr-FR"/>
          </a:p>
        </p:txBody>
      </p:sp>
    </p:spTree>
    <p:extLst>
      <p:ext uri="{BB962C8B-B14F-4D97-AF65-F5344CB8AC3E}">
        <p14:creationId xmlns:p14="http://schemas.microsoft.com/office/powerpoint/2010/main" val="82040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275A253-B744-4DB8-B2F5-FC3EB50041EA}" type="slidenum">
              <a:rPr lang="fr-FR" smtClean="0"/>
              <a:t>24</a:t>
            </a:fld>
            <a:endParaRPr lang="fr-FR"/>
          </a:p>
        </p:txBody>
      </p:sp>
    </p:spTree>
    <p:extLst>
      <p:ext uri="{BB962C8B-B14F-4D97-AF65-F5344CB8AC3E}">
        <p14:creationId xmlns:p14="http://schemas.microsoft.com/office/powerpoint/2010/main" val="23820571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fr-FR"/>
              <a:t>Modifiez le style du titre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6811082-672B-4758-B914-86DF1DD0B74E}" type="datetime1">
              <a:rPr lang="en-US" smtClean="0"/>
              <a:t>6/11/2025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177684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743388B-4EAB-45D5-A0BC-AB1A9E88EB3F}" type="datetime1">
              <a:rPr lang="en-US" smtClean="0"/>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58746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67AA2C5-782E-4122-ADC5-0E20CD362AEE}" type="datetime1">
              <a:rPr lang="en-US" smtClean="0"/>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4190332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66FF5CC-F53A-488B-A8A0-6BAA6820932B}" type="datetime1">
              <a:rPr lang="en-US" smtClean="0"/>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471186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39D0124-1F72-4887-8BDC-639778E763ED}" type="datetime1">
              <a:rPr lang="en-US" smtClean="0"/>
              <a:t>6/11/2025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313539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fr-FR"/>
              <a:t>Modifiez le style du titre</a:t>
            </a:r>
            <a:endParaRPr lang="en-US" dirty="0"/>
          </a:p>
        </p:txBody>
      </p:sp>
      <p:sp>
        <p:nvSpPr>
          <p:cNvPr id="3" name="Date Placeholder 2"/>
          <p:cNvSpPr>
            <a:spLocks noGrp="1"/>
          </p:cNvSpPr>
          <p:nvPr>
            <p:ph type="dt" sz="half" idx="10"/>
          </p:nvPr>
        </p:nvSpPr>
        <p:spPr/>
        <p:txBody>
          <a:bodyPr/>
          <a:lstStyle/>
          <a:p>
            <a:fld id="{4145D4F3-6474-46E6-A19C-3CA0ABBDCF69}" type="datetime1">
              <a:rPr lang="en-US" smtClean="0"/>
              <a:t>6/11/2025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98550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769F71-5F80-4812-8408-6BE327A5D76F}" type="datetime1">
              <a:rPr lang="en-US" smtClean="0"/>
              <a:t>6/11/2025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4237539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65DCA41-D932-4827-80D5-8651D25F4897}" type="datetime1">
              <a:rPr lang="en-US" smtClean="0"/>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486239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fr-FR"/>
              <a:t>Modifiez le style du titre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fr-FR"/>
              <a:t>Cliquez sur l'icône pour ajouter une image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1569438-CB00-469F-B950-7C952ED2F74A}" type="datetime1">
              <a:rPr lang="en-US" smtClean="0"/>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649752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05100506-B3D9-4843-BE8F-BE2BB580562A}" type="datetime1">
              <a:rPr lang="en-US" smtClean="0"/>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376747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fr-FR"/>
              <a:t>Modifiez le style du titre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96D5F45-7A3C-4173-8EF8-38FA75F914C7}" type="datetime1">
              <a:rPr lang="en-US" smtClean="0"/>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4266988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fr-FR"/>
              <a:t>Modifiez le style du titre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8B86122-FD2C-40E7-B362-6453893EDE67}" type="datetime1">
              <a:rPr lang="en-US" smtClean="0"/>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698414578"/>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E0C945E-682A-43C2-BB16-138A040B7766}" type="datetime1">
              <a:rPr lang="en-US" smtClean="0"/>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4700482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064B28D-0AEC-4EC2-97CB-75A996419966}" type="datetime1">
              <a:rPr lang="en-US" smtClean="0"/>
              <a:t>6/11/2025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0537281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704C66B-F6C2-4DAD-B61E-3BAEE6863496}" type="datetime1">
              <a:rPr lang="en-US" smtClean="0"/>
              <a:t>6/11/2025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6724056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D06B180-F7D4-4BE2-9BD7-AC529620EDF6}" type="datetime1">
              <a:rPr lang="en-US" smtClean="0"/>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9679635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6F47B96B-E48D-4F3F-833F-94EC221DD7CA}" type="datetime1">
              <a:rPr lang="en-US" smtClean="0"/>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530000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fr-FR"/>
              <a:t>Modifiez le style du titre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8B86122-FD2C-40E7-B362-6453893EDE67}" type="datetime1">
              <a:rPr lang="en-US" smtClean="0"/>
              <a:t>6/11/2025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782727590"/>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Lst>
  <p:hf sldNum="0" hd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emf"/><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8" Type="http://schemas.openxmlformats.org/officeDocument/2006/relationships/hyperlink" Target="https://jpadfield.github.io/simple-site/home.html" TargetMode="External"/><Relationship Id="rId3" Type="http://schemas.openxmlformats.org/officeDocument/2006/relationships/image" Target="../media/image34.png"/><Relationship Id="rId7" Type="http://schemas.openxmlformats.org/officeDocument/2006/relationships/image" Target="../media/image36.png"/><Relationship Id="rId12" Type="http://schemas.openxmlformats.org/officeDocument/2006/relationships/hyperlink" Target="https://bekusib.tistory.com/78"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python3.wannaphong.com/2020/02/fastapi-framework-api-python.html" TargetMode="External"/><Relationship Id="rId11" Type="http://schemas.openxmlformats.org/officeDocument/2006/relationships/image" Target="../media/image38.png"/><Relationship Id="rId5" Type="http://schemas.openxmlformats.org/officeDocument/2006/relationships/image" Target="../media/image35.png"/><Relationship Id="rId10" Type="http://schemas.openxmlformats.org/officeDocument/2006/relationships/hyperlink" Target="https://about.gitlab.com/solutions/aws/" TargetMode="External"/><Relationship Id="rId4" Type="http://schemas.openxmlformats.org/officeDocument/2006/relationships/hyperlink" Target="https://homouniversalis.tistory.com/4" TargetMode="External"/><Relationship Id="rId9"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127.0.0.1:8000/"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olvability-env-1.eba-3sirvjbb.eu-west-3.elasticbeanstalk.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hyperlink" Target="http://localhost:5000/" TargetMode="External"/><Relationship Id="rId2" Type="http://schemas.openxmlformats.org/officeDocument/2006/relationships/hyperlink" Target="https://github.com/MatyKane/P7_Modele_Scoring/" TargetMode="External"/><Relationship Id="rId1" Type="http://schemas.openxmlformats.org/officeDocument/2006/relationships/slideLayout" Target="../slideLayouts/slideLayout2.xml"/><Relationship Id="rId6" Type="http://schemas.openxmlformats.org/officeDocument/2006/relationships/hyperlink" Target="http://localhost:8501/" TargetMode="External"/><Relationship Id="rId5" Type="http://schemas.openxmlformats.org/officeDocument/2006/relationships/hyperlink" Target="http://127.0.0.1:8000/" TargetMode="External"/><Relationship Id="rId4" Type="http://schemas.openxmlformats.org/officeDocument/2006/relationships/hyperlink" Target="http://solvability-env-1.eba-3sirvjbb.eu-west-3.elasticbeanstalk.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AA0682-0C75-1CE2-33C8-3982E54B87DA}"/>
              </a:ext>
            </a:extLst>
          </p:cNvPr>
          <p:cNvSpPr>
            <a:spLocks noGrp="1"/>
          </p:cNvSpPr>
          <p:nvPr>
            <p:ph type="ctrTitle"/>
          </p:nvPr>
        </p:nvSpPr>
        <p:spPr>
          <a:xfrm>
            <a:off x="877579" y="153423"/>
            <a:ext cx="10627034" cy="2200033"/>
          </a:xfrm>
        </p:spPr>
        <p:txBody>
          <a:bodyPr>
            <a:normAutofit/>
          </a:bodyPr>
          <a:lstStyle/>
          <a:p>
            <a:pPr algn="ctr"/>
            <a:r>
              <a:rPr lang="fr-FR" b="1" dirty="0">
                <a:solidFill>
                  <a:schemeClr val="bg1"/>
                </a:solidFill>
                <a:latin typeface="Yu Gothic" panose="020B0400000000000000" pitchFamily="34" charset="-128"/>
                <a:ea typeface="Yu Gothic" panose="020B0400000000000000" pitchFamily="34" charset="-128"/>
                <a:cs typeface="Calibri" panose="020F0502020204030204" pitchFamily="34" charset="0"/>
              </a:rPr>
              <a:t>Implémentez un modèle de </a:t>
            </a:r>
            <a:r>
              <a:rPr lang="fr-FR" b="1" dirty="0" err="1">
                <a:solidFill>
                  <a:schemeClr val="bg1"/>
                </a:solidFill>
                <a:latin typeface="Yu Gothic" panose="020B0400000000000000" pitchFamily="34" charset="-128"/>
                <a:ea typeface="Yu Gothic" panose="020B0400000000000000" pitchFamily="34" charset="-128"/>
                <a:cs typeface="Calibri" panose="020F0502020204030204" pitchFamily="34" charset="0"/>
              </a:rPr>
              <a:t>scoring</a:t>
            </a:r>
            <a:endParaRPr lang="fr-FR" dirty="0">
              <a:solidFill>
                <a:schemeClr val="bg1"/>
              </a:solidFill>
              <a:latin typeface="Yu Gothic" panose="020B0400000000000000" pitchFamily="34" charset="-128"/>
              <a:ea typeface="Yu Gothic" panose="020B0400000000000000" pitchFamily="34" charset="-128"/>
              <a:cs typeface="Calibri" panose="020F0502020204030204" pitchFamily="34" charset="0"/>
            </a:endParaRPr>
          </a:p>
        </p:txBody>
      </p:sp>
      <p:sp>
        <p:nvSpPr>
          <p:cNvPr id="3" name="Sous-titre 2">
            <a:extLst>
              <a:ext uri="{FF2B5EF4-FFF2-40B4-BE49-F238E27FC236}">
                <a16:creationId xmlns:a16="http://schemas.microsoft.com/office/drawing/2014/main" id="{EF246DE9-B2C2-D660-2721-EE3814B17ABC}"/>
              </a:ext>
            </a:extLst>
          </p:cNvPr>
          <p:cNvSpPr>
            <a:spLocks noGrp="1"/>
          </p:cNvSpPr>
          <p:nvPr>
            <p:ph type="subTitle" idx="1"/>
          </p:nvPr>
        </p:nvSpPr>
        <p:spPr>
          <a:xfrm>
            <a:off x="524656" y="5179101"/>
            <a:ext cx="3777521" cy="1201233"/>
          </a:xfrm>
        </p:spPr>
        <p:txBody>
          <a:bodyPr>
            <a:normAutofit/>
          </a:bodyPr>
          <a:lstStyle/>
          <a:p>
            <a:pPr lvl="0" algn="l">
              <a:lnSpc>
                <a:spcPct val="100000"/>
              </a:lnSpc>
            </a:pPr>
            <a:r>
              <a:rPr lang="fr-FR" sz="1800" b="1" i="0" u="none" strike="noStrike" baseline="0" dirty="0">
                <a:solidFill>
                  <a:schemeClr val="accent5">
                    <a:lumMod val="50000"/>
                  </a:schemeClr>
                </a:solidFill>
              </a:rPr>
              <a:t>	</a:t>
            </a:r>
            <a:r>
              <a:rPr lang="fr-FR" sz="1800" b="1" i="0" u="none" strike="noStrike" baseline="0" dirty="0" err="1">
                <a:solidFill>
                  <a:schemeClr val="bg1"/>
                </a:solidFill>
                <a:latin typeface="Yu Gothic" panose="020B0400000000000000" pitchFamily="34" charset="-128"/>
                <a:ea typeface="Yu Gothic" panose="020B0400000000000000" pitchFamily="34" charset="-128"/>
                <a:cs typeface="Calibri" panose="020F0502020204030204" pitchFamily="34" charset="0"/>
              </a:rPr>
              <a:t>M</a:t>
            </a:r>
            <a:r>
              <a:rPr lang="fr-FR" sz="1800" b="1" i="0" u="none" strike="noStrike" cap="none" baseline="0" dirty="0" err="1">
                <a:solidFill>
                  <a:schemeClr val="bg1"/>
                </a:solidFill>
                <a:latin typeface="Yu Gothic" panose="020B0400000000000000" pitchFamily="34" charset="-128"/>
                <a:ea typeface="Yu Gothic" panose="020B0400000000000000" pitchFamily="34" charset="-128"/>
                <a:cs typeface="Calibri" panose="020F0502020204030204" pitchFamily="34" charset="0"/>
              </a:rPr>
              <a:t>aty</a:t>
            </a:r>
            <a:r>
              <a:rPr lang="fr-FR" sz="1800" b="1" i="0" u="none" strike="noStrike" baseline="0" dirty="0">
                <a:solidFill>
                  <a:schemeClr val="bg1"/>
                </a:solidFill>
                <a:latin typeface="Yu Gothic" panose="020B0400000000000000" pitchFamily="34" charset="-128"/>
                <a:ea typeface="Yu Gothic" panose="020B0400000000000000" pitchFamily="34" charset="-128"/>
                <a:cs typeface="Calibri" panose="020F0502020204030204" pitchFamily="34" charset="0"/>
              </a:rPr>
              <a:t> KANE</a:t>
            </a:r>
          </a:p>
          <a:p>
            <a:pPr lvl="0" algn="l">
              <a:lnSpc>
                <a:spcPct val="100000"/>
              </a:lnSpc>
            </a:pPr>
            <a:r>
              <a:rPr lang="fr-FR" sz="1800" b="1" i="0" u="none" strike="noStrike" baseline="0" dirty="0">
                <a:solidFill>
                  <a:schemeClr val="bg1"/>
                </a:solidFill>
                <a:latin typeface="Yu Gothic" panose="020B0400000000000000" pitchFamily="34" charset="-128"/>
                <a:ea typeface="Yu Gothic" panose="020B0400000000000000" pitchFamily="34" charset="-128"/>
                <a:cs typeface="Calibri" panose="020F0502020204030204" pitchFamily="34" charset="0"/>
              </a:rPr>
              <a:t>	P</a:t>
            </a:r>
            <a:r>
              <a:rPr lang="fr-FR" sz="1800" b="1" i="0" u="none" strike="noStrike" cap="none" baseline="0" dirty="0">
                <a:solidFill>
                  <a:schemeClr val="bg1"/>
                </a:solidFill>
                <a:latin typeface="Yu Gothic" panose="020B0400000000000000" pitchFamily="34" charset="-128"/>
                <a:ea typeface="Yu Gothic" panose="020B0400000000000000" pitchFamily="34" charset="-128"/>
                <a:cs typeface="Calibri" panose="020F0502020204030204" pitchFamily="34" charset="0"/>
              </a:rPr>
              <a:t>arcours</a:t>
            </a:r>
            <a:r>
              <a:rPr lang="fr-FR" sz="1800" b="1" i="0" u="none" strike="noStrike" baseline="0" dirty="0">
                <a:solidFill>
                  <a:schemeClr val="bg1"/>
                </a:solidFill>
                <a:latin typeface="Yu Gothic" panose="020B0400000000000000" pitchFamily="34" charset="-128"/>
                <a:ea typeface="Yu Gothic" panose="020B0400000000000000" pitchFamily="34" charset="-128"/>
                <a:cs typeface="Calibri" panose="020F0502020204030204" pitchFamily="34" charset="0"/>
              </a:rPr>
              <a:t> D</a:t>
            </a:r>
            <a:r>
              <a:rPr lang="fr-FR" sz="1800" b="1" i="0" u="none" strike="noStrike" cap="none" baseline="0" dirty="0">
                <a:solidFill>
                  <a:schemeClr val="bg1"/>
                </a:solidFill>
                <a:latin typeface="Yu Gothic" panose="020B0400000000000000" pitchFamily="34" charset="-128"/>
                <a:ea typeface="Yu Gothic" panose="020B0400000000000000" pitchFamily="34" charset="-128"/>
                <a:cs typeface="Calibri" panose="020F0502020204030204" pitchFamily="34" charset="0"/>
              </a:rPr>
              <a:t>ata</a:t>
            </a:r>
            <a:r>
              <a:rPr lang="fr-FR" sz="1800" b="1" i="0" u="none" strike="noStrike" baseline="0" dirty="0">
                <a:solidFill>
                  <a:schemeClr val="bg1"/>
                </a:solidFill>
                <a:latin typeface="Yu Gothic" panose="020B0400000000000000" pitchFamily="34" charset="-128"/>
                <a:ea typeface="Yu Gothic" panose="020B0400000000000000" pitchFamily="34" charset="-128"/>
                <a:cs typeface="Calibri" panose="020F0502020204030204" pitchFamily="34" charset="0"/>
              </a:rPr>
              <a:t> </a:t>
            </a:r>
            <a:r>
              <a:rPr lang="fr-FR" sz="1800" b="1" i="0" u="none" strike="noStrike" baseline="0" dirty="0" err="1">
                <a:solidFill>
                  <a:schemeClr val="bg1"/>
                </a:solidFill>
                <a:latin typeface="Yu Gothic" panose="020B0400000000000000" pitchFamily="34" charset="-128"/>
                <a:ea typeface="Yu Gothic" panose="020B0400000000000000" pitchFamily="34" charset="-128"/>
                <a:cs typeface="Calibri" panose="020F0502020204030204" pitchFamily="34" charset="0"/>
              </a:rPr>
              <a:t>S</a:t>
            </a:r>
            <a:r>
              <a:rPr lang="fr-FR" sz="1800" b="1" i="0" u="none" strike="noStrike" cap="none" baseline="0" dirty="0" err="1">
                <a:solidFill>
                  <a:schemeClr val="bg1"/>
                </a:solidFill>
                <a:latin typeface="Yu Gothic" panose="020B0400000000000000" pitchFamily="34" charset="-128"/>
                <a:ea typeface="Yu Gothic" panose="020B0400000000000000" pitchFamily="34" charset="-128"/>
                <a:cs typeface="Calibri" panose="020F0502020204030204" pitchFamily="34" charset="0"/>
              </a:rPr>
              <a:t>cientist</a:t>
            </a:r>
            <a:endParaRPr lang="fr-FR" sz="1800" b="1" i="0" u="none" strike="noStrike" baseline="0" dirty="0">
              <a:solidFill>
                <a:schemeClr val="bg1"/>
              </a:solidFill>
              <a:latin typeface="Yu Gothic" panose="020B0400000000000000" pitchFamily="34" charset="-128"/>
              <a:ea typeface="Yu Gothic" panose="020B0400000000000000" pitchFamily="34" charset="-128"/>
              <a:cs typeface="Calibri" panose="020F0502020204030204" pitchFamily="34" charset="0"/>
            </a:endParaRPr>
          </a:p>
          <a:p>
            <a:pPr lvl="0" algn="l">
              <a:lnSpc>
                <a:spcPct val="100000"/>
              </a:lnSpc>
            </a:pPr>
            <a:r>
              <a:rPr lang="fr-FR" sz="1800" b="1" i="0" u="none" strike="noStrike" baseline="0" dirty="0">
                <a:solidFill>
                  <a:schemeClr val="bg1"/>
                </a:solidFill>
                <a:latin typeface="Yu Gothic" panose="020B0400000000000000" pitchFamily="34" charset="-128"/>
                <a:ea typeface="Yu Gothic" panose="020B0400000000000000" pitchFamily="34" charset="-128"/>
                <a:cs typeface="Calibri" panose="020F0502020204030204" pitchFamily="34" charset="0"/>
              </a:rPr>
              <a:t>	P</a:t>
            </a:r>
            <a:r>
              <a:rPr lang="fr-FR" sz="1800" b="1" i="0" u="none" strike="noStrike" cap="none" baseline="0" dirty="0">
                <a:solidFill>
                  <a:schemeClr val="bg1"/>
                </a:solidFill>
                <a:latin typeface="Yu Gothic" panose="020B0400000000000000" pitchFamily="34" charset="-128"/>
                <a:ea typeface="Yu Gothic" panose="020B0400000000000000" pitchFamily="34" charset="-128"/>
                <a:cs typeface="Calibri" panose="020F0502020204030204" pitchFamily="34" charset="0"/>
              </a:rPr>
              <a:t>rojet</a:t>
            </a:r>
            <a:r>
              <a:rPr lang="fr-FR" sz="1800" b="1" i="0" u="none" strike="noStrike" baseline="0" dirty="0">
                <a:solidFill>
                  <a:schemeClr val="bg1"/>
                </a:solidFill>
                <a:latin typeface="Yu Gothic" panose="020B0400000000000000" pitchFamily="34" charset="-128"/>
                <a:ea typeface="Yu Gothic" panose="020B0400000000000000" pitchFamily="34" charset="-128"/>
                <a:cs typeface="Calibri" panose="020F0502020204030204" pitchFamily="34" charset="0"/>
              </a:rPr>
              <a:t> </a:t>
            </a:r>
            <a:r>
              <a:rPr lang="fr-FR" sz="1800" b="1" dirty="0">
                <a:solidFill>
                  <a:schemeClr val="bg1"/>
                </a:solidFill>
                <a:latin typeface="Yu Gothic" panose="020B0400000000000000" pitchFamily="34" charset="-128"/>
                <a:ea typeface="Yu Gothic" panose="020B0400000000000000" pitchFamily="34" charset="-128"/>
                <a:cs typeface="Calibri" panose="020F0502020204030204" pitchFamily="34" charset="0"/>
              </a:rPr>
              <a:t>7</a:t>
            </a:r>
            <a:endParaRPr lang="fr-FR" sz="1800" dirty="0">
              <a:solidFill>
                <a:schemeClr val="bg1"/>
              </a:solidFill>
              <a:latin typeface="Yu Gothic" panose="020B0400000000000000" pitchFamily="34" charset="-128"/>
              <a:ea typeface="Yu Gothic" panose="020B0400000000000000" pitchFamily="34" charset="-128"/>
              <a:cs typeface="Calibri" panose="020F0502020204030204" pitchFamily="34" charset="0"/>
            </a:endParaRPr>
          </a:p>
          <a:p>
            <a:endParaRPr lang="fr-FR" dirty="0"/>
          </a:p>
        </p:txBody>
      </p:sp>
      <p:pic>
        <p:nvPicPr>
          <p:cNvPr id="4" name="Image 3">
            <a:extLst>
              <a:ext uri="{FF2B5EF4-FFF2-40B4-BE49-F238E27FC236}">
                <a16:creationId xmlns:a16="http://schemas.microsoft.com/office/drawing/2014/main" id="{F83C0D60-EE4C-5CDE-45B6-FFDC787DA3E7}"/>
              </a:ext>
            </a:extLst>
          </p:cNvPr>
          <p:cNvPicPr>
            <a:picLocks noChangeAspect="1"/>
          </p:cNvPicPr>
          <p:nvPr/>
        </p:nvPicPr>
        <p:blipFill>
          <a:blip r:embed="rId2"/>
          <a:stretch>
            <a:fillRect/>
          </a:stretch>
        </p:blipFill>
        <p:spPr>
          <a:xfrm>
            <a:off x="9473783" y="5643796"/>
            <a:ext cx="2251991" cy="736538"/>
          </a:xfrm>
          <a:prstGeom prst="rect">
            <a:avLst/>
          </a:prstGeom>
        </p:spPr>
      </p:pic>
      <p:pic>
        <p:nvPicPr>
          <p:cNvPr id="7" name="Image 6">
            <a:extLst>
              <a:ext uri="{FF2B5EF4-FFF2-40B4-BE49-F238E27FC236}">
                <a16:creationId xmlns:a16="http://schemas.microsoft.com/office/drawing/2014/main" id="{2978884D-2D1C-71E3-0F87-A7F55E2377E6}"/>
              </a:ext>
            </a:extLst>
          </p:cNvPr>
          <p:cNvPicPr>
            <a:picLocks noChangeAspect="1"/>
          </p:cNvPicPr>
          <p:nvPr/>
        </p:nvPicPr>
        <p:blipFill>
          <a:blip r:embed="rId3"/>
          <a:stretch>
            <a:fillRect/>
          </a:stretch>
        </p:blipFill>
        <p:spPr>
          <a:xfrm>
            <a:off x="3651463" y="2559093"/>
            <a:ext cx="4989310" cy="2620008"/>
          </a:xfrm>
          <a:prstGeom prst="rect">
            <a:avLst/>
          </a:prstGeom>
        </p:spPr>
      </p:pic>
    </p:spTree>
    <p:extLst>
      <p:ext uri="{BB962C8B-B14F-4D97-AF65-F5344CB8AC3E}">
        <p14:creationId xmlns:p14="http://schemas.microsoft.com/office/powerpoint/2010/main" val="3276170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1603A7-285F-4CA0-ADCC-CD705BE0FD6D}"/>
              </a:ext>
            </a:extLst>
          </p:cNvPr>
          <p:cNvSpPr>
            <a:spLocks noGrp="1"/>
          </p:cNvSpPr>
          <p:nvPr>
            <p:ph type="title"/>
          </p:nvPr>
        </p:nvSpPr>
        <p:spPr>
          <a:xfrm>
            <a:off x="0" y="0"/>
            <a:ext cx="12192000" cy="1004341"/>
          </a:xfrm>
          <a:solidFill>
            <a:schemeClr val="tx2"/>
          </a:solidFill>
        </p:spPr>
        <p:txBody>
          <a:bodyPr/>
          <a:lstStyle/>
          <a:p>
            <a:r>
              <a:rPr lang="fr-FR" sz="3600" b="1" dirty="0">
                <a:solidFill>
                  <a:schemeClr val="accent4"/>
                </a:solidFill>
                <a:latin typeface="Arial" panose="020B0604020202020204" pitchFamily="34" charset="0"/>
                <a:cs typeface="Arial" panose="020B0604020202020204" pitchFamily="34" charset="0"/>
              </a:rPr>
              <a:t>	</a:t>
            </a:r>
            <a:r>
              <a:rPr lang="fr-FR" sz="3600" b="1" dirty="0">
                <a:solidFill>
                  <a:schemeClr val="accent4"/>
                </a:solidFill>
                <a:latin typeface="Yu Gothic" panose="020B0400000000000000" pitchFamily="34" charset="-128"/>
                <a:ea typeface="Yu Gothic" panose="020B0400000000000000" pitchFamily="34" charset="-128"/>
                <a:cs typeface="Calibri" panose="020F0502020204030204" pitchFamily="34" charset="0"/>
              </a:rPr>
              <a:t>Problématique</a:t>
            </a:r>
            <a:endParaRPr lang="fr-FR" dirty="0">
              <a:solidFill>
                <a:schemeClr val="accent4"/>
              </a:solidFill>
              <a:latin typeface="Yu Gothic" panose="020B0400000000000000" pitchFamily="34" charset="-128"/>
              <a:ea typeface="Yu Gothic" panose="020B0400000000000000" pitchFamily="34" charset="-128"/>
              <a:cs typeface="Calibri" panose="020F0502020204030204" pitchFamily="34" charset="0"/>
            </a:endParaRPr>
          </a:p>
        </p:txBody>
      </p:sp>
      <p:sp>
        <p:nvSpPr>
          <p:cNvPr id="3" name="Espace réservé du contenu 2">
            <a:extLst>
              <a:ext uri="{FF2B5EF4-FFF2-40B4-BE49-F238E27FC236}">
                <a16:creationId xmlns:a16="http://schemas.microsoft.com/office/drawing/2014/main" id="{B81807B2-39F1-8FBF-538D-2C1414F65649}"/>
              </a:ext>
            </a:extLst>
          </p:cNvPr>
          <p:cNvSpPr>
            <a:spLocks noGrp="1"/>
          </p:cNvSpPr>
          <p:nvPr>
            <p:ph idx="1"/>
          </p:nvPr>
        </p:nvSpPr>
        <p:spPr>
          <a:xfrm>
            <a:off x="0" y="1004341"/>
            <a:ext cx="12192000" cy="5853659"/>
          </a:xfrm>
          <a:solidFill>
            <a:schemeClr val="bg1"/>
          </a:solidFill>
        </p:spPr>
        <p:txBody>
          <a:bodyPr/>
          <a:lstStyle/>
          <a:p>
            <a:pPr marL="0" indent="0">
              <a:buNone/>
            </a:pPr>
            <a:endParaRPr lang="fr-FR" dirty="0"/>
          </a:p>
          <a:p>
            <a:pPr marL="0" indent="0">
              <a:buClrTx/>
              <a:buSzPct val="100000"/>
              <a:buNone/>
            </a:pPr>
            <a:r>
              <a:rPr lang="fr-FR" sz="2800" b="1" dirty="0">
                <a:solidFill>
                  <a:schemeClr val="accent4"/>
                </a:solidFill>
                <a:latin typeface="Calibri" panose="020F0502020204030204" pitchFamily="34" charset="0"/>
                <a:ea typeface="Calibri" panose="020F0502020204030204" pitchFamily="34" charset="0"/>
                <a:cs typeface="Calibri" panose="020F0502020204030204" pitchFamily="34" charset="0"/>
              </a:rPr>
              <a:t>	</a:t>
            </a:r>
            <a:r>
              <a:rPr lang="fr-FR" sz="2800" b="1" dirty="0">
                <a:solidFill>
                  <a:schemeClr val="accent4"/>
                </a:solidFill>
                <a:latin typeface="Yu Gothic" panose="020B0400000000000000" pitchFamily="34" charset="-128"/>
                <a:ea typeface="Yu Gothic" panose="020B0400000000000000" pitchFamily="34" charset="-128"/>
                <a:cs typeface="Calibri" panose="020F0502020204030204" pitchFamily="34" charset="0"/>
              </a:rPr>
              <a:t>Contexte </a:t>
            </a:r>
            <a:endParaRPr lang="fr-FR" sz="2800" b="0" i="0" u="none" strike="noStrike" baseline="0" dirty="0">
              <a:solidFill>
                <a:srgbClr val="000000"/>
              </a:solidFill>
              <a:latin typeface="Arial" panose="020B0604020202020204" pitchFamily="34" charset="0"/>
              <a:cs typeface="Arial" panose="020B0604020202020204" pitchFamily="34" charset="0"/>
            </a:endParaRPr>
          </a:p>
          <a:p>
            <a:pPr marL="0" indent="0">
              <a:buClrTx/>
              <a:buSzPct val="100000"/>
              <a:buNone/>
            </a:pPr>
            <a:r>
              <a:rPr kumimoji="0" lang="fr-FR" sz="2000" kern="1200" cap="none" spc="0" normalizeH="0" noProof="0" dirty="0">
                <a:ln>
                  <a:noFill/>
                </a:ln>
                <a:solidFill>
                  <a:srgbClr val="000000"/>
                </a:solidFill>
                <a:effectLst/>
                <a:uLnTx/>
                <a:uFillTx/>
                <a:latin typeface="Yu Gothic" panose="020B0400000000000000" pitchFamily="34" charset="-128"/>
                <a:ea typeface="Yu Gothic" panose="020B0400000000000000" pitchFamily="34" charset="-128"/>
                <a:cs typeface="Calibri" panose="020F0502020204030204" pitchFamily="34" charset="0"/>
              </a:rPr>
              <a:t>	</a:t>
            </a:r>
            <a:r>
              <a:rPr kumimoji="0" lang="fr-FR" sz="20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rPr>
              <a:t>❑  </a:t>
            </a:r>
            <a:r>
              <a:rPr lang="fr-FR" sz="20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Je suis Data </a:t>
            </a:r>
            <a:r>
              <a:rPr lang="fr-FR" sz="2000" b="0" i="0" u="none" strike="noStrike" baseline="0" dirty="0" err="1">
                <a:solidFill>
                  <a:srgbClr val="000000"/>
                </a:solidFill>
                <a:latin typeface="Yu Gothic" panose="020B0400000000000000" pitchFamily="34" charset="-128"/>
                <a:ea typeface="Yu Gothic" panose="020B0400000000000000" pitchFamily="34" charset="-128"/>
                <a:cs typeface="Calibri" panose="020F0502020204030204" pitchFamily="34" charset="0"/>
              </a:rPr>
              <a:t>Scientist</a:t>
            </a:r>
            <a:r>
              <a:rPr lang="fr-FR" sz="20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au sein d'une société financière, nommée "Prêt à dépenser", qui propose des crédits à la consommation pour des personnes ayant peu ou pas du tout d'historique de prêt, et qui cherche à développer un outil de </a:t>
            </a:r>
            <a:r>
              <a:rPr lang="fr-FR" sz="2000" b="0" i="0" u="none" strike="noStrike" baseline="0" dirty="0" err="1">
                <a:solidFill>
                  <a:srgbClr val="000000"/>
                </a:solidFill>
                <a:latin typeface="Yu Gothic" panose="020B0400000000000000" pitchFamily="34" charset="-128"/>
                <a:ea typeface="Yu Gothic" panose="020B0400000000000000" pitchFamily="34" charset="-128"/>
                <a:cs typeface="Calibri" panose="020F0502020204030204" pitchFamily="34" charset="0"/>
              </a:rPr>
              <a:t>scoring</a:t>
            </a:r>
            <a:r>
              <a:rPr lang="fr-FR" sz="2000" dirty="0">
                <a:solidFill>
                  <a:srgbClr val="000000"/>
                </a:solidFill>
                <a:latin typeface="Yu Gothic" panose="020B0400000000000000" pitchFamily="34" charset="-128"/>
                <a:ea typeface="Yu Gothic" panose="020B0400000000000000" pitchFamily="34" charset="-128"/>
                <a:cs typeface="Calibri" panose="020F0502020204030204" pitchFamily="34" charset="0"/>
              </a:rPr>
              <a:t>, </a:t>
            </a:r>
            <a:r>
              <a:rPr lang="fr-FR" sz="20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pour prédire la probabilité qu’un client rembourse son crédit, puis classifie la demande en crédit accordé ou refusé. </a:t>
            </a:r>
          </a:p>
          <a:p>
            <a:pPr marL="0" indent="0">
              <a:buClrTx/>
              <a:buSzPct val="100000"/>
              <a:buNone/>
            </a:pPr>
            <a:r>
              <a:rPr lang="fr-FR" sz="20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L’entreprise souhaite garantir la transparence du processus de </a:t>
            </a:r>
            <a:r>
              <a:rPr lang="fr-FR" sz="2000" b="0" i="0" u="none" strike="noStrike" baseline="0" dirty="0" err="1">
                <a:solidFill>
                  <a:srgbClr val="000000"/>
                </a:solidFill>
                <a:latin typeface="Yu Gothic" panose="020B0400000000000000" pitchFamily="34" charset="-128"/>
                <a:ea typeface="Yu Gothic" panose="020B0400000000000000" pitchFamily="34" charset="-128"/>
                <a:cs typeface="Calibri" panose="020F0502020204030204" pitchFamily="34" charset="0"/>
              </a:rPr>
              <a:t>scoring</a:t>
            </a:r>
            <a:r>
              <a:rPr lang="fr-FR" sz="20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afin que les clients puissent comprendre les critères utilisés pour évaluer leur solvabilité.</a:t>
            </a:r>
          </a:p>
          <a:p>
            <a:pPr marL="0" indent="0">
              <a:buClrTx/>
              <a:buSzPct val="100000"/>
              <a:buNone/>
            </a:pPr>
            <a:endParaRPr lang="fr-FR" sz="20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ClrTx/>
              <a:buSzPct val="100000"/>
              <a:buNone/>
            </a:pPr>
            <a:r>
              <a:rPr lang="fr-FR" sz="2000" b="1"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a:t>
            </a:r>
            <a:r>
              <a:rPr kumimoji="0" lang="fr-FR" sz="20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rPr>
              <a:t>❑ </a:t>
            </a:r>
            <a:r>
              <a:rPr lang="fr-FR" sz="2000" b="1"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But : </a:t>
            </a:r>
            <a:r>
              <a:rPr lang="fr-FR" sz="20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Développer et mettre en place un outil de </a:t>
            </a:r>
            <a:r>
              <a:rPr lang="fr-FR" sz="2000" b="0" i="0" u="none" strike="noStrike" baseline="0" dirty="0" err="1">
                <a:solidFill>
                  <a:srgbClr val="000000"/>
                </a:solidFill>
                <a:latin typeface="Yu Gothic" panose="020B0400000000000000" pitchFamily="34" charset="-128"/>
                <a:ea typeface="Yu Gothic" panose="020B0400000000000000" pitchFamily="34" charset="-128"/>
                <a:cs typeface="Calibri" panose="020F0502020204030204" pitchFamily="34" charset="0"/>
              </a:rPr>
              <a:t>scoring</a:t>
            </a:r>
            <a:r>
              <a:rPr lang="fr-FR" sz="20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crédit transparent qui évalue la probabilité de remboursement des prêts, en tenant compte des clients ayant peu ou pas d'historique de crédit.</a:t>
            </a:r>
          </a:p>
        </p:txBody>
      </p:sp>
      <p:sp>
        <p:nvSpPr>
          <p:cNvPr id="7" name="Espace réservé du pied de page 6">
            <a:extLst>
              <a:ext uri="{FF2B5EF4-FFF2-40B4-BE49-F238E27FC236}">
                <a16:creationId xmlns:a16="http://schemas.microsoft.com/office/drawing/2014/main" id="{2B5266CB-1534-3E23-79DD-244952D94660}"/>
              </a:ext>
            </a:extLst>
          </p:cNvPr>
          <p:cNvSpPr>
            <a:spLocks noGrp="1"/>
          </p:cNvSpPr>
          <p:nvPr>
            <p:ph type="ftr" sz="quarter" idx="11"/>
          </p:nvPr>
        </p:nvSpPr>
        <p:spPr>
          <a:xfrm>
            <a:off x="11452484" y="6288374"/>
            <a:ext cx="644577" cy="414178"/>
          </a:xfrm>
        </p:spPr>
        <p:txBody>
          <a:bodyPr/>
          <a:lstStyle/>
          <a:p>
            <a:r>
              <a:rPr lang="en-US" sz="2000" dirty="0"/>
              <a:t>1</a:t>
            </a:r>
          </a:p>
        </p:txBody>
      </p:sp>
    </p:spTree>
    <p:extLst>
      <p:ext uri="{BB962C8B-B14F-4D97-AF65-F5344CB8AC3E}">
        <p14:creationId xmlns:p14="http://schemas.microsoft.com/office/powerpoint/2010/main" val="1473108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8D546C-4342-F550-01EA-219A0D3ABD9B}"/>
              </a:ext>
            </a:extLst>
          </p:cNvPr>
          <p:cNvSpPr>
            <a:spLocks noGrp="1"/>
          </p:cNvSpPr>
          <p:nvPr>
            <p:ph type="title"/>
          </p:nvPr>
        </p:nvSpPr>
        <p:spPr>
          <a:xfrm>
            <a:off x="0" y="1"/>
            <a:ext cx="12192000" cy="996846"/>
          </a:xfrm>
          <a:solidFill>
            <a:schemeClr val="tx2"/>
          </a:solidFill>
        </p:spPr>
        <p:txBody>
          <a:bodyPr/>
          <a:lstStyle/>
          <a:p>
            <a:r>
              <a:rPr lang="fr-FR" dirty="0"/>
              <a:t>	</a:t>
            </a:r>
            <a:r>
              <a:rPr lang="fr-FR" b="1" dirty="0">
                <a:solidFill>
                  <a:schemeClr val="accent4"/>
                </a:solidFill>
                <a:latin typeface="Yu Gothic" panose="020B0400000000000000" pitchFamily="34" charset="-128"/>
                <a:ea typeface="Yu Gothic" panose="020B0400000000000000" pitchFamily="34" charset="-128"/>
                <a:cs typeface="Calibri" panose="020F0502020204030204" pitchFamily="34" charset="0"/>
              </a:rPr>
              <a:t>Objectifs</a:t>
            </a:r>
          </a:p>
        </p:txBody>
      </p:sp>
      <p:sp>
        <p:nvSpPr>
          <p:cNvPr id="3" name="Espace réservé du contenu 2">
            <a:extLst>
              <a:ext uri="{FF2B5EF4-FFF2-40B4-BE49-F238E27FC236}">
                <a16:creationId xmlns:a16="http://schemas.microsoft.com/office/drawing/2014/main" id="{78977E39-853A-463A-7317-68E0209EB266}"/>
              </a:ext>
            </a:extLst>
          </p:cNvPr>
          <p:cNvSpPr>
            <a:spLocks noGrp="1"/>
          </p:cNvSpPr>
          <p:nvPr>
            <p:ph idx="1"/>
          </p:nvPr>
        </p:nvSpPr>
        <p:spPr>
          <a:xfrm>
            <a:off x="0" y="996848"/>
            <a:ext cx="12192000" cy="5861152"/>
          </a:xfrm>
          <a:solidFill>
            <a:schemeClr val="bg1"/>
          </a:solidFill>
        </p:spPr>
        <p:txBody>
          <a:bodyPr>
            <a:normAutofit/>
          </a:bodyPr>
          <a:lstStyle/>
          <a:p>
            <a:endParaRPr lang="fr-FR" sz="1800" b="1" i="0" u="none" strike="noStrike" baseline="0" dirty="0">
              <a:solidFill>
                <a:srgbClr val="000000"/>
              </a:solidFill>
              <a:latin typeface="Times New Roman" panose="02020603050405020304" pitchFamily="18" charset="0"/>
            </a:endParaRPr>
          </a:p>
          <a:p>
            <a:pPr marL="0" indent="0">
              <a:buNone/>
            </a:pPr>
            <a:endParaRPr lang="fr-FR" sz="20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ClrTx/>
              <a:buSzPct val="100000"/>
              <a:buNone/>
            </a:pPr>
            <a:r>
              <a:rPr lang="fr-FR" sz="20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a:t>
            </a:r>
            <a:r>
              <a:rPr kumimoji="0" lang="fr-FR" sz="20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rPr>
              <a:t>❑ </a:t>
            </a:r>
            <a:r>
              <a:rPr lang="fr-FR" sz="20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Construire un modèle de </a:t>
            </a:r>
            <a:r>
              <a:rPr lang="fr-FR" sz="2000" b="0" i="0" u="none" strike="noStrike" baseline="0" dirty="0" err="1">
                <a:solidFill>
                  <a:srgbClr val="000000"/>
                </a:solidFill>
                <a:latin typeface="Yu Gothic" panose="020B0400000000000000" pitchFamily="34" charset="-128"/>
                <a:ea typeface="Yu Gothic" panose="020B0400000000000000" pitchFamily="34" charset="-128"/>
                <a:cs typeface="Calibri" panose="020F0502020204030204" pitchFamily="34" charset="0"/>
              </a:rPr>
              <a:t>scoring</a:t>
            </a:r>
            <a:r>
              <a:rPr lang="fr-FR" sz="20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pour prédire automatiquement la probabilité de faillite d'un client. </a:t>
            </a:r>
          </a:p>
          <a:p>
            <a:pPr marL="0" indent="0">
              <a:buClrTx/>
              <a:buSzPct val="100000"/>
              <a:buNone/>
            </a:pPr>
            <a:r>
              <a:rPr kumimoji="0" lang="fr-FR" sz="20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rPr>
              <a:t>	❑ Prendre en compte le déséquilibre des classes et le coût métier lié aux erreurs de prédiction (faux négatifs plus coûteux que les faux positifs) et définir un seuil de décision optimisé du point de vue métier.</a:t>
            </a:r>
            <a:endParaRPr lang="fr-FR" sz="2000" dirty="0">
              <a:solidFill>
                <a:prstClr val="black">
                  <a:lumMod val="75000"/>
                  <a:lumOff val="25000"/>
                </a:prstClr>
              </a:solidFill>
              <a:latin typeface="Yu Gothic" panose="020B0400000000000000" pitchFamily="34" charset="-128"/>
              <a:ea typeface="Yu Gothic" panose="020B0400000000000000" pitchFamily="34" charset="-128"/>
              <a:cs typeface="Calibri" panose="020F0502020204030204" pitchFamily="34" charset="0"/>
            </a:endParaRPr>
          </a:p>
          <a:p>
            <a:pPr marL="0" indent="0">
              <a:buClrTx/>
              <a:buSzPct val="100000"/>
              <a:buNone/>
            </a:pPr>
            <a:r>
              <a:rPr kumimoji="0" lang="fr-FR" sz="20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rPr>
              <a:t>	❑ </a:t>
            </a:r>
            <a:r>
              <a:rPr lang="fr-FR" sz="20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Analyser les </a:t>
            </a:r>
            <a:r>
              <a:rPr lang="fr-FR" sz="2000" b="0" i="0" u="none" strike="noStrike" baseline="0" dirty="0" err="1">
                <a:solidFill>
                  <a:srgbClr val="000000"/>
                </a:solidFill>
                <a:latin typeface="Yu Gothic" panose="020B0400000000000000" pitchFamily="34" charset="-128"/>
                <a:ea typeface="Yu Gothic" panose="020B0400000000000000" pitchFamily="34" charset="-128"/>
                <a:cs typeface="Calibri" panose="020F0502020204030204" pitchFamily="34" charset="0"/>
              </a:rPr>
              <a:t>features</a:t>
            </a:r>
            <a:r>
              <a:rPr lang="fr-FR" sz="20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les plus contributives, tant au niveau global que local, pour garantir la transparence du score.</a:t>
            </a:r>
          </a:p>
          <a:p>
            <a:pPr marL="0" indent="0">
              <a:buClrTx/>
              <a:buSzPct val="100000"/>
              <a:buNone/>
            </a:pPr>
            <a:r>
              <a:rPr kumimoji="0" lang="fr-FR" sz="20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rPr>
              <a:t>	❑ </a:t>
            </a:r>
            <a:r>
              <a:rPr lang="fr-FR" sz="2000" dirty="0">
                <a:latin typeface="Yu Gothic" panose="020B0400000000000000" pitchFamily="34" charset="-128"/>
                <a:ea typeface="Yu Gothic" panose="020B0400000000000000" pitchFamily="34" charset="-128"/>
              </a:rPr>
              <a:t>Mettre en production le modèle via une API, incluant le suivi des expérimentations et l'analyse du data drift en production.</a:t>
            </a:r>
            <a:endParaRPr kumimoji="0" lang="fr-FR" sz="20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cs typeface="+mn-cs"/>
            </a:endParaRPr>
          </a:p>
          <a:p>
            <a:pPr marL="0" marR="0" lvl="0" indent="0" algn="l" defTabSz="457200" rtl="0" eaLnBrk="1" fontAlgn="auto" latinLnBrk="0" hangingPunct="1">
              <a:lnSpc>
                <a:spcPct val="100000"/>
              </a:lnSpc>
              <a:spcBef>
                <a:spcPts val="1000"/>
              </a:spcBef>
              <a:spcAft>
                <a:spcPts val="0"/>
              </a:spcAft>
              <a:buClrTx/>
              <a:buSzPct val="100000"/>
              <a:buFont typeface="Wingdings 3" charset="2"/>
              <a:buNone/>
              <a:tabLst/>
              <a:defRPr/>
            </a:pPr>
            <a:r>
              <a:rPr lang="fr-FR" sz="2000" dirty="0">
                <a:solidFill>
                  <a:prstClr val="black">
                    <a:lumMod val="75000"/>
                    <a:lumOff val="25000"/>
                  </a:prstClr>
                </a:solidFill>
                <a:latin typeface="Yu Gothic" panose="020B0400000000000000" pitchFamily="34" charset="-128"/>
                <a:ea typeface="Yu Gothic" panose="020B0400000000000000" pitchFamily="34" charset="-128"/>
              </a:rPr>
              <a:t>	</a:t>
            </a:r>
            <a:r>
              <a:rPr kumimoji="0" lang="fr-FR" sz="20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cs typeface="+mn-cs"/>
              </a:rPr>
              <a:t>❑ Réaliser un </a:t>
            </a:r>
            <a:r>
              <a:rPr kumimoji="0" lang="fr-FR" sz="2000" b="0" i="0" u="none" strike="noStrike" kern="1200" cap="none" spc="0" normalizeH="0" baseline="0" noProof="0" dirty="0" err="1">
                <a:ln>
                  <a:noFill/>
                </a:ln>
                <a:solidFill>
                  <a:prstClr val="black">
                    <a:lumMod val="75000"/>
                    <a:lumOff val="25000"/>
                  </a:prstClr>
                </a:solidFill>
                <a:effectLst/>
                <a:uLnTx/>
                <a:uFillTx/>
                <a:latin typeface="Yu Gothic" panose="020B0400000000000000" pitchFamily="34" charset="-128"/>
                <a:ea typeface="Yu Gothic" panose="020B0400000000000000" pitchFamily="34" charset="-128"/>
                <a:cs typeface="+mn-cs"/>
              </a:rPr>
              <a:t>dashboard</a:t>
            </a:r>
            <a:r>
              <a:rPr kumimoji="0" lang="fr-FR" sz="20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cs typeface="+mn-cs"/>
              </a:rPr>
              <a:t> interactif à destination des chargés de relation client.</a:t>
            </a:r>
          </a:p>
          <a:p>
            <a:pPr>
              <a:buClrTx/>
              <a:buSzPct val="100000"/>
              <a:buFont typeface="Arial" panose="020B0604020202020204" pitchFamily="34" charset="0"/>
              <a:buChar char="•"/>
            </a:pPr>
            <a:endParaRPr lang="fr-FR" sz="20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fr-FR" dirty="0"/>
          </a:p>
        </p:txBody>
      </p:sp>
      <p:sp>
        <p:nvSpPr>
          <p:cNvPr id="4" name="Espace réservé du pied de page 3">
            <a:extLst>
              <a:ext uri="{FF2B5EF4-FFF2-40B4-BE49-F238E27FC236}">
                <a16:creationId xmlns:a16="http://schemas.microsoft.com/office/drawing/2014/main" id="{0DA7885E-47FA-9D35-7925-1C91F9B593A9}"/>
              </a:ext>
            </a:extLst>
          </p:cNvPr>
          <p:cNvSpPr>
            <a:spLocks noGrp="1"/>
          </p:cNvSpPr>
          <p:nvPr>
            <p:ph type="ftr" sz="quarter" idx="11"/>
          </p:nvPr>
        </p:nvSpPr>
        <p:spPr>
          <a:xfrm>
            <a:off x="11534931" y="6303364"/>
            <a:ext cx="573224" cy="466644"/>
          </a:xfrm>
        </p:spPr>
        <p:txBody>
          <a:bodyPr/>
          <a:lstStyle/>
          <a:p>
            <a:r>
              <a:rPr lang="en-US" sz="2000" dirty="0"/>
              <a:t>2</a:t>
            </a:r>
          </a:p>
        </p:txBody>
      </p:sp>
    </p:spTree>
    <p:extLst>
      <p:ext uri="{BB962C8B-B14F-4D97-AF65-F5344CB8AC3E}">
        <p14:creationId xmlns:p14="http://schemas.microsoft.com/office/powerpoint/2010/main" val="399924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4F8E1C-4DE4-5236-CADB-D34059CDD703}"/>
              </a:ext>
            </a:extLst>
          </p:cNvPr>
          <p:cNvSpPr>
            <a:spLocks noGrp="1"/>
          </p:cNvSpPr>
          <p:nvPr>
            <p:ph type="title"/>
          </p:nvPr>
        </p:nvSpPr>
        <p:spPr>
          <a:xfrm>
            <a:off x="0" y="1"/>
            <a:ext cx="12192000" cy="974360"/>
          </a:xfrm>
          <a:solidFill>
            <a:schemeClr val="tx2"/>
          </a:solidFill>
        </p:spPr>
        <p:txBody>
          <a:bodyPr/>
          <a:lstStyle/>
          <a:p>
            <a:r>
              <a:rPr lang="fr-FR" sz="4000" b="1" dirty="0">
                <a:solidFill>
                  <a:schemeClr val="accent4"/>
                </a:solidFill>
                <a:latin typeface="Arial" panose="020B0604020202020204" pitchFamily="34" charset="0"/>
                <a:cs typeface="Arial" panose="020B0604020202020204" pitchFamily="34" charset="0"/>
              </a:rPr>
              <a:t>	</a:t>
            </a:r>
            <a:r>
              <a:rPr lang="fr-FR" sz="4000" b="1" dirty="0">
                <a:solidFill>
                  <a:schemeClr val="accent4"/>
                </a:solidFill>
                <a:latin typeface="Yu Gothic" panose="020B0400000000000000" pitchFamily="34" charset="-128"/>
                <a:ea typeface="Yu Gothic" panose="020B0400000000000000" pitchFamily="34" charset="-128"/>
                <a:cs typeface="Arial" panose="020B0604020202020204" pitchFamily="34" charset="0"/>
              </a:rPr>
              <a:t>Sommaire</a:t>
            </a:r>
          </a:p>
        </p:txBody>
      </p:sp>
      <p:sp>
        <p:nvSpPr>
          <p:cNvPr id="3" name="Espace réservé du contenu 2">
            <a:extLst>
              <a:ext uri="{FF2B5EF4-FFF2-40B4-BE49-F238E27FC236}">
                <a16:creationId xmlns:a16="http://schemas.microsoft.com/office/drawing/2014/main" id="{630D8A60-3CA3-661F-98A0-D69959831E39}"/>
              </a:ext>
            </a:extLst>
          </p:cNvPr>
          <p:cNvSpPr>
            <a:spLocks noGrp="1"/>
          </p:cNvSpPr>
          <p:nvPr>
            <p:ph idx="1"/>
          </p:nvPr>
        </p:nvSpPr>
        <p:spPr>
          <a:xfrm>
            <a:off x="0" y="974361"/>
            <a:ext cx="12192000" cy="5883638"/>
          </a:xfrm>
          <a:solidFill>
            <a:schemeClr val="bg1"/>
          </a:solidFill>
        </p:spPr>
        <p:txBody>
          <a:bodyPr/>
          <a:lstStyle/>
          <a:p>
            <a:endParaRPr lang="fr-FR" dirty="0"/>
          </a:p>
          <a:p>
            <a:pPr marL="0" indent="0" algn="l">
              <a:buNone/>
            </a:pPr>
            <a:endParaRPr lang="fr-FR" sz="1800" b="0" i="0" u="none" strike="noStrike" baseline="0" dirty="0">
              <a:solidFill>
                <a:srgbClr val="000000"/>
              </a:solidFill>
              <a:latin typeface="Gill Sans MT" panose="020B0502020104020203" pitchFamily="34" charset="0"/>
            </a:endParaRPr>
          </a:p>
          <a:p>
            <a:pPr marL="0" indent="0">
              <a:buNone/>
            </a:pPr>
            <a:r>
              <a:rPr lang="fr-FR" sz="1800" b="0" i="0" u="none" strike="noStrike" baseline="0" dirty="0">
                <a:solidFill>
                  <a:srgbClr val="000000"/>
                </a:solidFill>
                <a:latin typeface="Gill Sans MT" panose="020B0502020104020203" pitchFamily="34" charset="0"/>
              </a:rPr>
              <a:t>	</a:t>
            </a:r>
            <a:r>
              <a:rPr lang="fr-FR" sz="2400" b="1" i="0" u="none" strike="noStrike" baseline="0" dirty="0">
                <a:solidFill>
                  <a:schemeClr val="accent4"/>
                </a:solidFill>
                <a:latin typeface="Yu Gothic" panose="020B0400000000000000" pitchFamily="34" charset="-128"/>
                <a:ea typeface="Yu Gothic" panose="020B0400000000000000" pitchFamily="34" charset="-128"/>
                <a:cs typeface="Arial" panose="020B0604020202020204" pitchFamily="34" charset="0"/>
              </a:rPr>
              <a:t>1. </a:t>
            </a:r>
            <a:r>
              <a:rPr lang="fr-FR" sz="2400" b="1" i="0" u="none" strike="noStrike" baseline="0" dirty="0">
                <a:solidFill>
                  <a:srgbClr val="000000"/>
                </a:solidFill>
                <a:latin typeface="Yu Gothic" panose="020B0400000000000000" pitchFamily="34" charset="-128"/>
                <a:ea typeface="Yu Gothic" panose="020B0400000000000000" pitchFamily="34" charset="-128"/>
                <a:cs typeface="Arial" panose="020B0604020202020204" pitchFamily="34" charset="0"/>
              </a:rPr>
              <a:t>Découverte des données</a:t>
            </a:r>
          </a:p>
          <a:p>
            <a:pPr marL="0" indent="0">
              <a:buNone/>
            </a:pPr>
            <a:endParaRPr lang="fr-FR" sz="2400" b="1" i="0" u="none" strike="noStrike" baseline="0" dirty="0">
              <a:solidFill>
                <a:srgbClr val="000000"/>
              </a:solidFill>
              <a:latin typeface="Yu Gothic" panose="020B0400000000000000" pitchFamily="34" charset="-128"/>
              <a:ea typeface="Yu Gothic" panose="020B0400000000000000" pitchFamily="34" charset="-128"/>
              <a:cs typeface="Arial" panose="020B0604020202020204" pitchFamily="34" charset="0"/>
            </a:endParaRPr>
          </a:p>
          <a:p>
            <a:pPr marL="0" indent="0">
              <a:buNone/>
            </a:pPr>
            <a:r>
              <a:rPr lang="fr-FR" sz="2400" b="1" i="0" u="none" strike="noStrike" baseline="0" dirty="0">
                <a:solidFill>
                  <a:srgbClr val="000000"/>
                </a:solidFill>
                <a:latin typeface="Yu Gothic" panose="020B0400000000000000" pitchFamily="34" charset="-128"/>
                <a:ea typeface="Yu Gothic" panose="020B0400000000000000" pitchFamily="34" charset="-128"/>
                <a:cs typeface="Arial" panose="020B0604020202020204" pitchFamily="34" charset="0"/>
              </a:rPr>
              <a:t>	</a:t>
            </a:r>
            <a:r>
              <a:rPr lang="fr-FR" sz="2400" b="1" i="0" u="none" strike="noStrike" baseline="0" dirty="0">
                <a:solidFill>
                  <a:schemeClr val="accent4"/>
                </a:solidFill>
                <a:latin typeface="Yu Gothic" panose="020B0400000000000000" pitchFamily="34" charset="-128"/>
                <a:ea typeface="Yu Gothic" panose="020B0400000000000000" pitchFamily="34" charset="-128"/>
                <a:cs typeface="Arial" panose="020B0604020202020204" pitchFamily="34" charset="0"/>
              </a:rPr>
              <a:t>2. </a:t>
            </a:r>
            <a:r>
              <a:rPr lang="fr-FR" sz="2400" b="1" i="0" u="none" strike="noStrike" baseline="0" dirty="0">
                <a:solidFill>
                  <a:srgbClr val="000000"/>
                </a:solidFill>
                <a:latin typeface="Yu Gothic" panose="020B0400000000000000" pitchFamily="34" charset="-128"/>
                <a:ea typeface="Yu Gothic" panose="020B0400000000000000" pitchFamily="34" charset="-128"/>
                <a:cs typeface="Arial" panose="020B0604020202020204" pitchFamily="34" charset="0"/>
              </a:rPr>
              <a:t>Préparation des données et </a:t>
            </a:r>
            <a:r>
              <a:rPr lang="fr-FR" sz="2400" b="1" i="0" u="none" strike="noStrike" baseline="0" dirty="0" err="1">
                <a:solidFill>
                  <a:srgbClr val="000000"/>
                </a:solidFill>
                <a:latin typeface="Yu Gothic" panose="020B0400000000000000" pitchFamily="34" charset="-128"/>
                <a:ea typeface="Yu Gothic" panose="020B0400000000000000" pitchFamily="34" charset="-128"/>
                <a:cs typeface="Arial" panose="020B0604020202020204" pitchFamily="34" charset="0"/>
              </a:rPr>
              <a:t>Feature</a:t>
            </a:r>
            <a:r>
              <a:rPr lang="fr-FR" sz="2400" b="1" i="0" u="none" strike="noStrike" baseline="0" dirty="0">
                <a:solidFill>
                  <a:srgbClr val="000000"/>
                </a:solidFill>
                <a:latin typeface="Yu Gothic" panose="020B0400000000000000" pitchFamily="34" charset="-128"/>
                <a:ea typeface="Yu Gothic" panose="020B0400000000000000" pitchFamily="34" charset="-128"/>
                <a:cs typeface="Arial" panose="020B0604020202020204" pitchFamily="34" charset="0"/>
              </a:rPr>
              <a:t> engineering</a:t>
            </a:r>
          </a:p>
          <a:p>
            <a:pPr marL="0" indent="0">
              <a:buNone/>
            </a:pPr>
            <a:endParaRPr lang="fr-FR" sz="2400" b="1" dirty="0">
              <a:solidFill>
                <a:srgbClr val="000000"/>
              </a:solidFill>
              <a:latin typeface="Yu Gothic" panose="020B0400000000000000" pitchFamily="34" charset="-128"/>
              <a:ea typeface="Yu Gothic" panose="020B0400000000000000" pitchFamily="34" charset="-128"/>
              <a:cs typeface="Arial" panose="020B0604020202020204" pitchFamily="34" charset="0"/>
            </a:endParaRPr>
          </a:p>
          <a:p>
            <a:pPr marL="0" indent="0">
              <a:buNone/>
            </a:pPr>
            <a:r>
              <a:rPr lang="fr-FR" sz="2400" b="1" i="0" u="none" strike="noStrike" baseline="0" dirty="0">
                <a:solidFill>
                  <a:srgbClr val="000000"/>
                </a:solidFill>
                <a:latin typeface="Yu Gothic" panose="020B0400000000000000" pitchFamily="34" charset="-128"/>
                <a:ea typeface="Yu Gothic" panose="020B0400000000000000" pitchFamily="34" charset="-128"/>
                <a:cs typeface="Arial" panose="020B0604020202020204" pitchFamily="34" charset="0"/>
              </a:rPr>
              <a:t>	</a:t>
            </a:r>
            <a:r>
              <a:rPr lang="fr-FR" sz="2400" b="1" i="0" u="none" strike="noStrike" baseline="0" dirty="0">
                <a:solidFill>
                  <a:schemeClr val="accent4"/>
                </a:solidFill>
                <a:latin typeface="Yu Gothic" panose="020B0400000000000000" pitchFamily="34" charset="-128"/>
                <a:ea typeface="Yu Gothic" panose="020B0400000000000000" pitchFamily="34" charset="-128"/>
                <a:cs typeface="Arial" panose="020B0604020202020204" pitchFamily="34" charset="0"/>
              </a:rPr>
              <a:t>3. </a:t>
            </a:r>
            <a:r>
              <a:rPr lang="fr-FR" sz="2400" b="1" i="0" u="none" strike="noStrike" baseline="0" dirty="0">
                <a:solidFill>
                  <a:schemeClr val="tx1"/>
                </a:solidFill>
                <a:latin typeface="Yu Gothic" panose="020B0400000000000000" pitchFamily="34" charset="-128"/>
                <a:ea typeface="Yu Gothic" panose="020B0400000000000000" pitchFamily="34" charset="-128"/>
                <a:cs typeface="Arial" panose="020B0604020202020204" pitchFamily="34" charset="0"/>
              </a:rPr>
              <a:t>Modélisation</a:t>
            </a:r>
          </a:p>
          <a:p>
            <a:pPr marL="0" indent="0">
              <a:buNone/>
            </a:pPr>
            <a:endParaRPr lang="fr-FR" sz="2400" b="1" i="0" u="none" strike="noStrike" baseline="0" dirty="0">
              <a:solidFill>
                <a:srgbClr val="000000"/>
              </a:solidFill>
              <a:latin typeface="Yu Gothic" panose="020B0400000000000000" pitchFamily="34" charset="-128"/>
              <a:ea typeface="Yu Gothic" panose="020B0400000000000000" pitchFamily="34" charset="-128"/>
              <a:cs typeface="Arial" panose="020B0604020202020204" pitchFamily="34" charset="0"/>
            </a:endParaRPr>
          </a:p>
          <a:p>
            <a:pPr marL="0" indent="0">
              <a:buNone/>
            </a:pPr>
            <a:r>
              <a:rPr lang="fr-FR" sz="2400" b="1" i="0" u="none" strike="noStrike" baseline="0" dirty="0">
                <a:solidFill>
                  <a:srgbClr val="000000"/>
                </a:solidFill>
                <a:latin typeface="Yu Gothic" panose="020B0400000000000000" pitchFamily="34" charset="-128"/>
                <a:ea typeface="Yu Gothic" panose="020B0400000000000000" pitchFamily="34" charset="-128"/>
                <a:cs typeface="Arial" panose="020B0604020202020204" pitchFamily="34" charset="0"/>
              </a:rPr>
              <a:t>	</a:t>
            </a:r>
            <a:r>
              <a:rPr lang="fr-FR" sz="2400" b="1" i="0" u="none" strike="noStrike" baseline="0" dirty="0">
                <a:solidFill>
                  <a:schemeClr val="accent4"/>
                </a:solidFill>
                <a:latin typeface="Yu Gothic" panose="020B0400000000000000" pitchFamily="34" charset="-128"/>
                <a:ea typeface="Yu Gothic" panose="020B0400000000000000" pitchFamily="34" charset="-128"/>
                <a:cs typeface="Arial" panose="020B0604020202020204" pitchFamily="34" charset="0"/>
              </a:rPr>
              <a:t>4. </a:t>
            </a:r>
            <a:r>
              <a:rPr lang="fr-FR" sz="2400" b="1" i="0" u="none" strike="noStrike" baseline="0" dirty="0">
                <a:solidFill>
                  <a:schemeClr val="tx1"/>
                </a:solidFill>
                <a:latin typeface="Yu Gothic" panose="020B0400000000000000" pitchFamily="34" charset="-128"/>
                <a:ea typeface="Yu Gothic" panose="020B0400000000000000" pitchFamily="34" charset="-128"/>
                <a:cs typeface="Arial" panose="020B0604020202020204" pitchFamily="34" charset="0"/>
              </a:rPr>
              <a:t>Déploiement d'une API de prédiction et d’un Dashboard interactif</a:t>
            </a:r>
          </a:p>
          <a:p>
            <a:pPr marL="0" indent="0">
              <a:buNone/>
            </a:pPr>
            <a:endParaRPr lang="fr-FR" dirty="0"/>
          </a:p>
        </p:txBody>
      </p:sp>
      <p:sp>
        <p:nvSpPr>
          <p:cNvPr id="4" name="Espace réservé du pied de page 3">
            <a:extLst>
              <a:ext uri="{FF2B5EF4-FFF2-40B4-BE49-F238E27FC236}">
                <a16:creationId xmlns:a16="http://schemas.microsoft.com/office/drawing/2014/main" id="{E8E6E79B-ADA3-8F7D-9D26-C5B276C04635}"/>
              </a:ext>
            </a:extLst>
          </p:cNvPr>
          <p:cNvSpPr>
            <a:spLocks noGrp="1"/>
          </p:cNvSpPr>
          <p:nvPr>
            <p:ph type="ftr" sz="quarter" idx="11"/>
          </p:nvPr>
        </p:nvSpPr>
        <p:spPr>
          <a:xfrm>
            <a:off x="11497455" y="6340839"/>
            <a:ext cx="595709" cy="369208"/>
          </a:xfrm>
        </p:spPr>
        <p:txBody>
          <a:bodyPr/>
          <a:lstStyle/>
          <a:p>
            <a:r>
              <a:rPr lang="en-US" sz="2000" dirty="0"/>
              <a:t>3</a:t>
            </a:r>
          </a:p>
        </p:txBody>
      </p:sp>
    </p:spTree>
    <p:extLst>
      <p:ext uri="{BB962C8B-B14F-4D97-AF65-F5344CB8AC3E}">
        <p14:creationId xmlns:p14="http://schemas.microsoft.com/office/powerpoint/2010/main" val="1570250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84CF2C-BCE3-F7C2-B533-1FAED2AE0253}"/>
              </a:ext>
            </a:extLst>
          </p:cNvPr>
          <p:cNvSpPr>
            <a:spLocks noGrp="1"/>
          </p:cNvSpPr>
          <p:nvPr>
            <p:ph type="title"/>
          </p:nvPr>
        </p:nvSpPr>
        <p:spPr/>
        <p:txBody>
          <a:bodyPr/>
          <a:lstStyle/>
          <a:p>
            <a:endParaRPr lang="fr-FR" dirty="0"/>
          </a:p>
        </p:txBody>
      </p:sp>
      <p:sp>
        <p:nvSpPr>
          <p:cNvPr id="3" name="Espace réservé du contenu 2">
            <a:extLst>
              <a:ext uri="{FF2B5EF4-FFF2-40B4-BE49-F238E27FC236}">
                <a16:creationId xmlns:a16="http://schemas.microsoft.com/office/drawing/2014/main" id="{481B025A-07A6-AA47-D498-0F4D7AA0EF24}"/>
              </a:ext>
            </a:extLst>
          </p:cNvPr>
          <p:cNvSpPr>
            <a:spLocks noGrp="1"/>
          </p:cNvSpPr>
          <p:nvPr>
            <p:ph idx="1"/>
          </p:nvPr>
        </p:nvSpPr>
        <p:spPr>
          <a:xfrm>
            <a:off x="0" y="0"/>
            <a:ext cx="12192000" cy="6858000"/>
          </a:xfrm>
          <a:solidFill>
            <a:schemeClr val="accent4">
              <a:lumMod val="20000"/>
              <a:lumOff val="80000"/>
            </a:schemeClr>
          </a:solidFill>
        </p:spPr>
        <p:txBody>
          <a:bodyPr/>
          <a:lstStyle/>
          <a:p>
            <a:endParaRPr lang="fr-FR" dirty="0"/>
          </a:p>
          <a:p>
            <a:endParaRPr lang="fr-FR" dirty="0"/>
          </a:p>
        </p:txBody>
      </p:sp>
      <p:sp>
        <p:nvSpPr>
          <p:cNvPr id="5" name="Espace réservé du pied de page 4">
            <a:extLst>
              <a:ext uri="{FF2B5EF4-FFF2-40B4-BE49-F238E27FC236}">
                <a16:creationId xmlns:a16="http://schemas.microsoft.com/office/drawing/2014/main" id="{024D4050-C3C4-5B0B-6ABB-829E0530DA7A}"/>
              </a:ext>
            </a:extLst>
          </p:cNvPr>
          <p:cNvSpPr>
            <a:spLocks noGrp="1"/>
          </p:cNvSpPr>
          <p:nvPr>
            <p:ph type="ftr" sz="quarter" idx="11"/>
          </p:nvPr>
        </p:nvSpPr>
        <p:spPr>
          <a:xfrm>
            <a:off x="11564911" y="6408295"/>
            <a:ext cx="498273" cy="363362"/>
          </a:xfrm>
        </p:spPr>
        <p:txBody>
          <a:bodyPr/>
          <a:lstStyle/>
          <a:p>
            <a:r>
              <a:rPr lang="en-US" sz="2000" dirty="0"/>
              <a:t>4</a:t>
            </a:r>
          </a:p>
        </p:txBody>
      </p:sp>
      <p:graphicFrame>
        <p:nvGraphicFramePr>
          <p:cNvPr id="4" name="Diagramme 3">
            <a:extLst>
              <a:ext uri="{FF2B5EF4-FFF2-40B4-BE49-F238E27FC236}">
                <a16:creationId xmlns:a16="http://schemas.microsoft.com/office/drawing/2014/main" id="{D8D9B6F6-2EBE-B3FC-F743-37CDC4E9C90C}"/>
              </a:ext>
            </a:extLst>
          </p:cNvPr>
          <p:cNvGraphicFramePr/>
          <p:nvPr>
            <p:extLst>
              <p:ext uri="{D42A27DB-BD31-4B8C-83A1-F6EECF244321}">
                <p14:modId xmlns:p14="http://schemas.microsoft.com/office/powerpoint/2010/main" val="4221805110"/>
              </p:ext>
            </p:extLst>
          </p:nvPr>
        </p:nvGraphicFramePr>
        <p:xfrm>
          <a:off x="3430589" y="2083633"/>
          <a:ext cx="8761412" cy="4377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5257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A652E2-6D53-6FC1-97B3-B4D98DE935F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95DD8F6-4DBD-8C0F-8C5D-C970B2C7002E}"/>
              </a:ext>
            </a:extLst>
          </p:cNvPr>
          <p:cNvSpPr>
            <a:spLocks noGrp="1"/>
          </p:cNvSpPr>
          <p:nvPr>
            <p:ph idx="1"/>
          </p:nvPr>
        </p:nvSpPr>
        <p:spPr>
          <a:xfrm>
            <a:off x="0" y="0"/>
            <a:ext cx="12192001" cy="6858000"/>
          </a:xfrm>
          <a:solidFill>
            <a:schemeClr val="bg1"/>
          </a:solidFill>
        </p:spPr>
        <p:txBody>
          <a:bodyPr>
            <a:normAutofit/>
          </a:bodyPr>
          <a:lstStyle/>
          <a:p>
            <a:pPr marL="0" indent="0">
              <a:lnSpc>
                <a:spcPct val="200000"/>
              </a:lnSpc>
              <a:buNone/>
            </a:pPr>
            <a:r>
              <a:rPr lang="fr-FR" sz="1600" b="1" i="0" u="sng" strike="noStrike" baseline="0" dirty="0">
                <a:solidFill>
                  <a:schemeClr val="tx2"/>
                </a:solidFill>
                <a:latin typeface="Yu Gothic" panose="020B0400000000000000" pitchFamily="34" charset="-128"/>
                <a:ea typeface="Yu Gothic" panose="020B0400000000000000" pitchFamily="34" charset="-128"/>
                <a:cs typeface="Calibri" panose="020F0502020204030204" pitchFamily="34" charset="0"/>
              </a:rPr>
              <a:t>Les données</a:t>
            </a:r>
            <a:r>
              <a:rPr lang="fr-FR" sz="1600" b="1" i="0" u="none" strike="noStrike" baseline="0" dirty="0">
                <a:solidFill>
                  <a:schemeClr val="tx2"/>
                </a:solidFill>
                <a:latin typeface="Yu Gothic" panose="020B0400000000000000" pitchFamily="34" charset="-128"/>
                <a:ea typeface="Yu Gothic" panose="020B0400000000000000" pitchFamily="34" charset="-128"/>
                <a:cs typeface="Calibri" panose="020F0502020204030204" pitchFamily="34" charset="0"/>
              </a:rPr>
              <a:t> </a:t>
            </a:r>
            <a:r>
              <a:rPr lang="fr-FR" sz="1600" b="1" dirty="0">
                <a:solidFill>
                  <a:schemeClr val="tx2"/>
                </a:solidFill>
                <a:latin typeface="Yu Gothic" panose="020B0400000000000000" pitchFamily="34" charset="-128"/>
                <a:ea typeface="Yu Gothic" panose="020B0400000000000000" pitchFamily="34" charset="-128"/>
                <a:cs typeface="Calibri" panose="020F0502020204030204" pitchFamily="34" charset="0"/>
              </a:rPr>
              <a:t>:</a:t>
            </a:r>
            <a:endParaRPr lang="fr-FR" sz="1600" b="1" i="0" u="none" strike="noStrike" baseline="0" dirty="0">
              <a:solidFill>
                <a:schemeClr val="tx2"/>
              </a:solidFill>
              <a:latin typeface="Yu Gothic" panose="020B0400000000000000" pitchFamily="34" charset="-128"/>
              <a:ea typeface="Yu Gothic" panose="020B0400000000000000" pitchFamily="34" charset="-128"/>
              <a:cs typeface="Calibri" panose="020F0502020204030204" pitchFamily="34" charset="0"/>
            </a:endParaRPr>
          </a:p>
          <a:p>
            <a:pPr marL="0" indent="0">
              <a:buNone/>
            </a:pPr>
            <a:r>
              <a:rPr lang="fr-FR" sz="1600" b="1" u="none" strike="noStrike" baseline="0" dirty="0">
                <a:solidFill>
                  <a:schemeClr val="tx2"/>
                </a:solidFill>
                <a:latin typeface="Yu Gothic" panose="020B0400000000000000" pitchFamily="34" charset="-128"/>
                <a:ea typeface="Yu Gothic" panose="020B0400000000000000" pitchFamily="34" charset="-128"/>
                <a:cs typeface="Calibri" panose="020F0502020204030204" pitchFamily="34" charset="0"/>
              </a:rPr>
              <a:t>proviennent de la compétition </a:t>
            </a:r>
            <a:r>
              <a:rPr lang="fr-FR" sz="1600" b="1" u="none" strike="noStrike" baseline="0" dirty="0" err="1">
                <a:solidFill>
                  <a:schemeClr val="tx2"/>
                </a:solidFill>
                <a:latin typeface="Yu Gothic" panose="020B0400000000000000" pitchFamily="34" charset="-128"/>
                <a:ea typeface="Yu Gothic" panose="020B0400000000000000" pitchFamily="34" charset="-128"/>
                <a:cs typeface="Calibri" panose="020F0502020204030204" pitchFamily="34" charset="0"/>
              </a:rPr>
              <a:t>Kaggle</a:t>
            </a:r>
            <a:r>
              <a:rPr lang="fr-FR" sz="1600" b="1" u="none" strike="noStrike" baseline="0" dirty="0">
                <a:solidFill>
                  <a:schemeClr val="tx2"/>
                </a:solidFill>
                <a:latin typeface="Yu Gothic" panose="020B0400000000000000" pitchFamily="34" charset="-128"/>
                <a:ea typeface="Yu Gothic" panose="020B0400000000000000" pitchFamily="34" charset="-128"/>
                <a:cs typeface="Calibri" panose="020F0502020204030204" pitchFamily="34" charset="0"/>
              </a:rPr>
              <a:t> </a:t>
            </a:r>
            <a:r>
              <a:rPr lang="fr-FR" sz="1600" i="1" u="none" strike="noStrike" baseline="0" dirty="0">
                <a:solidFill>
                  <a:schemeClr val="tx2"/>
                </a:solidFill>
                <a:latin typeface="Yu Gothic" panose="020B0400000000000000" pitchFamily="34" charset="-128"/>
                <a:ea typeface="Yu Gothic" panose="020B0400000000000000" pitchFamily="34" charset="-128"/>
                <a:cs typeface="Calibri" panose="020F0502020204030204" pitchFamily="34" charset="0"/>
              </a:rPr>
              <a:t>"Home </a:t>
            </a:r>
            <a:r>
              <a:rPr lang="fr-FR" sz="1600" i="1" u="none" strike="noStrike" baseline="0" dirty="0" err="1">
                <a:solidFill>
                  <a:schemeClr val="tx2"/>
                </a:solidFill>
                <a:latin typeface="Yu Gothic" panose="020B0400000000000000" pitchFamily="34" charset="-128"/>
                <a:ea typeface="Yu Gothic" panose="020B0400000000000000" pitchFamily="34" charset="-128"/>
                <a:cs typeface="Calibri" panose="020F0502020204030204" pitchFamily="34" charset="0"/>
              </a:rPr>
              <a:t>Credit</a:t>
            </a:r>
            <a:r>
              <a:rPr lang="fr-FR" sz="1600" i="1" u="none" strike="noStrike" baseline="0" dirty="0">
                <a:solidFill>
                  <a:schemeClr val="tx2"/>
                </a:solidFill>
                <a:latin typeface="Yu Gothic" panose="020B0400000000000000" pitchFamily="34" charset="-128"/>
                <a:ea typeface="Yu Gothic" panose="020B0400000000000000" pitchFamily="34" charset="-128"/>
                <a:cs typeface="Calibri" panose="020F0502020204030204" pitchFamily="34" charset="0"/>
              </a:rPr>
              <a:t> Default Risk" 	</a:t>
            </a:r>
          </a:p>
          <a:p>
            <a:pPr marL="0" indent="0">
              <a:buNone/>
            </a:pPr>
            <a:r>
              <a:rPr lang="fr-FR" sz="1600" i="1" u="none" strike="noStrike" baseline="0" dirty="0">
                <a:solidFill>
                  <a:schemeClr val="tx2"/>
                </a:solidFill>
                <a:latin typeface="Yu Gothic" panose="020B0400000000000000" pitchFamily="34" charset="-128"/>
                <a:ea typeface="Yu Gothic" panose="020B0400000000000000" pitchFamily="34" charset="-128"/>
                <a:cs typeface="Calibri" panose="020F0502020204030204" pitchFamily="34" charset="0"/>
              </a:rPr>
              <a:t>(https://www.kaggle.com/c/home-credit-default-risk/data). </a:t>
            </a:r>
          </a:p>
          <a:p>
            <a:pPr marL="0" indent="0">
              <a:buNone/>
            </a:pPr>
            <a:r>
              <a:rPr lang="fr-FR" sz="1600" b="1" i="1"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a:t>
            </a:r>
            <a:r>
              <a:rPr lang="fr-FR" sz="1400" b="1" i="1" u="none" strike="noStrike" baseline="0" dirty="0">
                <a:solidFill>
                  <a:schemeClr val="accent4"/>
                </a:solidFill>
                <a:latin typeface="Yu Gothic" panose="020B0400000000000000" pitchFamily="34" charset="-128"/>
                <a:ea typeface="Yu Gothic" panose="020B0400000000000000" pitchFamily="34" charset="-128"/>
                <a:cs typeface="Calibri" panose="020F0502020204030204" pitchFamily="34" charset="0"/>
              </a:rPr>
              <a:t>Le jeu de données se compose de 8 fichiers tabulaires</a:t>
            </a:r>
          </a:p>
          <a:p>
            <a:pPr marL="0" indent="0">
              <a:buClrTx/>
              <a:buSzPct val="100000"/>
              <a:buNone/>
            </a:pPr>
            <a:endParaRPr lang="fr-FR" dirty="0">
              <a:solidFill>
                <a:srgbClr val="000000"/>
              </a:solidFill>
              <a:latin typeface="Yu Gothic" panose="020B0400000000000000" pitchFamily="34" charset="-128"/>
              <a:ea typeface="Yu Gothic" panose="020B0400000000000000" pitchFamily="34" charset="-128"/>
              <a:cs typeface="Calibri" panose="020F0502020204030204" pitchFamily="34" charset="0"/>
            </a:endParaRPr>
          </a:p>
          <a:p>
            <a:pPr marL="0" indent="0">
              <a:buClrTx/>
              <a:buSzPct val="100000"/>
              <a:buNone/>
            </a:pPr>
            <a:r>
              <a:rPr lang="fr-FR" sz="2000" dirty="0">
                <a:solidFill>
                  <a:srgbClr val="000000"/>
                </a:solidFill>
                <a:latin typeface="Yu Gothic" panose="020B0400000000000000" pitchFamily="34" charset="-128"/>
                <a:ea typeface="Yu Gothic" panose="020B0400000000000000" pitchFamily="34" charset="-128"/>
                <a:cs typeface="Calibri" panose="020F0502020204030204" pitchFamily="34" charset="0"/>
              </a:rPr>
              <a:t>  </a:t>
            </a:r>
            <a:r>
              <a:rPr lang="fr-FR" sz="2000" b="1" i="0" u="sng" strike="noStrike" baseline="0" dirty="0">
                <a:solidFill>
                  <a:schemeClr val="accent4"/>
                </a:solidFill>
                <a:latin typeface="Yu Gothic" panose="020B0400000000000000" pitchFamily="34" charset="-128"/>
                <a:ea typeface="Yu Gothic" panose="020B0400000000000000" pitchFamily="34" charset="-128"/>
                <a:cs typeface="Calibri" panose="020F0502020204030204" pitchFamily="34" charset="0"/>
              </a:rPr>
              <a:t>Description des données sources</a:t>
            </a:r>
            <a:r>
              <a:rPr lang="fr-FR" sz="2000" b="1" i="0" strike="noStrike" baseline="0" dirty="0">
                <a:solidFill>
                  <a:schemeClr val="accent4"/>
                </a:solidFill>
                <a:latin typeface="Yu Gothic" panose="020B0400000000000000" pitchFamily="34" charset="-128"/>
                <a:ea typeface="Yu Gothic" panose="020B0400000000000000" pitchFamily="34" charset="-128"/>
                <a:cs typeface="Calibri" panose="020F0502020204030204" pitchFamily="34" charset="0"/>
              </a:rPr>
              <a:t> </a:t>
            </a:r>
            <a:r>
              <a:rPr lang="fr-FR" sz="2000" b="1" i="0" u="none" strike="noStrike" baseline="0" dirty="0">
                <a:solidFill>
                  <a:schemeClr val="accent4"/>
                </a:solidFill>
                <a:latin typeface="Yu Gothic" panose="020B0400000000000000" pitchFamily="34" charset="-128"/>
                <a:ea typeface="Yu Gothic" panose="020B0400000000000000" pitchFamily="34" charset="-128"/>
                <a:cs typeface="Calibri" panose="020F0502020204030204" pitchFamily="34" charset="0"/>
              </a:rPr>
              <a:t>:</a:t>
            </a:r>
          </a:p>
          <a:p>
            <a:pPr marL="0" indent="0">
              <a:buClrTx/>
              <a:buSzPct val="100000"/>
              <a:buNone/>
            </a:pPr>
            <a:r>
              <a:rPr lang="fr-FR" sz="14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a:t>
            </a:r>
            <a:r>
              <a:rPr lang="fr-FR" sz="1400" b="1"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Jeu de données d'entraînement (</a:t>
            </a:r>
            <a:r>
              <a:rPr lang="fr-FR" sz="1400" b="1" i="0" u="none" strike="noStrike" baseline="0" dirty="0" err="1">
                <a:solidFill>
                  <a:srgbClr val="000000"/>
                </a:solidFill>
                <a:latin typeface="Yu Gothic" panose="020B0400000000000000" pitchFamily="34" charset="-128"/>
                <a:ea typeface="Yu Gothic" panose="020B0400000000000000" pitchFamily="34" charset="-128"/>
                <a:cs typeface="Calibri" panose="020F0502020204030204" pitchFamily="34" charset="0"/>
              </a:rPr>
              <a:t>application_train</a:t>
            </a:r>
            <a:r>
              <a:rPr lang="fr-FR" sz="1400" b="1"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a:t>
            </a:r>
            <a:r>
              <a:rPr lang="fr-FR" sz="14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a:t>
            </a:r>
          </a:p>
          <a:p>
            <a:pPr marL="0" indent="0">
              <a:buClrTx/>
              <a:buSzPct val="100000"/>
              <a:buNone/>
            </a:pPr>
            <a:r>
              <a:rPr lang="fr-FR" sz="14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Comprend 307 511 demandes de crédit avec l'issue 	</a:t>
            </a:r>
          </a:p>
          <a:p>
            <a:pPr marL="0" indent="0">
              <a:buClrTx/>
              <a:buSzPct val="100000"/>
              <a:buNone/>
            </a:pPr>
            <a:r>
              <a:rPr lang="fr-FR" sz="14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correspondante (variable binaire "TARGET").</a:t>
            </a:r>
          </a:p>
          <a:p>
            <a:pPr marL="0" indent="0">
              <a:buClrTx/>
              <a:buSzPct val="100000"/>
              <a:buNone/>
            </a:pPr>
            <a:r>
              <a:rPr lang="fr-FR" sz="14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a:t>
            </a:r>
            <a:r>
              <a:rPr lang="fr-FR" sz="1400" b="1"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Jeu de données de test (</a:t>
            </a:r>
            <a:r>
              <a:rPr lang="fr-FR" sz="1400" b="1" i="0" u="none" strike="noStrike" baseline="0" dirty="0" err="1">
                <a:solidFill>
                  <a:srgbClr val="000000"/>
                </a:solidFill>
                <a:latin typeface="Yu Gothic" panose="020B0400000000000000" pitchFamily="34" charset="-128"/>
                <a:ea typeface="Yu Gothic" panose="020B0400000000000000" pitchFamily="34" charset="-128"/>
                <a:cs typeface="Calibri" panose="020F0502020204030204" pitchFamily="34" charset="0"/>
              </a:rPr>
              <a:t>application_test</a:t>
            </a:r>
            <a:r>
              <a:rPr lang="fr-FR" sz="1400" b="1"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 </a:t>
            </a:r>
          </a:p>
          <a:p>
            <a:pPr marL="0" indent="0">
              <a:buClrTx/>
              <a:buSzPct val="100000"/>
              <a:buNone/>
            </a:pPr>
            <a:r>
              <a:rPr lang="fr-FR" sz="14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Comprend 48 744 demandes de crédit sans l'issue connue.</a:t>
            </a:r>
          </a:p>
          <a:p>
            <a:pPr marL="0" indent="0">
              <a:buClrTx/>
              <a:buSzPct val="100000"/>
              <a:buNone/>
            </a:pPr>
            <a:r>
              <a:rPr lang="fr-FR" sz="14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 </a:t>
            </a:r>
            <a:r>
              <a:rPr lang="fr-FR" sz="1400" b="1"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TARGET : </a:t>
            </a:r>
            <a:r>
              <a:rPr lang="fr-FR" sz="1400"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rPr>
              <a:t>défaut de paiement /pas de défaut de paiement</a:t>
            </a:r>
          </a:p>
          <a:p>
            <a:pPr marL="0" indent="0">
              <a:buClrTx/>
              <a:buSzPct val="100000"/>
              <a:buNone/>
            </a:pPr>
            <a:endParaRPr lang="fr-FR" b="0" i="0" u="none" strike="noStrike" baseline="0" dirty="0">
              <a:solidFill>
                <a:srgbClr val="000000"/>
              </a:solidFill>
              <a:latin typeface="Yu Gothic" panose="020B0400000000000000" pitchFamily="34" charset="-128"/>
              <a:ea typeface="Yu Gothic" panose="020B0400000000000000" pitchFamily="34" charset="-128"/>
              <a:cs typeface="Calibri" panose="020F0502020204030204" pitchFamily="34" charset="0"/>
            </a:endParaRPr>
          </a:p>
          <a:p>
            <a:pPr marL="0" indent="0">
              <a:buNone/>
            </a:pPr>
            <a:endParaRPr lang="fr-FR"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dirty="0">
                <a:solidFill>
                  <a:srgbClr val="000000"/>
                </a:solidFill>
                <a:latin typeface="Calibri" panose="020F0502020204030204" pitchFamily="34" charset="0"/>
                <a:ea typeface="Calibri" panose="020F0502020204030204" pitchFamily="34" charset="0"/>
                <a:cs typeface="Calibri" panose="020F0502020204030204" pitchFamily="34" charset="0"/>
              </a:rPr>
              <a:t>																	</a:t>
            </a:r>
            <a:endParaRPr lang="fr-FR" dirty="0">
              <a:solidFill>
                <a:srgbClr val="000000"/>
              </a:solidFill>
              <a:latin typeface="Yu Gothic" panose="020B0400000000000000" pitchFamily="34" charset="-128"/>
              <a:ea typeface="Yu Gothic" panose="020B0400000000000000" pitchFamily="34" charset="-128"/>
              <a:cs typeface="Calibri" panose="020F0502020204030204" pitchFamily="34" charset="0"/>
            </a:endParaRPr>
          </a:p>
        </p:txBody>
      </p:sp>
      <p:sp>
        <p:nvSpPr>
          <p:cNvPr id="7" name="Espace réservé du pied de page 6">
            <a:extLst>
              <a:ext uri="{FF2B5EF4-FFF2-40B4-BE49-F238E27FC236}">
                <a16:creationId xmlns:a16="http://schemas.microsoft.com/office/drawing/2014/main" id="{740E0695-D892-6A7B-2DB3-0AE804395E3E}"/>
              </a:ext>
            </a:extLst>
          </p:cNvPr>
          <p:cNvSpPr>
            <a:spLocks noGrp="1"/>
          </p:cNvSpPr>
          <p:nvPr>
            <p:ph type="ftr" sz="quarter" idx="11"/>
          </p:nvPr>
        </p:nvSpPr>
        <p:spPr>
          <a:xfrm>
            <a:off x="11624872" y="6408295"/>
            <a:ext cx="498274" cy="375797"/>
          </a:xfrm>
        </p:spPr>
        <p:txBody>
          <a:bodyPr/>
          <a:lstStyle/>
          <a:p>
            <a:r>
              <a:rPr lang="en-US" sz="2000" dirty="0"/>
              <a:t>5</a:t>
            </a:r>
          </a:p>
        </p:txBody>
      </p:sp>
      <p:pic>
        <p:nvPicPr>
          <p:cNvPr id="13" name="Image 12">
            <a:extLst>
              <a:ext uri="{FF2B5EF4-FFF2-40B4-BE49-F238E27FC236}">
                <a16:creationId xmlns:a16="http://schemas.microsoft.com/office/drawing/2014/main" id="{82E6873E-494E-88B2-3703-6B422564CED9}"/>
              </a:ext>
            </a:extLst>
          </p:cNvPr>
          <p:cNvPicPr>
            <a:picLocks noChangeAspect="1"/>
          </p:cNvPicPr>
          <p:nvPr/>
        </p:nvPicPr>
        <p:blipFill>
          <a:blip r:embed="rId3"/>
          <a:stretch>
            <a:fillRect/>
          </a:stretch>
        </p:blipFill>
        <p:spPr>
          <a:xfrm>
            <a:off x="5354130" y="1834936"/>
            <a:ext cx="6676962" cy="4761255"/>
          </a:xfrm>
          <a:prstGeom prst="round2DiagRect">
            <a:avLst>
              <a:gd name="adj1" fmla="val 16667"/>
              <a:gd name="adj2" fmla="val 0"/>
            </a:avLst>
          </a:prstGeom>
          <a:ln w="88900" cap="sq">
            <a:solidFill>
              <a:schemeClr val="accent4">
                <a:lumMod val="20000"/>
                <a:lumOff val="80000"/>
              </a:schemeClr>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052853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E89D7F-579B-CBF8-F70B-F18D5A60A0F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9832BCC-2198-61B7-87ED-29266F20B6CA}"/>
              </a:ext>
            </a:extLst>
          </p:cNvPr>
          <p:cNvSpPr>
            <a:spLocks noGrp="1"/>
          </p:cNvSpPr>
          <p:nvPr>
            <p:ph idx="1"/>
          </p:nvPr>
        </p:nvSpPr>
        <p:spPr>
          <a:xfrm>
            <a:off x="0" y="0"/>
            <a:ext cx="12192000" cy="6858000"/>
          </a:xfrm>
          <a:solidFill>
            <a:schemeClr val="accent4">
              <a:lumMod val="20000"/>
              <a:lumOff val="80000"/>
            </a:schemeClr>
          </a:solidFill>
        </p:spPr>
        <p:txBody>
          <a:bodyPr/>
          <a:lstStyle/>
          <a:p>
            <a:endParaRPr lang="fr-FR" dirty="0"/>
          </a:p>
          <a:p>
            <a:endParaRPr lang="fr-FR" dirty="0"/>
          </a:p>
          <a:p>
            <a:endParaRPr lang="fr-FR" dirty="0"/>
          </a:p>
        </p:txBody>
      </p:sp>
      <p:sp>
        <p:nvSpPr>
          <p:cNvPr id="6" name="Espace réservé du pied de page 5">
            <a:extLst>
              <a:ext uri="{FF2B5EF4-FFF2-40B4-BE49-F238E27FC236}">
                <a16:creationId xmlns:a16="http://schemas.microsoft.com/office/drawing/2014/main" id="{436A6DF6-0134-AF18-92E8-4C2B3810EEAA}"/>
              </a:ext>
            </a:extLst>
          </p:cNvPr>
          <p:cNvSpPr>
            <a:spLocks noGrp="1"/>
          </p:cNvSpPr>
          <p:nvPr>
            <p:ph type="ftr" sz="quarter" idx="11"/>
          </p:nvPr>
        </p:nvSpPr>
        <p:spPr>
          <a:xfrm>
            <a:off x="11677337" y="6460761"/>
            <a:ext cx="445807" cy="310896"/>
          </a:xfrm>
        </p:spPr>
        <p:txBody>
          <a:bodyPr/>
          <a:lstStyle/>
          <a:p>
            <a:r>
              <a:rPr lang="en-US" sz="2000" dirty="0"/>
              <a:t>6</a:t>
            </a:r>
          </a:p>
        </p:txBody>
      </p:sp>
      <p:graphicFrame>
        <p:nvGraphicFramePr>
          <p:cNvPr id="4" name="Diagramme 3">
            <a:extLst>
              <a:ext uri="{FF2B5EF4-FFF2-40B4-BE49-F238E27FC236}">
                <a16:creationId xmlns:a16="http://schemas.microsoft.com/office/drawing/2014/main" id="{3BA6C3BD-536E-E4CB-3D00-1C65EE494515}"/>
              </a:ext>
            </a:extLst>
          </p:cNvPr>
          <p:cNvGraphicFramePr/>
          <p:nvPr>
            <p:extLst>
              <p:ext uri="{D42A27DB-BD31-4B8C-83A1-F6EECF244321}">
                <p14:modId xmlns:p14="http://schemas.microsoft.com/office/powerpoint/2010/main" val="310657759"/>
              </p:ext>
            </p:extLst>
          </p:nvPr>
        </p:nvGraphicFramePr>
        <p:xfrm>
          <a:off x="3430589" y="2083633"/>
          <a:ext cx="8761412" cy="4377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0137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B60590-39FC-445A-BD7B-2A471BDBBBCA}"/>
              </a:ext>
            </a:extLst>
          </p:cNvPr>
          <p:cNvSpPr>
            <a:spLocks noGrp="1"/>
          </p:cNvSpPr>
          <p:nvPr>
            <p:ph type="title"/>
          </p:nvPr>
        </p:nvSpPr>
        <p:spPr>
          <a:xfrm>
            <a:off x="0" y="1"/>
            <a:ext cx="12191999" cy="831954"/>
          </a:xfrm>
          <a:solidFill>
            <a:schemeClr val="tx2"/>
          </a:solidFill>
        </p:spPr>
        <p:txBody>
          <a:bodyPr/>
          <a:lstStyle/>
          <a:p>
            <a:pPr marL="0" marR="0" lvl="0" indent="0" algn="ctr" defTabSz="457200" rtl="0" eaLnBrk="1" fontAlgn="auto" latinLnBrk="0" hangingPunct="1">
              <a:lnSpc>
                <a:spcPct val="100000"/>
              </a:lnSpc>
              <a:spcBef>
                <a:spcPts val="1000"/>
              </a:spcBef>
              <a:spcAft>
                <a:spcPts val="0"/>
              </a:spcAft>
              <a:tabLst/>
              <a:defRPr/>
            </a:pPr>
            <a:r>
              <a:rPr kumimoji="0" lang="fr-FR" sz="3600" b="1" i="0" u="none" strike="noStrike" kern="1200" cap="none" spc="0" normalizeH="0" baseline="0" noProof="0" dirty="0">
                <a:ln>
                  <a:noFill/>
                </a:ln>
                <a:solidFill>
                  <a:srgbClr val="6AAC90"/>
                </a:solidFill>
                <a:effectLst/>
                <a:uLnTx/>
                <a:uFillTx/>
                <a:latin typeface="Yu Gothic" panose="020B0400000000000000" pitchFamily="34" charset="-128"/>
                <a:ea typeface="Yu Gothic" panose="020B0400000000000000" pitchFamily="34" charset="-128"/>
                <a:cs typeface="+mn-cs"/>
              </a:rPr>
              <a:t>	</a:t>
            </a:r>
            <a:r>
              <a:rPr kumimoji="0" lang="fr-FR" sz="3600" b="1" i="0" u="none" strike="noStrike" kern="1200" cap="none" spc="0" normalizeH="0" baseline="0" noProof="0" dirty="0">
                <a:ln>
                  <a:noFill/>
                </a:ln>
                <a:solidFill>
                  <a:schemeClr val="accent4"/>
                </a:solidFill>
                <a:effectLst/>
                <a:uLnTx/>
                <a:uFillTx/>
                <a:latin typeface="Yu Gothic" panose="020B0400000000000000" pitchFamily="34" charset="-128"/>
                <a:ea typeface="Yu Gothic" panose="020B0400000000000000" pitchFamily="34" charset="-128"/>
                <a:cs typeface="+mn-cs"/>
              </a:rPr>
              <a:t>Analyse exploratoire des données</a:t>
            </a:r>
            <a:endParaRPr lang="fr-FR" dirty="0">
              <a:solidFill>
                <a:schemeClr val="accent4"/>
              </a:solidFill>
            </a:endParaRPr>
          </a:p>
        </p:txBody>
      </p:sp>
      <p:sp>
        <p:nvSpPr>
          <p:cNvPr id="3" name="Espace réservé du contenu 2">
            <a:extLst>
              <a:ext uri="{FF2B5EF4-FFF2-40B4-BE49-F238E27FC236}">
                <a16:creationId xmlns:a16="http://schemas.microsoft.com/office/drawing/2014/main" id="{08887B57-A703-9377-466A-527B99A1ED55}"/>
              </a:ext>
            </a:extLst>
          </p:cNvPr>
          <p:cNvSpPr>
            <a:spLocks noGrp="1"/>
          </p:cNvSpPr>
          <p:nvPr>
            <p:ph idx="1"/>
          </p:nvPr>
        </p:nvSpPr>
        <p:spPr>
          <a:xfrm>
            <a:off x="0" y="831955"/>
            <a:ext cx="12192000" cy="6026045"/>
          </a:xfrm>
          <a:solidFill>
            <a:schemeClr val="bg1"/>
          </a:solidFill>
        </p:spPr>
        <p:txBody>
          <a:bodyPr>
            <a:normAutofit/>
          </a:bodyPr>
          <a:lstStyle/>
          <a:p>
            <a:pPr marL="0" marR="0" lvl="0" indent="0" algn="l" defTabSz="457200" rtl="0" eaLnBrk="1" fontAlgn="auto" latinLnBrk="0" hangingPunct="1">
              <a:lnSpc>
                <a:spcPct val="150000"/>
              </a:lnSpc>
              <a:spcBef>
                <a:spcPts val="1000"/>
              </a:spcBef>
              <a:spcAft>
                <a:spcPts val="0"/>
              </a:spcAft>
              <a:buClr>
                <a:srgbClr val="B01513"/>
              </a:buClr>
              <a:buSzPct val="80000"/>
              <a:buNone/>
              <a:tabLst/>
              <a:defRPr/>
            </a:pPr>
            <a:r>
              <a:rPr lang="fr-FR" b="1" dirty="0">
                <a:solidFill>
                  <a:srgbClr val="000000"/>
                </a:solidFill>
                <a:latin typeface="Yu Gothic" panose="020B0400000000000000" pitchFamily="34" charset="-128"/>
                <a:ea typeface="Yu Gothic" panose="020B0400000000000000" pitchFamily="34" charset="-128"/>
              </a:rPr>
              <a:t>		Inspiré par le Kernel :</a:t>
            </a:r>
          </a:p>
          <a:p>
            <a:pPr marL="0" marR="0" lvl="0" indent="0" algn="l" defTabSz="457200" rtl="0" eaLnBrk="1" fontAlgn="auto" latinLnBrk="0" hangingPunct="1">
              <a:lnSpc>
                <a:spcPct val="150000"/>
              </a:lnSpc>
              <a:spcBef>
                <a:spcPts val="1000"/>
              </a:spcBef>
              <a:spcAft>
                <a:spcPts val="0"/>
              </a:spcAft>
              <a:buClr>
                <a:srgbClr val="B01513"/>
              </a:buClr>
              <a:buSzPct val="80000"/>
              <a:buNone/>
              <a:tabLst/>
              <a:defRPr/>
            </a:pPr>
            <a:r>
              <a:rPr lang="fr-FR" sz="1400" b="1" i="1" u="none" strike="noStrike" baseline="0" dirty="0">
                <a:solidFill>
                  <a:schemeClr val="accent4"/>
                </a:solidFill>
                <a:latin typeface="Yu Gothic" panose="020B0400000000000000" pitchFamily="34" charset="-128"/>
                <a:ea typeface="Yu Gothic" panose="020B0400000000000000" pitchFamily="34" charset="-128"/>
              </a:rPr>
              <a:t>https://www.kaggle.com/code/willkoehrsen/start-here-a-gentle-introduction/notebook https://www.kaggle.com/code/jsaguiar/lightgbm-with-simple-features/script </a:t>
            </a:r>
            <a:r>
              <a:rPr kumimoji="0" lang="fr-FR" sz="1800" b="0" i="0" u="none" strike="noStrike" kern="1200" cap="none" spc="0" normalizeH="0" baseline="0" noProof="0" dirty="0">
                <a:ln>
                  <a:noFill/>
                </a:ln>
                <a:solidFill>
                  <a:schemeClr val="accent4"/>
                </a:solidFill>
                <a:effectLst/>
                <a:uLnTx/>
                <a:uFillTx/>
                <a:latin typeface="Century Gothic" panose="020B0502020202020204"/>
                <a:ea typeface="+mn-ea"/>
                <a:cs typeface="+mn-cs"/>
              </a:rPr>
              <a:t>	</a:t>
            </a:r>
            <a:r>
              <a:rPr kumimoji="0" lang="fr-FR"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0" marR="0" lvl="0" indent="0" algn="l" defTabSz="457200" rtl="0" eaLnBrk="1" fontAlgn="auto" latinLnBrk="0" hangingPunct="1">
              <a:lnSpc>
                <a:spcPct val="150000"/>
              </a:lnSpc>
              <a:spcBef>
                <a:spcPts val="1000"/>
              </a:spcBef>
              <a:spcAft>
                <a:spcPts val="0"/>
              </a:spcAft>
              <a:buClr>
                <a:srgbClr val="B01513"/>
              </a:buClr>
              <a:buSzPct val="80000"/>
              <a:buNone/>
              <a:tabLst/>
              <a:defRPr/>
            </a:pPr>
            <a:endParaRPr kumimoji="0" lang="fr-FR"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0" marR="0" lvl="0" indent="0" algn="l" defTabSz="457200" rtl="0" eaLnBrk="1" fontAlgn="auto" latinLnBrk="0" hangingPunct="1">
              <a:lnSpc>
                <a:spcPct val="150000"/>
              </a:lnSpc>
              <a:spcBef>
                <a:spcPts val="1000"/>
              </a:spcBef>
              <a:spcAft>
                <a:spcPts val="0"/>
              </a:spcAft>
              <a:buClr>
                <a:srgbClr val="B01513"/>
              </a:buClr>
              <a:buSzPct val="80000"/>
              <a:buNone/>
              <a:tabLst/>
              <a:defRPr/>
            </a:pPr>
            <a:r>
              <a:rPr lang="fr-FR" dirty="0">
                <a:solidFill>
                  <a:prstClr val="black">
                    <a:lumMod val="75000"/>
                    <a:lumOff val="25000"/>
                  </a:prstClr>
                </a:solidFill>
                <a:latin typeface="Century Gothic" panose="020B0502020202020204"/>
              </a:rPr>
              <a:t>	</a:t>
            </a:r>
            <a:r>
              <a:rPr lang="fr-FR" b="1" dirty="0">
                <a:solidFill>
                  <a:srgbClr val="FF0000"/>
                </a:solidFill>
                <a:latin typeface="Century Gothic" panose="020B0502020202020204"/>
              </a:rPr>
              <a:t>Distribution de la cible : </a:t>
            </a:r>
            <a:r>
              <a:rPr kumimoji="0" lang="fr-FR" sz="1800" b="1" i="0" u="none" strike="noStrike" kern="1200" cap="none" spc="0" normalizeH="0" baseline="0" noProof="0" dirty="0">
                <a:ln>
                  <a:noFill/>
                </a:ln>
                <a:solidFill>
                  <a:srgbClr val="FF0000"/>
                </a:solidFill>
                <a:effectLst/>
                <a:uLnTx/>
                <a:uFillTx/>
                <a:latin typeface="Century Gothic" panose="020B0502020202020204"/>
                <a:ea typeface="+mn-ea"/>
                <a:cs typeface="+mn-cs"/>
              </a:rPr>
              <a:t>Fort déséquilibre	</a:t>
            </a:r>
            <a:r>
              <a:rPr kumimoji="0" lang="fr-FR"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endParaRPr lang="fr-FR" dirty="0"/>
          </a:p>
        </p:txBody>
      </p:sp>
      <p:sp>
        <p:nvSpPr>
          <p:cNvPr id="10" name="Espace réservé du pied de page 9">
            <a:extLst>
              <a:ext uri="{FF2B5EF4-FFF2-40B4-BE49-F238E27FC236}">
                <a16:creationId xmlns:a16="http://schemas.microsoft.com/office/drawing/2014/main" id="{8CFE64BD-B6E5-5863-77C3-2E6E08CBF260}"/>
              </a:ext>
            </a:extLst>
          </p:cNvPr>
          <p:cNvSpPr>
            <a:spLocks noGrp="1"/>
          </p:cNvSpPr>
          <p:nvPr>
            <p:ph type="ftr" sz="quarter" idx="11"/>
          </p:nvPr>
        </p:nvSpPr>
        <p:spPr>
          <a:xfrm>
            <a:off x="11512445" y="6494638"/>
            <a:ext cx="679553" cy="310896"/>
          </a:xfrm>
        </p:spPr>
        <p:txBody>
          <a:bodyPr/>
          <a:lstStyle/>
          <a:p>
            <a:r>
              <a:rPr lang="en-US" sz="2000" dirty="0"/>
              <a:t>7</a:t>
            </a:r>
          </a:p>
        </p:txBody>
      </p:sp>
      <p:pic>
        <p:nvPicPr>
          <p:cNvPr id="5" name="Image 4">
            <a:extLst>
              <a:ext uri="{FF2B5EF4-FFF2-40B4-BE49-F238E27FC236}">
                <a16:creationId xmlns:a16="http://schemas.microsoft.com/office/drawing/2014/main" id="{01411023-E329-C9E2-8270-C02CDBC98BFD}"/>
              </a:ext>
            </a:extLst>
          </p:cNvPr>
          <p:cNvPicPr>
            <a:picLocks noChangeAspect="1"/>
          </p:cNvPicPr>
          <p:nvPr/>
        </p:nvPicPr>
        <p:blipFill>
          <a:blip r:embed="rId2"/>
          <a:stretch>
            <a:fillRect/>
          </a:stretch>
        </p:blipFill>
        <p:spPr>
          <a:xfrm>
            <a:off x="849962" y="3295522"/>
            <a:ext cx="10492074" cy="3510012"/>
          </a:xfrm>
          <a:prstGeom prst="rect">
            <a:avLst/>
          </a:prstGeom>
        </p:spPr>
      </p:pic>
    </p:spTree>
    <p:extLst>
      <p:ext uri="{BB962C8B-B14F-4D97-AF65-F5344CB8AC3E}">
        <p14:creationId xmlns:p14="http://schemas.microsoft.com/office/powerpoint/2010/main" val="3491776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811F40-97E9-4982-4827-7E3C61FE4F20}"/>
              </a:ext>
            </a:extLst>
          </p:cNvPr>
          <p:cNvSpPr>
            <a:spLocks noGrp="1"/>
          </p:cNvSpPr>
          <p:nvPr>
            <p:ph type="title"/>
          </p:nvPr>
        </p:nvSpPr>
        <p:spPr>
          <a:xfrm>
            <a:off x="0" y="1"/>
            <a:ext cx="12192000" cy="667062"/>
          </a:xfrm>
          <a:solidFill>
            <a:schemeClr val="tx2"/>
          </a:solidFill>
        </p:spPr>
        <p:txBody>
          <a:bodyPr/>
          <a:lstStyle/>
          <a:p>
            <a:r>
              <a:rPr kumimoji="0" lang="fr-FR" sz="3600" b="1" i="0" u="none" strike="noStrike" kern="1200" cap="none" spc="0" normalizeH="0" baseline="0" noProof="0" dirty="0">
                <a:ln>
                  <a:noFill/>
                </a:ln>
                <a:solidFill>
                  <a:srgbClr val="6AAC90"/>
                </a:solidFill>
                <a:effectLst/>
                <a:uLnTx/>
                <a:uFillTx/>
                <a:latin typeface="Yu Gothic" panose="020B0400000000000000" pitchFamily="34" charset="-128"/>
                <a:ea typeface="Yu Gothic" panose="020B0400000000000000" pitchFamily="34" charset="-128"/>
                <a:cs typeface="+mn-cs"/>
              </a:rPr>
              <a:t>	</a:t>
            </a:r>
            <a:r>
              <a:rPr kumimoji="0" lang="fr-FR" sz="36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t> </a:t>
            </a:r>
            <a:r>
              <a:rPr kumimoji="0" lang="fr-FR" sz="3600" b="1" i="0" u="none" strike="noStrike" kern="1200" cap="none" spc="0" normalizeH="0" baseline="0" noProof="0" dirty="0" err="1">
                <a:ln>
                  <a:noFill/>
                </a:ln>
                <a:solidFill>
                  <a:srgbClr val="E9943A"/>
                </a:solidFill>
                <a:effectLst/>
                <a:uLnTx/>
                <a:uFillTx/>
                <a:latin typeface="Yu Gothic" panose="020B0400000000000000" pitchFamily="34" charset="-128"/>
                <a:ea typeface="Yu Gothic" panose="020B0400000000000000" pitchFamily="34" charset="-128"/>
                <a:cs typeface="+mj-cs"/>
              </a:rPr>
              <a:t>Preprocessing</a:t>
            </a:r>
            <a:r>
              <a:rPr kumimoji="0" lang="fr-FR" sz="36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t> – </a:t>
            </a:r>
            <a:r>
              <a:rPr kumimoji="0" lang="fr-FR" sz="3600" b="1" i="0" u="none" strike="noStrike" kern="1200" cap="none" spc="0" normalizeH="0" baseline="0" noProof="0" dirty="0" err="1">
                <a:ln>
                  <a:noFill/>
                </a:ln>
                <a:solidFill>
                  <a:srgbClr val="E9943A"/>
                </a:solidFill>
                <a:effectLst/>
                <a:uLnTx/>
                <a:uFillTx/>
                <a:latin typeface="Yu Gothic" panose="020B0400000000000000" pitchFamily="34" charset="-128"/>
                <a:ea typeface="Yu Gothic" panose="020B0400000000000000" pitchFamily="34" charset="-128"/>
                <a:cs typeface="+mj-cs"/>
              </a:rPr>
              <a:t>Merging</a:t>
            </a:r>
            <a:r>
              <a:rPr kumimoji="0" lang="fr-FR" sz="36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t> - </a:t>
            </a:r>
            <a:r>
              <a:rPr kumimoji="0" lang="fr-FR" sz="3600" b="1" i="0" u="none" strike="noStrike" kern="1200" cap="none" spc="0" normalizeH="0" baseline="0" noProof="0" dirty="0" err="1">
                <a:ln>
                  <a:noFill/>
                </a:ln>
                <a:solidFill>
                  <a:srgbClr val="E9943A"/>
                </a:solidFill>
                <a:effectLst/>
                <a:uLnTx/>
                <a:uFillTx/>
                <a:latin typeface="Yu Gothic" panose="020B0400000000000000" pitchFamily="34" charset="-128"/>
                <a:ea typeface="Yu Gothic" panose="020B0400000000000000" pitchFamily="34" charset="-128"/>
                <a:cs typeface="+mj-cs"/>
              </a:rPr>
              <a:t>Feature</a:t>
            </a:r>
            <a:r>
              <a:rPr kumimoji="0" lang="fr-FR" sz="36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t> engineering</a:t>
            </a:r>
            <a:endParaRPr lang="fr-FR" dirty="0"/>
          </a:p>
        </p:txBody>
      </p:sp>
      <p:sp>
        <p:nvSpPr>
          <p:cNvPr id="3" name="Espace réservé du contenu 2">
            <a:extLst>
              <a:ext uri="{FF2B5EF4-FFF2-40B4-BE49-F238E27FC236}">
                <a16:creationId xmlns:a16="http://schemas.microsoft.com/office/drawing/2014/main" id="{2B7254BC-5BBF-7D70-5801-FDB61343159F}"/>
              </a:ext>
            </a:extLst>
          </p:cNvPr>
          <p:cNvSpPr>
            <a:spLocks noGrp="1"/>
          </p:cNvSpPr>
          <p:nvPr>
            <p:ph idx="1"/>
          </p:nvPr>
        </p:nvSpPr>
        <p:spPr>
          <a:xfrm>
            <a:off x="-46670" y="666459"/>
            <a:ext cx="12192000" cy="6190937"/>
          </a:xfrm>
          <a:solidFill>
            <a:schemeClr val="bg1"/>
          </a:solidFill>
        </p:spPr>
        <p:txBody>
          <a:bodyPr/>
          <a:lstStyle/>
          <a:p>
            <a:endParaRPr lang="fr-FR" dirty="0"/>
          </a:p>
          <a:p>
            <a:pPr marL="0" indent="0">
              <a:buNone/>
            </a:pPr>
            <a:r>
              <a:rPr lang="fr-FR" b="1" dirty="0">
                <a:solidFill>
                  <a:srgbClr val="000000"/>
                </a:solidFill>
                <a:latin typeface="Yu Gothic" panose="020B0400000000000000" pitchFamily="34" charset="-128"/>
                <a:ea typeface="Yu Gothic" panose="020B0400000000000000" pitchFamily="34" charset="-128"/>
              </a:rPr>
              <a:t>	</a:t>
            </a:r>
            <a:endParaRPr lang="fr-FR" sz="1800" b="1" i="0" u="none" strike="noStrike" baseline="0" dirty="0">
              <a:solidFill>
                <a:srgbClr val="000000"/>
              </a:solidFill>
              <a:latin typeface="Yu Gothic" panose="020B0400000000000000" pitchFamily="34" charset="-128"/>
              <a:ea typeface="Yu Gothic" panose="020B0400000000000000" pitchFamily="34" charset="-128"/>
            </a:endParaRPr>
          </a:p>
        </p:txBody>
      </p:sp>
      <p:sp>
        <p:nvSpPr>
          <p:cNvPr id="7" name="Espace réservé du pied de page 6">
            <a:extLst>
              <a:ext uri="{FF2B5EF4-FFF2-40B4-BE49-F238E27FC236}">
                <a16:creationId xmlns:a16="http://schemas.microsoft.com/office/drawing/2014/main" id="{C0F616F1-7B94-D8AE-1CA6-6EA17D1E7FA1}"/>
              </a:ext>
            </a:extLst>
          </p:cNvPr>
          <p:cNvSpPr>
            <a:spLocks noGrp="1"/>
          </p:cNvSpPr>
          <p:nvPr>
            <p:ph type="ftr" sz="quarter" idx="11"/>
          </p:nvPr>
        </p:nvSpPr>
        <p:spPr>
          <a:xfrm>
            <a:off x="11639862" y="6429794"/>
            <a:ext cx="505468" cy="310896"/>
          </a:xfrm>
        </p:spPr>
        <p:txBody>
          <a:bodyPr/>
          <a:lstStyle/>
          <a:p>
            <a:r>
              <a:rPr lang="en-US" sz="2000" dirty="0"/>
              <a:t>8</a:t>
            </a:r>
          </a:p>
        </p:txBody>
      </p:sp>
      <p:sp>
        <p:nvSpPr>
          <p:cNvPr id="4" name="Rectangle 3">
            <a:extLst>
              <a:ext uri="{FF2B5EF4-FFF2-40B4-BE49-F238E27FC236}">
                <a16:creationId xmlns:a16="http://schemas.microsoft.com/office/drawing/2014/main" id="{2F3A9EA2-394D-EB61-A946-F96FD04E8BDE}"/>
              </a:ext>
            </a:extLst>
          </p:cNvPr>
          <p:cNvSpPr/>
          <p:nvPr/>
        </p:nvSpPr>
        <p:spPr>
          <a:xfrm>
            <a:off x="152912" y="1608476"/>
            <a:ext cx="1785842" cy="14360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b="1" dirty="0" err="1">
                <a:solidFill>
                  <a:schemeClr val="tx1"/>
                </a:solidFill>
              </a:rPr>
              <a:t>Preprocessing</a:t>
            </a:r>
            <a:endParaRPr lang="fr-FR" sz="1600" b="1" dirty="0">
              <a:solidFill>
                <a:schemeClr val="tx1"/>
              </a:solidFill>
            </a:endParaRPr>
          </a:p>
        </p:txBody>
      </p:sp>
      <p:sp>
        <p:nvSpPr>
          <p:cNvPr id="5" name="Rectangle 4">
            <a:extLst>
              <a:ext uri="{FF2B5EF4-FFF2-40B4-BE49-F238E27FC236}">
                <a16:creationId xmlns:a16="http://schemas.microsoft.com/office/drawing/2014/main" id="{9BFDE4EA-39E6-781A-7F42-3C91E741E8C5}"/>
              </a:ext>
            </a:extLst>
          </p:cNvPr>
          <p:cNvSpPr/>
          <p:nvPr/>
        </p:nvSpPr>
        <p:spPr>
          <a:xfrm>
            <a:off x="0" y="4048669"/>
            <a:ext cx="2282932" cy="20435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rPr>
              <a:t>Enrichissement de l’échantillon de travail :</a:t>
            </a:r>
          </a:p>
          <a:p>
            <a:pPr algn="ctr"/>
            <a:r>
              <a:rPr lang="fr-FR" sz="1200" dirty="0">
                <a:solidFill>
                  <a:schemeClr val="tx1"/>
                </a:solidFill>
              </a:rPr>
              <a:t>Combinaison des </a:t>
            </a:r>
            <a:r>
              <a:rPr lang="fr-FR" sz="1200" dirty="0">
                <a:solidFill>
                  <a:schemeClr val="accent4"/>
                </a:solidFill>
              </a:rPr>
              <a:t>9 jeux de données </a:t>
            </a:r>
            <a:r>
              <a:rPr lang="fr-FR" sz="1200" dirty="0">
                <a:solidFill>
                  <a:schemeClr val="tx1"/>
                </a:solidFill>
              </a:rPr>
              <a:t>pour ajouter de nouvelles </a:t>
            </a:r>
            <a:r>
              <a:rPr lang="fr-FR" sz="1200" dirty="0" err="1">
                <a:solidFill>
                  <a:schemeClr val="tx1"/>
                </a:solidFill>
              </a:rPr>
              <a:t>features</a:t>
            </a:r>
            <a:r>
              <a:rPr lang="fr-FR" sz="1200" dirty="0">
                <a:solidFill>
                  <a:schemeClr val="tx1"/>
                </a:solidFill>
              </a:rPr>
              <a:t>.</a:t>
            </a:r>
          </a:p>
          <a:p>
            <a:pPr algn="ctr"/>
            <a:endParaRPr lang="fr-FR" sz="1200" b="1" dirty="0">
              <a:solidFill>
                <a:schemeClr val="tx1"/>
              </a:solidFill>
            </a:endParaRPr>
          </a:p>
          <a:p>
            <a:pPr algn="ctr"/>
            <a:r>
              <a:rPr lang="fr-FR" sz="1200" b="1" dirty="0">
                <a:solidFill>
                  <a:schemeClr val="tx1"/>
                </a:solidFill>
              </a:rPr>
              <a:t>- Avant </a:t>
            </a:r>
            <a:r>
              <a:rPr lang="fr-FR" sz="1200" b="1" dirty="0">
                <a:solidFill>
                  <a:schemeClr val="accent4"/>
                </a:solidFill>
              </a:rPr>
              <a:t>122 </a:t>
            </a:r>
            <a:r>
              <a:rPr lang="fr-FR" sz="1200" b="1" dirty="0" err="1">
                <a:solidFill>
                  <a:schemeClr val="accent4"/>
                </a:solidFill>
              </a:rPr>
              <a:t>features</a:t>
            </a:r>
            <a:r>
              <a:rPr lang="fr-FR" sz="1200" b="1" dirty="0">
                <a:solidFill>
                  <a:schemeClr val="accent4"/>
                </a:solidFill>
              </a:rPr>
              <a:t> </a:t>
            </a:r>
          </a:p>
          <a:p>
            <a:pPr algn="ctr"/>
            <a:r>
              <a:rPr lang="fr-FR" sz="1200" b="1" dirty="0">
                <a:solidFill>
                  <a:schemeClr val="tx1"/>
                </a:solidFill>
              </a:rPr>
              <a:t>- Après </a:t>
            </a:r>
            <a:r>
              <a:rPr lang="fr-FR" sz="1200" b="1" dirty="0">
                <a:solidFill>
                  <a:schemeClr val="accent4"/>
                </a:solidFill>
              </a:rPr>
              <a:t>193 </a:t>
            </a:r>
            <a:r>
              <a:rPr lang="fr-FR" sz="1200" b="1" dirty="0" err="1">
                <a:solidFill>
                  <a:schemeClr val="accent4"/>
                </a:solidFill>
              </a:rPr>
              <a:t>features</a:t>
            </a:r>
            <a:endParaRPr lang="fr-FR" sz="1200" b="1" dirty="0">
              <a:solidFill>
                <a:schemeClr val="accent4"/>
              </a:solidFill>
            </a:endParaRPr>
          </a:p>
        </p:txBody>
      </p:sp>
      <p:sp>
        <p:nvSpPr>
          <p:cNvPr id="8" name="Rectangle 7">
            <a:extLst>
              <a:ext uri="{FF2B5EF4-FFF2-40B4-BE49-F238E27FC236}">
                <a16:creationId xmlns:a16="http://schemas.microsoft.com/office/drawing/2014/main" id="{E8785FEB-AD0E-C095-554F-32FB00308D00}"/>
              </a:ext>
            </a:extLst>
          </p:cNvPr>
          <p:cNvSpPr/>
          <p:nvPr/>
        </p:nvSpPr>
        <p:spPr>
          <a:xfrm>
            <a:off x="3160508" y="1377494"/>
            <a:ext cx="4180260" cy="196074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
            </a:pPr>
            <a:r>
              <a:rPr lang="fr-FR" sz="1200" b="1" dirty="0">
                <a:solidFill>
                  <a:schemeClr val="tx1"/>
                </a:solidFill>
              </a:rPr>
              <a:t>Identification / </a:t>
            </a:r>
            <a:r>
              <a:rPr lang="fr-FR" sz="1200" b="1" dirty="0">
                <a:solidFill>
                  <a:schemeClr val="accent4"/>
                </a:solidFill>
              </a:rPr>
              <a:t>imputation des valeurs manquantes</a:t>
            </a:r>
          </a:p>
          <a:p>
            <a:pPr marL="171450" indent="-171450">
              <a:buFont typeface="Wingdings" panose="05000000000000000000" pitchFamily="2" charset="2"/>
              <a:buChar char="§"/>
            </a:pPr>
            <a:endParaRPr lang="fr-FR" sz="1200" b="1" dirty="0">
              <a:solidFill>
                <a:schemeClr val="accent4"/>
              </a:solidFill>
            </a:endParaRPr>
          </a:p>
          <a:p>
            <a:pPr marL="171450" indent="-171450">
              <a:buFont typeface="Wingdings" panose="05000000000000000000" pitchFamily="2" charset="2"/>
              <a:buChar char="§"/>
            </a:pPr>
            <a:r>
              <a:rPr lang="fr-FR" sz="1200" b="1" dirty="0">
                <a:solidFill>
                  <a:schemeClr val="tx1"/>
                </a:solidFill>
              </a:rPr>
              <a:t>Analyse des </a:t>
            </a:r>
            <a:r>
              <a:rPr lang="fr-FR" sz="1200" b="1" dirty="0" err="1">
                <a:solidFill>
                  <a:schemeClr val="accent4"/>
                </a:solidFill>
              </a:rPr>
              <a:t>outliers</a:t>
            </a:r>
            <a:r>
              <a:rPr lang="fr-FR" sz="1200" b="1" dirty="0">
                <a:solidFill>
                  <a:schemeClr val="bg1"/>
                </a:solidFill>
              </a:rPr>
              <a:t> </a:t>
            </a:r>
            <a:r>
              <a:rPr lang="fr-FR" sz="1200" b="1" dirty="0">
                <a:solidFill>
                  <a:schemeClr val="tx1"/>
                </a:solidFill>
              </a:rPr>
              <a:t>/ valeurs atypiques</a:t>
            </a:r>
          </a:p>
          <a:p>
            <a:pPr marL="171450" indent="-171450">
              <a:buFont typeface="Wingdings" panose="05000000000000000000" pitchFamily="2" charset="2"/>
              <a:buChar char="§"/>
            </a:pPr>
            <a:endParaRPr lang="fr-FR" sz="1200" b="1" dirty="0">
              <a:solidFill>
                <a:schemeClr val="bg1"/>
              </a:solidFill>
            </a:endParaRPr>
          </a:p>
          <a:p>
            <a:pPr marL="171450" indent="-171450">
              <a:buFont typeface="Wingdings" panose="05000000000000000000" pitchFamily="2" charset="2"/>
              <a:buChar char="§"/>
            </a:pPr>
            <a:r>
              <a:rPr lang="fr-FR" sz="1200" b="1" dirty="0">
                <a:solidFill>
                  <a:schemeClr val="tx1"/>
                </a:solidFill>
              </a:rPr>
              <a:t>Visualisation des </a:t>
            </a:r>
            <a:r>
              <a:rPr lang="fr-FR" sz="1200" b="1" dirty="0">
                <a:solidFill>
                  <a:schemeClr val="accent4"/>
                </a:solidFill>
              </a:rPr>
              <a:t>corrélations</a:t>
            </a:r>
            <a:r>
              <a:rPr lang="fr-FR" sz="1200" b="1" dirty="0">
                <a:solidFill>
                  <a:schemeClr val="bg1"/>
                </a:solidFill>
              </a:rPr>
              <a:t> </a:t>
            </a:r>
            <a:r>
              <a:rPr lang="fr-FR" sz="1200" b="1" dirty="0">
                <a:solidFill>
                  <a:schemeClr val="tx1"/>
                </a:solidFill>
              </a:rPr>
              <a:t>avec notre cible</a:t>
            </a:r>
          </a:p>
          <a:p>
            <a:pPr marL="171450" indent="-171450">
              <a:buFont typeface="Wingdings" panose="05000000000000000000" pitchFamily="2" charset="2"/>
              <a:buChar char="§"/>
            </a:pPr>
            <a:endParaRPr lang="fr-FR" sz="1200" b="1" dirty="0">
              <a:solidFill>
                <a:schemeClr val="bg1"/>
              </a:solidFill>
            </a:endParaRPr>
          </a:p>
          <a:p>
            <a:pPr marL="171450" indent="-171450">
              <a:buFont typeface="Wingdings" panose="05000000000000000000" pitchFamily="2" charset="2"/>
              <a:buChar char="§"/>
            </a:pPr>
            <a:r>
              <a:rPr lang="fr-FR" sz="1200" b="1" dirty="0">
                <a:solidFill>
                  <a:schemeClr val="accent4"/>
                </a:solidFill>
              </a:rPr>
              <a:t>Encodage</a:t>
            </a:r>
            <a:r>
              <a:rPr lang="fr-FR" sz="1200" b="1" dirty="0">
                <a:solidFill>
                  <a:schemeClr val="bg1"/>
                </a:solidFill>
              </a:rPr>
              <a:t> </a:t>
            </a:r>
            <a:r>
              <a:rPr lang="fr-FR" sz="1200" b="1" dirty="0">
                <a:solidFill>
                  <a:schemeClr val="tx1"/>
                </a:solidFill>
              </a:rPr>
              <a:t>des variables catégorielles</a:t>
            </a:r>
          </a:p>
          <a:p>
            <a:pPr marL="171450" indent="-171450">
              <a:buFont typeface="Wingdings" panose="05000000000000000000" pitchFamily="2" charset="2"/>
              <a:buChar char="§"/>
            </a:pPr>
            <a:endParaRPr lang="fr-FR" sz="1200" b="1" dirty="0">
              <a:solidFill>
                <a:schemeClr val="bg1"/>
              </a:solidFill>
            </a:endParaRPr>
          </a:p>
          <a:p>
            <a:pPr marL="171450" indent="-171450">
              <a:buFont typeface="Wingdings" panose="05000000000000000000" pitchFamily="2" charset="2"/>
              <a:buChar char="§"/>
            </a:pPr>
            <a:r>
              <a:rPr lang="fr-FR" sz="1200" b="1" dirty="0">
                <a:solidFill>
                  <a:schemeClr val="accent4"/>
                </a:solidFill>
              </a:rPr>
              <a:t>Standardisation</a:t>
            </a:r>
            <a:r>
              <a:rPr lang="fr-FR" sz="1200" b="1" dirty="0">
                <a:solidFill>
                  <a:schemeClr val="bg1"/>
                </a:solidFill>
              </a:rPr>
              <a:t> </a:t>
            </a:r>
            <a:r>
              <a:rPr lang="fr-FR" sz="1200" b="1" dirty="0">
                <a:solidFill>
                  <a:schemeClr val="tx1"/>
                </a:solidFill>
              </a:rPr>
              <a:t>des données</a:t>
            </a:r>
          </a:p>
          <a:p>
            <a:pPr algn="ctr"/>
            <a:endParaRPr lang="fr-FR" sz="1200" dirty="0"/>
          </a:p>
        </p:txBody>
      </p:sp>
      <p:sp>
        <p:nvSpPr>
          <p:cNvPr id="9" name="Rectangle 8">
            <a:extLst>
              <a:ext uri="{FF2B5EF4-FFF2-40B4-BE49-F238E27FC236}">
                <a16:creationId xmlns:a16="http://schemas.microsoft.com/office/drawing/2014/main" id="{2C9EEEF6-A3FD-E2FD-1C57-73C8AFEC1CE8}"/>
              </a:ext>
            </a:extLst>
          </p:cNvPr>
          <p:cNvSpPr/>
          <p:nvPr/>
        </p:nvSpPr>
        <p:spPr>
          <a:xfrm>
            <a:off x="3160509" y="3761928"/>
            <a:ext cx="4180259" cy="2667866"/>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rgbClr val="C00000"/>
                </a:solidFill>
              </a:rPr>
              <a:t>Création de 3 </a:t>
            </a:r>
            <a:r>
              <a:rPr lang="fr-FR" sz="1200" b="1" dirty="0" err="1">
                <a:solidFill>
                  <a:srgbClr val="C00000"/>
                </a:solidFill>
              </a:rPr>
              <a:t>features</a:t>
            </a:r>
            <a:r>
              <a:rPr lang="fr-FR" sz="1200" b="1" dirty="0">
                <a:solidFill>
                  <a:srgbClr val="C00000"/>
                </a:solidFill>
              </a:rPr>
              <a:t> de moyenne et de comptage </a:t>
            </a:r>
          </a:p>
          <a:p>
            <a:pPr algn="ctr"/>
            <a:endParaRPr lang="fr-FR" sz="1200" dirty="0"/>
          </a:p>
          <a:p>
            <a:pPr marL="171450" indent="-171450">
              <a:buFont typeface="Wingdings" panose="05000000000000000000" pitchFamily="2" charset="2"/>
              <a:buChar char="§"/>
            </a:pPr>
            <a:r>
              <a:rPr lang="fr-FR" sz="1200" b="1" dirty="0">
                <a:solidFill>
                  <a:schemeClr val="accent4"/>
                </a:solidFill>
              </a:rPr>
              <a:t>PREVIOUS_LOANS_COUNT </a:t>
            </a:r>
            <a:r>
              <a:rPr lang="fr-FR" sz="1200" b="1" dirty="0">
                <a:solidFill>
                  <a:schemeClr val="tx1"/>
                </a:solidFill>
              </a:rPr>
              <a:t>: nombre des précédents crédits pris par le client</a:t>
            </a:r>
          </a:p>
          <a:p>
            <a:pPr marL="171450" indent="-171450">
              <a:buFont typeface="Wingdings" panose="05000000000000000000" pitchFamily="2" charset="2"/>
              <a:buChar char="§"/>
            </a:pPr>
            <a:endParaRPr lang="fr-FR" sz="1200" b="1" dirty="0"/>
          </a:p>
          <a:p>
            <a:pPr marL="171450" indent="-171450">
              <a:buFont typeface="Wingdings" panose="05000000000000000000" pitchFamily="2" charset="2"/>
              <a:buChar char="§"/>
            </a:pPr>
            <a:r>
              <a:rPr lang="fr-FR" sz="1200" b="1" dirty="0">
                <a:solidFill>
                  <a:schemeClr val="accent4"/>
                </a:solidFill>
              </a:rPr>
              <a:t>MONTHS_BALANCE_MEAN </a:t>
            </a:r>
            <a:r>
              <a:rPr lang="fr-FR" sz="1200" b="1" dirty="0">
                <a:solidFill>
                  <a:schemeClr val="tx1"/>
                </a:solidFill>
              </a:rPr>
              <a:t>: solde mensuel moyen des précédents crédits</a:t>
            </a:r>
          </a:p>
          <a:p>
            <a:pPr marL="171450" indent="-171450">
              <a:buFont typeface="Wingdings" panose="05000000000000000000" pitchFamily="2" charset="2"/>
              <a:buChar char="§"/>
            </a:pPr>
            <a:endParaRPr lang="fr-FR" sz="1200" b="1" dirty="0"/>
          </a:p>
          <a:p>
            <a:pPr marL="171450" indent="-171450">
              <a:buFont typeface="Wingdings" panose="05000000000000000000" pitchFamily="2" charset="2"/>
              <a:buChar char="§"/>
            </a:pPr>
            <a:r>
              <a:rPr lang="fr-FR" sz="1200" b="1" dirty="0">
                <a:solidFill>
                  <a:schemeClr val="accent4"/>
                </a:solidFill>
              </a:rPr>
              <a:t>PREVIOUS_APPLICATION_COUNT </a:t>
            </a:r>
            <a:r>
              <a:rPr lang="fr-FR" sz="1200" b="1" dirty="0">
                <a:solidFill>
                  <a:schemeClr val="tx1"/>
                </a:solidFill>
              </a:rPr>
              <a:t>: nombre de demandes antérieures au crédit immobilier</a:t>
            </a:r>
          </a:p>
        </p:txBody>
      </p:sp>
      <p:sp>
        <p:nvSpPr>
          <p:cNvPr id="10" name="Rectangle 9">
            <a:extLst>
              <a:ext uri="{FF2B5EF4-FFF2-40B4-BE49-F238E27FC236}">
                <a16:creationId xmlns:a16="http://schemas.microsoft.com/office/drawing/2014/main" id="{96E636C2-B32E-86E7-84DF-ED14282B6862}"/>
              </a:ext>
            </a:extLst>
          </p:cNvPr>
          <p:cNvSpPr/>
          <p:nvPr/>
        </p:nvSpPr>
        <p:spPr>
          <a:xfrm>
            <a:off x="7560675" y="3761928"/>
            <a:ext cx="4180259" cy="2667866"/>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rgbClr val="C00000"/>
                </a:solidFill>
              </a:rPr>
              <a:t>Enrichissement de l’échantillon par 4 nouvelles variables métiers</a:t>
            </a:r>
          </a:p>
          <a:p>
            <a:pPr algn="ctr"/>
            <a:endParaRPr lang="fr-FR" sz="1200" dirty="0"/>
          </a:p>
          <a:p>
            <a:pPr marL="171450" indent="-171450">
              <a:buFont typeface="Wingdings" panose="05000000000000000000" pitchFamily="2" charset="2"/>
              <a:buChar char="§"/>
            </a:pPr>
            <a:r>
              <a:rPr lang="fr-FR" sz="1200" b="1" dirty="0">
                <a:solidFill>
                  <a:schemeClr val="accent4"/>
                </a:solidFill>
              </a:rPr>
              <a:t>CREDIT_INCOME_PERCENT </a:t>
            </a:r>
            <a:r>
              <a:rPr lang="fr-FR" sz="1200" b="1" dirty="0">
                <a:solidFill>
                  <a:schemeClr val="tx1"/>
                </a:solidFill>
              </a:rPr>
              <a:t>: % montant du crédit par rapport au revenu d'un client</a:t>
            </a:r>
          </a:p>
          <a:p>
            <a:pPr marL="171450" indent="-171450">
              <a:buFont typeface="Wingdings" panose="05000000000000000000" pitchFamily="2" charset="2"/>
              <a:buChar char="§"/>
            </a:pPr>
            <a:endParaRPr lang="fr-FR" sz="1200" b="1" dirty="0"/>
          </a:p>
          <a:p>
            <a:pPr marL="171450" indent="-171450">
              <a:buFont typeface="Wingdings" panose="05000000000000000000" pitchFamily="2" charset="2"/>
              <a:buChar char="§"/>
            </a:pPr>
            <a:r>
              <a:rPr lang="fr-FR" sz="1200" b="1" dirty="0">
                <a:solidFill>
                  <a:schemeClr val="accent4"/>
                </a:solidFill>
              </a:rPr>
              <a:t>ANNUITY_INCOME_PERCENT </a:t>
            </a:r>
            <a:r>
              <a:rPr lang="fr-FR" sz="1200" b="1" dirty="0">
                <a:solidFill>
                  <a:schemeClr val="tx1"/>
                </a:solidFill>
              </a:rPr>
              <a:t>: % rente de prêt par rapport au revenu d'un client</a:t>
            </a:r>
          </a:p>
          <a:p>
            <a:pPr marL="171450" indent="-171450">
              <a:buFont typeface="Wingdings" panose="05000000000000000000" pitchFamily="2" charset="2"/>
              <a:buChar char="§"/>
            </a:pPr>
            <a:endParaRPr lang="fr-FR" sz="1200" b="1" dirty="0"/>
          </a:p>
          <a:p>
            <a:pPr marL="171450" indent="-171450">
              <a:buFont typeface="Wingdings" panose="05000000000000000000" pitchFamily="2" charset="2"/>
              <a:buChar char="§"/>
            </a:pPr>
            <a:r>
              <a:rPr lang="fr-FR" sz="1200" b="1" dirty="0">
                <a:solidFill>
                  <a:schemeClr val="accent4"/>
                </a:solidFill>
              </a:rPr>
              <a:t>DAYS_EMPLOYED_PERCENT </a:t>
            </a:r>
            <a:r>
              <a:rPr lang="fr-FR" sz="1200" b="1" dirty="0">
                <a:solidFill>
                  <a:schemeClr val="tx1"/>
                </a:solidFill>
              </a:rPr>
              <a:t>: % jours employés par rapport à l'âge du client</a:t>
            </a:r>
          </a:p>
          <a:p>
            <a:pPr marL="171450" indent="-171450">
              <a:buFont typeface="Wingdings" panose="05000000000000000000" pitchFamily="2" charset="2"/>
              <a:buChar char="§"/>
            </a:pPr>
            <a:endParaRPr lang="fr-FR" sz="1200" b="1" dirty="0"/>
          </a:p>
          <a:p>
            <a:pPr marL="171450" indent="-171450">
              <a:buFont typeface="Wingdings" panose="05000000000000000000" pitchFamily="2" charset="2"/>
              <a:buChar char="§"/>
            </a:pPr>
            <a:r>
              <a:rPr lang="fr-FR" sz="1200" b="1" dirty="0">
                <a:solidFill>
                  <a:schemeClr val="accent4"/>
                </a:solidFill>
              </a:rPr>
              <a:t>CREDIT_TERM</a:t>
            </a:r>
            <a:r>
              <a:rPr lang="fr-FR" sz="1200" b="1" dirty="0">
                <a:solidFill>
                  <a:schemeClr val="tx1"/>
                </a:solidFill>
              </a:rPr>
              <a:t> : durée du paiement en mois</a:t>
            </a:r>
          </a:p>
          <a:p>
            <a:endParaRPr lang="fr-FR" sz="1200" dirty="0"/>
          </a:p>
        </p:txBody>
      </p:sp>
      <p:sp>
        <p:nvSpPr>
          <p:cNvPr id="11" name="Flèche : droite 10">
            <a:extLst>
              <a:ext uri="{FF2B5EF4-FFF2-40B4-BE49-F238E27FC236}">
                <a16:creationId xmlns:a16="http://schemas.microsoft.com/office/drawing/2014/main" id="{ECB6614C-7809-88B1-339B-F22F15211C54}"/>
              </a:ext>
            </a:extLst>
          </p:cNvPr>
          <p:cNvSpPr/>
          <p:nvPr/>
        </p:nvSpPr>
        <p:spPr>
          <a:xfrm>
            <a:off x="2025183" y="2226569"/>
            <a:ext cx="736428" cy="262594"/>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lèche : droite 11">
            <a:extLst>
              <a:ext uri="{FF2B5EF4-FFF2-40B4-BE49-F238E27FC236}">
                <a16:creationId xmlns:a16="http://schemas.microsoft.com/office/drawing/2014/main" id="{6AB6CCB9-A818-B236-985E-B78790C5F3C8}"/>
              </a:ext>
            </a:extLst>
          </p:cNvPr>
          <p:cNvSpPr/>
          <p:nvPr/>
        </p:nvSpPr>
        <p:spPr>
          <a:xfrm>
            <a:off x="2282932" y="4934724"/>
            <a:ext cx="736428" cy="262594"/>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5127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47A4B8-7B3C-E23B-A386-4B90B4A83D7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3423021-08F6-A412-E2B6-FF00BDB7DE9B}"/>
              </a:ext>
            </a:extLst>
          </p:cNvPr>
          <p:cNvSpPr>
            <a:spLocks noGrp="1"/>
          </p:cNvSpPr>
          <p:nvPr>
            <p:ph idx="1"/>
          </p:nvPr>
        </p:nvSpPr>
        <p:spPr>
          <a:xfrm>
            <a:off x="0" y="0"/>
            <a:ext cx="12192000" cy="6858000"/>
          </a:xfrm>
          <a:solidFill>
            <a:schemeClr val="accent4">
              <a:lumMod val="20000"/>
              <a:lumOff val="80000"/>
            </a:schemeClr>
          </a:solidFill>
        </p:spPr>
        <p:txBody>
          <a:bodyPr/>
          <a:lstStyle/>
          <a:p>
            <a:endParaRPr lang="fr-FR" dirty="0"/>
          </a:p>
          <a:p>
            <a:endParaRPr lang="fr-FR" dirty="0"/>
          </a:p>
          <a:p>
            <a:endParaRPr lang="fr-FR" dirty="0"/>
          </a:p>
        </p:txBody>
      </p:sp>
      <p:sp>
        <p:nvSpPr>
          <p:cNvPr id="5" name="Espace réservé du pied de page 4">
            <a:extLst>
              <a:ext uri="{FF2B5EF4-FFF2-40B4-BE49-F238E27FC236}">
                <a16:creationId xmlns:a16="http://schemas.microsoft.com/office/drawing/2014/main" id="{7639D2BF-02B6-DE08-912B-2CFD0CC4760B}"/>
              </a:ext>
            </a:extLst>
          </p:cNvPr>
          <p:cNvSpPr>
            <a:spLocks noGrp="1"/>
          </p:cNvSpPr>
          <p:nvPr>
            <p:ph type="ftr" sz="quarter" idx="11"/>
          </p:nvPr>
        </p:nvSpPr>
        <p:spPr>
          <a:xfrm>
            <a:off x="11497455" y="6460761"/>
            <a:ext cx="580719" cy="310896"/>
          </a:xfrm>
        </p:spPr>
        <p:txBody>
          <a:bodyPr/>
          <a:lstStyle/>
          <a:p>
            <a:r>
              <a:rPr lang="en-US" sz="2000" dirty="0"/>
              <a:t>9</a:t>
            </a:r>
          </a:p>
        </p:txBody>
      </p:sp>
      <p:graphicFrame>
        <p:nvGraphicFramePr>
          <p:cNvPr id="6" name="Diagramme 5">
            <a:extLst>
              <a:ext uri="{FF2B5EF4-FFF2-40B4-BE49-F238E27FC236}">
                <a16:creationId xmlns:a16="http://schemas.microsoft.com/office/drawing/2014/main" id="{B825A398-1122-7BB3-4E07-F11105E9AA73}"/>
              </a:ext>
            </a:extLst>
          </p:cNvPr>
          <p:cNvGraphicFramePr/>
          <p:nvPr>
            <p:extLst>
              <p:ext uri="{D42A27DB-BD31-4B8C-83A1-F6EECF244321}">
                <p14:modId xmlns:p14="http://schemas.microsoft.com/office/powerpoint/2010/main" val="1028825485"/>
              </p:ext>
            </p:extLst>
          </p:nvPr>
        </p:nvGraphicFramePr>
        <p:xfrm>
          <a:off x="3430589" y="2083633"/>
          <a:ext cx="8761412" cy="4377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9782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A15F24-9E45-A60D-B6BE-3B4534A9EEFF}"/>
              </a:ext>
            </a:extLst>
          </p:cNvPr>
          <p:cNvSpPr>
            <a:spLocks noGrp="1"/>
          </p:cNvSpPr>
          <p:nvPr>
            <p:ph type="title"/>
          </p:nvPr>
        </p:nvSpPr>
        <p:spPr>
          <a:xfrm>
            <a:off x="0" y="0"/>
            <a:ext cx="12192000" cy="712033"/>
          </a:xfrm>
          <a:solidFill>
            <a:schemeClr val="tx2"/>
          </a:solidFill>
        </p:spPr>
        <p:txBody>
          <a:bodyPr/>
          <a:lstStyle/>
          <a:p>
            <a:r>
              <a:rPr lang="fr-FR" b="1" i="0" u="none" strike="noStrike" baseline="0" dirty="0">
                <a:solidFill>
                  <a:schemeClr val="accent4"/>
                </a:solidFill>
                <a:latin typeface="Yu Gothic" panose="020B0400000000000000" pitchFamily="34" charset="-128"/>
                <a:ea typeface="Yu Gothic" panose="020B0400000000000000" pitchFamily="34" charset="-128"/>
              </a:rPr>
              <a:t>Traitement du déséquilibre des classes</a:t>
            </a:r>
            <a:endParaRPr lang="fr-FR" dirty="0"/>
          </a:p>
        </p:txBody>
      </p:sp>
      <p:sp>
        <p:nvSpPr>
          <p:cNvPr id="3" name="Espace réservé du contenu 2">
            <a:extLst>
              <a:ext uri="{FF2B5EF4-FFF2-40B4-BE49-F238E27FC236}">
                <a16:creationId xmlns:a16="http://schemas.microsoft.com/office/drawing/2014/main" id="{F64E9DF7-094D-65B2-A438-E08613A9BC99}"/>
              </a:ext>
            </a:extLst>
          </p:cNvPr>
          <p:cNvSpPr>
            <a:spLocks noGrp="1"/>
          </p:cNvSpPr>
          <p:nvPr>
            <p:ph idx="1"/>
          </p:nvPr>
        </p:nvSpPr>
        <p:spPr>
          <a:xfrm>
            <a:off x="0" y="712033"/>
            <a:ext cx="12192000" cy="6145967"/>
          </a:xfrm>
          <a:solidFill>
            <a:schemeClr val="bg1"/>
          </a:solidFill>
        </p:spPr>
        <p:txBody>
          <a:bodyPr>
            <a:normAutofit/>
          </a:bodyPr>
          <a:lstStyle/>
          <a:p>
            <a:pPr marL="0" indent="0">
              <a:lnSpc>
                <a:spcPct val="200000"/>
              </a:lnSpc>
              <a:buNone/>
            </a:pPr>
            <a:r>
              <a:rPr lang="fr-FR" sz="1600" b="1" dirty="0">
                <a:solidFill>
                  <a:srgbClr val="000000"/>
                </a:solidFill>
                <a:latin typeface="Yu Gothic" panose="020B0400000000000000" pitchFamily="34" charset="-128"/>
                <a:ea typeface="Yu Gothic" panose="020B0400000000000000" pitchFamily="34" charset="-128"/>
              </a:rPr>
              <a:t>Rappel du déséquilibre entre clients solvables / non solvables</a:t>
            </a:r>
          </a:p>
          <a:p>
            <a:pPr marL="0" indent="0">
              <a:buClrTx/>
              <a:buSzPct val="100000"/>
              <a:buNone/>
            </a:pPr>
            <a:r>
              <a:rPr lang="fr-FR" sz="1600" dirty="0">
                <a:solidFill>
                  <a:srgbClr val="000000"/>
                </a:solidFill>
                <a:latin typeface="Yu Gothic" panose="020B0400000000000000" pitchFamily="34" charset="-128"/>
                <a:ea typeface="Yu Gothic" panose="020B0400000000000000" pitchFamily="34" charset="-128"/>
              </a:rPr>
              <a:t>		Impact performance + Prédiction faussée</a:t>
            </a:r>
          </a:p>
          <a:p>
            <a:pPr marL="0" marR="0" lvl="0" indent="0" algn="l" defTabSz="457200" rtl="0" eaLnBrk="1" fontAlgn="auto" latinLnBrk="0" hangingPunct="1">
              <a:lnSpc>
                <a:spcPct val="100000"/>
              </a:lnSpc>
              <a:spcBef>
                <a:spcPts val="1000"/>
              </a:spcBef>
              <a:spcAft>
                <a:spcPts val="0"/>
              </a:spcAft>
              <a:buClr>
                <a:srgbClr val="B31166"/>
              </a:buClr>
              <a:buSzPct val="80000"/>
              <a:buNone/>
              <a:tabLst/>
              <a:defRPr/>
            </a:pPr>
            <a:endParaRPr lang="fr-FR" sz="1600" dirty="0">
              <a:solidFill>
                <a:prstClr val="black">
                  <a:lumMod val="75000"/>
                  <a:lumOff val="25000"/>
                </a:prstClr>
              </a:solidFill>
              <a:latin typeface="Yu Gothic" panose="020B0400000000000000" pitchFamily="34" charset="-128"/>
              <a:ea typeface="Yu Gothic" panose="020B0400000000000000" pitchFamily="34" charset="-128"/>
            </a:endParaRPr>
          </a:p>
          <a:p>
            <a:pPr marL="0" marR="0" lvl="0" indent="0" algn="l" defTabSz="457200" rtl="0" eaLnBrk="1" fontAlgn="auto" latinLnBrk="0" hangingPunct="1">
              <a:lnSpc>
                <a:spcPct val="100000"/>
              </a:lnSpc>
              <a:spcBef>
                <a:spcPts val="1000"/>
              </a:spcBef>
              <a:spcAft>
                <a:spcPts val="0"/>
              </a:spcAft>
              <a:buClr>
                <a:srgbClr val="B31166"/>
              </a:buClr>
              <a:buSzPct val="80000"/>
              <a:buNone/>
              <a:tabLst/>
              <a:defRPr/>
            </a:pPr>
            <a:endParaRPr lang="fr-FR" sz="1600" dirty="0">
              <a:solidFill>
                <a:prstClr val="black">
                  <a:lumMod val="75000"/>
                  <a:lumOff val="25000"/>
                </a:prstClr>
              </a:solidFill>
              <a:latin typeface="Yu Gothic" panose="020B0400000000000000" pitchFamily="34" charset="-128"/>
              <a:ea typeface="Yu Gothic" panose="020B0400000000000000" pitchFamily="34" charset="-128"/>
            </a:endParaRPr>
          </a:p>
          <a:p>
            <a:pPr marL="0" marR="0" lvl="0" indent="0" algn="l" defTabSz="457200" rtl="0" eaLnBrk="1" fontAlgn="auto" latinLnBrk="0" hangingPunct="1">
              <a:lnSpc>
                <a:spcPct val="100000"/>
              </a:lnSpc>
              <a:spcBef>
                <a:spcPts val="1000"/>
              </a:spcBef>
              <a:spcAft>
                <a:spcPts val="0"/>
              </a:spcAft>
              <a:buClr>
                <a:srgbClr val="B31166"/>
              </a:buClr>
              <a:buSzPct val="80000"/>
              <a:buNone/>
              <a:tabLst/>
              <a:defRPr/>
            </a:pPr>
            <a:endParaRPr lang="fr-FR" sz="1600" dirty="0">
              <a:solidFill>
                <a:prstClr val="black">
                  <a:lumMod val="75000"/>
                  <a:lumOff val="25000"/>
                </a:prstClr>
              </a:solidFill>
              <a:latin typeface="Yu Gothic" panose="020B0400000000000000" pitchFamily="34" charset="-128"/>
              <a:ea typeface="Yu Gothic" panose="020B0400000000000000" pitchFamily="34" charset="-128"/>
            </a:endParaRPr>
          </a:p>
          <a:p>
            <a:pPr marL="0" marR="0" lvl="0" indent="0" algn="l" defTabSz="457200" rtl="0" eaLnBrk="1" fontAlgn="auto" latinLnBrk="0" hangingPunct="1">
              <a:lnSpc>
                <a:spcPct val="100000"/>
              </a:lnSpc>
              <a:spcBef>
                <a:spcPts val="1000"/>
              </a:spcBef>
              <a:spcAft>
                <a:spcPts val="0"/>
              </a:spcAft>
              <a:buClr>
                <a:srgbClr val="B31166"/>
              </a:buClr>
              <a:buSzPct val="80000"/>
              <a:buNone/>
              <a:tabLst/>
              <a:defRPr/>
            </a:pPr>
            <a:endParaRPr lang="fr-FR" sz="1600" dirty="0">
              <a:solidFill>
                <a:prstClr val="black">
                  <a:lumMod val="75000"/>
                  <a:lumOff val="25000"/>
                </a:prstClr>
              </a:solidFill>
              <a:latin typeface="Yu Gothic" panose="020B0400000000000000" pitchFamily="34" charset="-128"/>
              <a:ea typeface="Yu Gothic" panose="020B0400000000000000" pitchFamily="34" charset="-128"/>
            </a:endParaRPr>
          </a:p>
          <a:p>
            <a:pPr marL="0" marR="0" lvl="0" indent="0" algn="l" defTabSz="457200" rtl="0" eaLnBrk="1" fontAlgn="auto" latinLnBrk="0" hangingPunct="1">
              <a:lnSpc>
                <a:spcPct val="100000"/>
              </a:lnSpc>
              <a:spcBef>
                <a:spcPts val="1000"/>
              </a:spcBef>
              <a:spcAft>
                <a:spcPts val="0"/>
              </a:spcAft>
              <a:buClr>
                <a:srgbClr val="B31166"/>
              </a:buClr>
              <a:buSzPct val="80000"/>
              <a:buNone/>
              <a:tabLst/>
              <a:defRPr/>
            </a:pPr>
            <a:r>
              <a:rPr lang="fr-FR" b="1" dirty="0">
                <a:solidFill>
                  <a:srgbClr val="002060"/>
                </a:solidFill>
                <a:latin typeface="Yu Gothic" panose="020B0400000000000000" pitchFamily="34" charset="-128"/>
                <a:ea typeface="Yu Gothic" panose="020B0400000000000000" pitchFamily="34" charset="-128"/>
              </a:rPr>
              <a:t>   </a:t>
            </a:r>
            <a:r>
              <a:rPr kumimoji="0" lang="fr-FR" sz="1600" b="1" i="0" u="none" strike="noStrike" kern="1200" cap="none" spc="0" normalizeH="0" baseline="0" noProof="0" dirty="0">
                <a:ln>
                  <a:noFill/>
                </a:ln>
                <a:solidFill>
                  <a:schemeClr val="tx1"/>
                </a:solidFill>
                <a:effectLst/>
                <a:uLnTx/>
                <a:uFillTx/>
                <a:latin typeface="Yu Gothic" panose="020B0400000000000000" pitchFamily="34" charset="-128"/>
                <a:ea typeface="Yu Gothic" panose="020B0400000000000000" pitchFamily="34" charset="-128"/>
              </a:rPr>
              <a:t>Classe prédite VS classe réelle</a:t>
            </a:r>
          </a:p>
          <a:p>
            <a:pPr marL="0" marR="0" lvl="0" indent="0" algn="l" defTabSz="457200" rtl="0" eaLnBrk="1" fontAlgn="auto" latinLnBrk="0" hangingPunct="1">
              <a:lnSpc>
                <a:spcPct val="100000"/>
              </a:lnSpc>
              <a:spcBef>
                <a:spcPts val="1000"/>
              </a:spcBef>
              <a:spcAft>
                <a:spcPts val="0"/>
              </a:spcAft>
              <a:buClr>
                <a:srgbClr val="B31166"/>
              </a:buClr>
              <a:buSzPct val="80000"/>
              <a:buNone/>
              <a:tabLst/>
              <a:defRPr/>
            </a:pPr>
            <a:r>
              <a:rPr kumimoji="0" lang="fr-FR" sz="1600" b="0" i="0" u="none" strike="noStrike" kern="1200" cap="none" spc="0" normalizeH="0" baseline="0" noProof="0" dirty="0">
                <a:ln>
                  <a:noFill/>
                </a:ln>
                <a:solidFill>
                  <a:srgbClr val="FF0000"/>
                </a:solidFill>
                <a:effectLst/>
                <a:uLnTx/>
                <a:uFillTx/>
                <a:latin typeface="Yu Gothic" panose="020B0400000000000000" pitchFamily="34" charset="-128"/>
                <a:ea typeface="Yu Gothic" panose="020B0400000000000000" pitchFamily="34" charset="-128"/>
              </a:rPr>
              <a:t>                  </a:t>
            </a:r>
            <a:r>
              <a:rPr lang="fr-FR" sz="1600" u="sng" dirty="0">
                <a:solidFill>
                  <a:schemeClr val="tx1"/>
                </a:solidFill>
                <a:latin typeface="Yu Gothic" panose="020B0400000000000000" pitchFamily="34" charset="-128"/>
                <a:ea typeface="Yu Gothic" panose="020B0400000000000000" pitchFamily="34" charset="-128"/>
              </a:rPr>
              <a:t>M</a:t>
            </a:r>
            <a:r>
              <a:rPr kumimoji="0" lang="fr-FR" sz="1600" b="0" i="0" u="sng" strike="noStrike" kern="1200" cap="none" spc="0" normalizeH="0" baseline="0" noProof="0" dirty="0" err="1">
                <a:ln>
                  <a:noFill/>
                </a:ln>
                <a:solidFill>
                  <a:schemeClr val="tx1"/>
                </a:solidFill>
                <a:effectLst/>
                <a:uLnTx/>
                <a:uFillTx/>
                <a:latin typeface="Yu Gothic" panose="020B0400000000000000" pitchFamily="34" charset="-128"/>
                <a:ea typeface="Yu Gothic" panose="020B0400000000000000" pitchFamily="34" charset="-128"/>
              </a:rPr>
              <a:t>atrice</a:t>
            </a:r>
            <a:r>
              <a:rPr kumimoji="0" lang="fr-FR" sz="1600" b="0" i="0" u="sng" strike="noStrike" kern="1200" cap="none" spc="0" normalizeH="0" baseline="0" noProof="0" dirty="0">
                <a:ln>
                  <a:noFill/>
                </a:ln>
                <a:solidFill>
                  <a:schemeClr val="tx1"/>
                </a:solidFill>
                <a:effectLst/>
                <a:uLnTx/>
                <a:uFillTx/>
                <a:latin typeface="Yu Gothic" panose="020B0400000000000000" pitchFamily="34" charset="-128"/>
                <a:ea typeface="Yu Gothic" panose="020B0400000000000000" pitchFamily="34" charset="-128"/>
              </a:rPr>
              <a:t> de Confusion </a:t>
            </a:r>
            <a:r>
              <a:rPr kumimoji="0" lang="fr-FR" sz="1600" b="0" i="0" u="none" strike="noStrike" kern="1200" cap="none" spc="0" normalizeH="0" baseline="0" noProof="0" dirty="0">
                <a:ln>
                  <a:noFill/>
                </a:ln>
                <a:solidFill>
                  <a:schemeClr val="tx1"/>
                </a:solidFill>
                <a:effectLst/>
                <a:uLnTx/>
                <a:uFillTx/>
                <a:latin typeface="Yu Gothic" panose="020B0400000000000000" pitchFamily="34" charset="-128"/>
                <a:ea typeface="Yu Gothic" panose="020B0400000000000000" pitchFamily="34" charset="-128"/>
              </a:rPr>
              <a:t>: représentation des erreurs</a:t>
            </a:r>
          </a:p>
          <a:p>
            <a:pPr marL="0" marR="0" lvl="0" indent="0" algn="l" defTabSz="457200" rtl="0" eaLnBrk="1" fontAlgn="auto" latinLnBrk="0" hangingPunct="1">
              <a:lnSpc>
                <a:spcPct val="100000"/>
              </a:lnSpc>
              <a:spcBef>
                <a:spcPts val="1000"/>
              </a:spcBef>
              <a:spcAft>
                <a:spcPts val="0"/>
              </a:spcAft>
              <a:buClr>
                <a:srgbClr val="B31166"/>
              </a:buClr>
              <a:buSzPct val="80000"/>
              <a:buNone/>
              <a:tabLst/>
              <a:defRPr/>
            </a:pPr>
            <a:endParaRPr kumimoji="0" lang="fr-FR" sz="1600" b="0" i="0" u="none" strike="noStrike" kern="1200" cap="none" spc="0" normalizeH="0" baseline="0" noProof="0" dirty="0">
              <a:ln>
                <a:noFill/>
              </a:ln>
              <a:solidFill>
                <a:schemeClr val="tx1"/>
              </a:solidFill>
              <a:effectLst/>
              <a:uLnTx/>
              <a:uFillTx/>
              <a:latin typeface="Yu Gothic" panose="020B0400000000000000" pitchFamily="34" charset="-128"/>
              <a:ea typeface="Yu Gothic" panose="020B0400000000000000" pitchFamily="34" charset="-128"/>
            </a:endParaRPr>
          </a:p>
          <a:p>
            <a:pPr marL="0" marR="0" lvl="0" indent="0" algn="l" defTabSz="457200" rtl="0" eaLnBrk="1" fontAlgn="auto" latinLnBrk="0" hangingPunct="1">
              <a:lnSpc>
                <a:spcPct val="100000"/>
              </a:lnSpc>
              <a:spcBef>
                <a:spcPts val="1000"/>
              </a:spcBef>
              <a:spcAft>
                <a:spcPts val="0"/>
              </a:spcAft>
              <a:buClr>
                <a:srgbClr val="B31166"/>
              </a:buClr>
              <a:buSzPct val="80000"/>
              <a:buNone/>
              <a:tabLst/>
              <a:defRPr/>
            </a:pPr>
            <a:r>
              <a:rPr kumimoji="0" lang="fr-FR" sz="1600" b="0" i="0" u="none" strike="noStrike" kern="1200" cap="none" spc="0" normalizeH="0" baseline="0" noProof="0" dirty="0">
                <a:ln>
                  <a:noFill/>
                </a:ln>
                <a:solidFill>
                  <a:schemeClr val="tx1"/>
                </a:solidFill>
                <a:effectLst/>
                <a:uLnTx/>
                <a:uFillTx/>
                <a:latin typeface="Yu Gothic" panose="020B0400000000000000" pitchFamily="34" charset="-128"/>
                <a:ea typeface="Yu Gothic" panose="020B0400000000000000" pitchFamily="34" charset="-128"/>
              </a:rPr>
              <a:t>                 </a:t>
            </a:r>
            <a:endParaRPr kumimoji="0" lang="fr-FR" sz="16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endParaRPr>
          </a:p>
          <a:p>
            <a:pPr marL="0" marR="0" lvl="0" indent="0" algn="l" defTabSz="457200" rtl="0" eaLnBrk="1" fontAlgn="auto" latinLnBrk="0" hangingPunct="1">
              <a:lnSpc>
                <a:spcPct val="100000"/>
              </a:lnSpc>
              <a:spcBef>
                <a:spcPts val="1000"/>
              </a:spcBef>
              <a:spcAft>
                <a:spcPts val="0"/>
              </a:spcAft>
              <a:buClrTx/>
              <a:buSzPct val="100000"/>
              <a:buFont typeface="Wingdings 3" charset="2"/>
              <a:buNone/>
              <a:tabLst/>
              <a:defRPr/>
            </a:pPr>
            <a:endParaRPr kumimoji="0" lang="fr-FR" sz="16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endParaRPr>
          </a:p>
          <a:p>
            <a:pPr marL="0" marR="0" lvl="0" indent="0" algn="l" defTabSz="457200" rtl="0" eaLnBrk="1" fontAlgn="auto" latinLnBrk="0" hangingPunct="1">
              <a:lnSpc>
                <a:spcPct val="100000"/>
              </a:lnSpc>
              <a:spcBef>
                <a:spcPts val="1000"/>
              </a:spcBef>
              <a:spcAft>
                <a:spcPts val="0"/>
              </a:spcAft>
              <a:buClrTx/>
              <a:buSzPct val="100000"/>
              <a:buFont typeface="Wingdings 3" charset="2"/>
              <a:buNone/>
              <a:tabLst/>
              <a:defRPr/>
            </a:pPr>
            <a:endParaRPr lang="fr-FR" sz="1600" dirty="0">
              <a:solidFill>
                <a:prstClr val="black">
                  <a:lumMod val="75000"/>
                  <a:lumOff val="25000"/>
                </a:prstClr>
              </a:solidFill>
              <a:latin typeface="Yu Gothic" panose="020B0400000000000000" pitchFamily="34" charset="-128"/>
              <a:ea typeface="Yu Gothic" panose="020B0400000000000000" pitchFamily="34" charset="-128"/>
            </a:endParaRPr>
          </a:p>
          <a:p>
            <a:pPr marL="0" marR="0" lvl="0" indent="0" algn="l" defTabSz="457200" rtl="0" eaLnBrk="1" fontAlgn="auto" latinLnBrk="0" hangingPunct="1">
              <a:lnSpc>
                <a:spcPct val="100000"/>
              </a:lnSpc>
              <a:spcBef>
                <a:spcPts val="1000"/>
              </a:spcBef>
              <a:spcAft>
                <a:spcPts val="0"/>
              </a:spcAft>
              <a:buClrTx/>
              <a:buSzPct val="100000"/>
              <a:buFont typeface="Wingdings 3" charset="2"/>
              <a:buNone/>
              <a:tabLst/>
              <a:defRPr/>
            </a:pPr>
            <a:endParaRPr lang="fr-FR" sz="1600" dirty="0">
              <a:solidFill>
                <a:prstClr val="black">
                  <a:lumMod val="75000"/>
                  <a:lumOff val="25000"/>
                </a:prstClr>
              </a:solidFill>
              <a:latin typeface="Yu Gothic" panose="020B0400000000000000" pitchFamily="34" charset="-128"/>
              <a:ea typeface="Yu Gothic" panose="020B0400000000000000" pitchFamily="34" charset="-128"/>
            </a:endParaRPr>
          </a:p>
          <a:p>
            <a:pPr marL="0" marR="0" lvl="0" indent="0" algn="l" defTabSz="457200" rtl="0" eaLnBrk="1" fontAlgn="auto" latinLnBrk="0" hangingPunct="1">
              <a:lnSpc>
                <a:spcPct val="100000"/>
              </a:lnSpc>
              <a:spcBef>
                <a:spcPts val="1000"/>
              </a:spcBef>
              <a:spcAft>
                <a:spcPts val="0"/>
              </a:spcAft>
              <a:buClrTx/>
              <a:buSzPct val="100000"/>
              <a:buFont typeface="Wingdings 3" charset="2"/>
              <a:buNone/>
              <a:tabLst/>
              <a:defRPr/>
            </a:pPr>
            <a:r>
              <a:rPr kumimoji="0" lang="fr-FR" sz="1400" b="1" i="0" u="none" strike="noStrike" kern="1200" cap="none" spc="0" normalizeH="0" baseline="0" noProof="0" dirty="0">
                <a:ln>
                  <a:noFill/>
                </a:ln>
                <a:solidFill>
                  <a:schemeClr val="tx1"/>
                </a:solidFill>
                <a:effectLst/>
                <a:uLnTx/>
                <a:uFillTx/>
                <a:latin typeface="Yu Gothic" panose="020B0400000000000000" pitchFamily="34" charset="-128"/>
                <a:ea typeface="Yu Gothic" panose="020B0400000000000000" pitchFamily="34" charset="-128"/>
              </a:rPr>
              <a:t>• Classe 0 = Solvabilité (Négatif au refus de l’accord de prêt)</a:t>
            </a:r>
          </a:p>
          <a:p>
            <a:pPr marL="0" marR="0" lvl="0" indent="0" algn="l" defTabSz="457200" rtl="0" eaLnBrk="1" fontAlgn="auto" latinLnBrk="0" hangingPunct="1">
              <a:lnSpc>
                <a:spcPct val="100000"/>
              </a:lnSpc>
              <a:spcBef>
                <a:spcPts val="1000"/>
              </a:spcBef>
              <a:spcAft>
                <a:spcPts val="0"/>
              </a:spcAft>
              <a:buClrTx/>
              <a:buSzPct val="100000"/>
              <a:buFont typeface="Wingdings 3" charset="2"/>
              <a:buNone/>
              <a:tabLst/>
              <a:defRPr/>
            </a:pPr>
            <a:r>
              <a:rPr kumimoji="0" lang="fr-FR" sz="1400" b="1" i="0" u="none" strike="noStrike" kern="1200" cap="none" spc="0" normalizeH="0" baseline="0" noProof="0" dirty="0">
                <a:ln>
                  <a:noFill/>
                </a:ln>
                <a:solidFill>
                  <a:schemeClr val="tx1"/>
                </a:solidFill>
                <a:effectLst/>
                <a:uLnTx/>
                <a:uFillTx/>
                <a:latin typeface="Yu Gothic" panose="020B0400000000000000" pitchFamily="34" charset="-128"/>
                <a:ea typeface="Yu Gothic" panose="020B0400000000000000" pitchFamily="34" charset="-128"/>
              </a:rPr>
              <a:t>• Classe 1= Difficulté de paiement (Positif au refus de l’accord de prêt)</a:t>
            </a:r>
          </a:p>
          <a:p>
            <a:pPr marL="0" marR="0" lvl="0" indent="0" algn="l" defTabSz="457200" rtl="0" eaLnBrk="1" fontAlgn="auto" latinLnBrk="0" hangingPunct="1">
              <a:lnSpc>
                <a:spcPct val="100000"/>
              </a:lnSpc>
              <a:spcBef>
                <a:spcPts val="1000"/>
              </a:spcBef>
              <a:spcAft>
                <a:spcPts val="0"/>
              </a:spcAft>
              <a:buClrTx/>
              <a:buSzPct val="100000"/>
              <a:buFont typeface="Wingdings 3" charset="2"/>
              <a:buNone/>
              <a:tabLst/>
              <a:defRPr/>
            </a:pPr>
            <a:endParaRPr kumimoji="0" lang="fr-FR" sz="1400" b="1" i="0" u="none" strike="noStrike" kern="1200" cap="none" spc="0" normalizeH="0" baseline="0" noProof="0" dirty="0">
              <a:ln>
                <a:noFill/>
              </a:ln>
              <a:solidFill>
                <a:schemeClr val="tx1"/>
              </a:solidFill>
              <a:effectLst/>
              <a:uLnTx/>
              <a:uFillTx/>
              <a:latin typeface="Yu Gothic" panose="020B0400000000000000" pitchFamily="34" charset="-128"/>
              <a:ea typeface="Yu Gothic" panose="020B0400000000000000" pitchFamily="34" charset="-128"/>
            </a:endParaRPr>
          </a:p>
          <a:p>
            <a:pPr marL="0" indent="0">
              <a:lnSpc>
                <a:spcPct val="200000"/>
              </a:lnSpc>
              <a:buNone/>
            </a:pPr>
            <a:endParaRPr lang="fr-FR" b="1" dirty="0">
              <a:solidFill>
                <a:srgbClr val="000000"/>
              </a:solidFill>
              <a:latin typeface="Yu Gothic" panose="020B0400000000000000" pitchFamily="34" charset="-128"/>
              <a:ea typeface="Yu Gothic" panose="020B0400000000000000" pitchFamily="34" charset="-128"/>
            </a:endParaRPr>
          </a:p>
          <a:p>
            <a:pPr marL="0" indent="0">
              <a:lnSpc>
                <a:spcPct val="200000"/>
              </a:lnSpc>
              <a:buNone/>
            </a:pPr>
            <a:endParaRPr lang="fr-FR" b="1" dirty="0">
              <a:solidFill>
                <a:srgbClr val="000000"/>
              </a:solidFill>
              <a:latin typeface="Yu Gothic" panose="020B0400000000000000" pitchFamily="34" charset="-128"/>
              <a:ea typeface="Yu Gothic" panose="020B0400000000000000" pitchFamily="34" charset="-128"/>
            </a:endParaRPr>
          </a:p>
          <a:p>
            <a:pPr marL="0" indent="0">
              <a:lnSpc>
                <a:spcPct val="200000"/>
              </a:lnSpc>
              <a:buNone/>
            </a:pPr>
            <a:endParaRPr lang="fr-FR" b="1" dirty="0">
              <a:solidFill>
                <a:srgbClr val="000000"/>
              </a:solidFill>
              <a:latin typeface="Yu Gothic" panose="020B0400000000000000" pitchFamily="34" charset="-128"/>
              <a:ea typeface="Yu Gothic" panose="020B0400000000000000" pitchFamily="34" charset="-128"/>
            </a:endParaRPr>
          </a:p>
          <a:p>
            <a:pPr marL="0" indent="0">
              <a:lnSpc>
                <a:spcPct val="200000"/>
              </a:lnSpc>
              <a:buNone/>
            </a:pPr>
            <a:endParaRPr lang="fr-FR" sz="1800" b="1" i="0" u="none" strike="noStrike" baseline="0" dirty="0">
              <a:solidFill>
                <a:srgbClr val="000000"/>
              </a:solidFill>
              <a:latin typeface="Yu Gothic" panose="020B0400000000000000" pitchFamily="34" charset="-128"/>
              <a:ea typeface="Yu Gothic" panose="020B0400000000000000" pitchFamily="34" charset="-128"/>
            </a:endParaRPr>
          </a:p>
          <a:p>
            <a:pPr marL="0" indent="0">
              <a:lnSpc>
                <a:spcPct val="200000"/>
              </a:lnSpc>
              <a:buNone/>
            </a:pPr>
            <a:endParaRPr lang="fr-FR" b="1" dirty="0">
              <a:solidFill>
                <a:srgbClr val="000000"/>
              </a:solidFill>
              <a:latin typeface="Yu Gothic" panose="020B0400000000000000" pitchFamily="34" charset="-128"/>
              <a:ea typeface="Yu Gothic" panose="020B0400000000000000" pitchFamily="34" charset="-128"/>
            </a:endParaRPr>
          </a:p>
          <a:p>
            <a:pPr marL="0" indent="0">
              <a:buNone/>
            </a:pPr>
            <a:endParaRPr lang="fr-FR" dirty="0">
              <a:latin typeface="Yu Gothic" panose="020B0400000000000000" pitchFamily="34" charset="-128"/>
              <a:ea typeface="Yu Gothic" panose="020B0400000000000000" pitchFamily="34" charset="-128"/>
            </a:endParaRPr>
          </a:p>
        </p:txBody>
      </p:sp>
      <p:sp>
        <p:nvSpPr>
          <p:cNvPr id="6" name="Espace réservé du pied de page 5">
            <a:extLst>
              <a:ext uri="{FF2B5EF4-FFF2-40B4-BE49-F238E27FC236}">
                <a16:creationId xmlns:a16="http://schemas.microsoft.com/office/drawing/2014/main" id="{221F0F30-C850-1326-4EDF-BFB7C851784B}"/>
              </a:ext>
            </a:extLst>
          </p:cNvPr>
          <p:cNvSpPr>
            <a:spLocks noGrp="1"/>
          </p:cNvSpPr>
          <p:nvPr>
            <p:ph type="ftr" sz="quarter" idx="11"/>
          </p:nvPr>
        </p:nvSpPr>
        <p:spPr>
          <a:xfrm>
            <a:off x="11542426" y="6415792"/>
            <a:ext cx="560882" cy="310896"/>
          </a:xfrm>
        </p:spPr>
        <p:txBody>
          <a:bodyPr/>
          <a:lstStyle/>
          <a:p>
            <a:r>
              <a:rPr lang="en-US" sz="2000" dirty="0"/>
              <a:t>10</a:t>
            </a:r>
          </a:p>
        </p:txBody>
      </p:sp>
      <p:graphicFrame>
        <p:nvGraphicFramePr>
          <p:cNvPr id="13" name="Tableau 12">
            <a:extLst>
              <a:ext uri="{FF2B5EF4-FFF2-40B4-BE49-F238E27FC236}">
                <a16:creationId xmlns:a16="http://schemas.microsoft.com/office/drawing/2014/main" id="{2BDF0D6B-C54F-46DF-332E-AC67F9CB195E}"/>
              </a:ext>
            </a:extLst>
          </p:cNvPr>
          <p:cNvGraphicFramePr>
            <a:graphicFrameLocks noGrp="1"/>
          </p:cNvGraphicFramePr>
          <p:nvPr>
            <p:extLst>
              <p:ext uri="{D42A27DB-BD31-4B8C-83A1-F6EECF244321}">
                <p14:modId xmlns:p14="http://schemas.microsoft.com/office/powerpoint/2010/main" val="1368694321"/>
              </p:ext>
            </p:extLst>
          </p:nvPr>
        </p:nvGraphicFramePr>
        <p:xfrm>
          <a:off x="257749" y="4694738"/>
          <a:ext cx="2964130" cy="770489"/>
        </p:xfrm>
        <a:graphic>
          <a:graphicData uri="http://schemas.openxmlformats.org/drawingml/2006/table">
            <a:tbl>
              <a:tblPr/>
              <a:tblGrid>
                <a:gridCol w="1482065">
                  <a:extLst>
                    <a:ext uri="{9D8B030D-6E8A-4147-A177-3AD203B41FA5}">
                      <a16:colId xmlns:a16="http://schemas.microsoft.com/office/drawing/2014/main" val="1410585880"/>
                    </a:ext>
                  </a:extLst>
                </a:gridCol>
                <a:gridCol w="1482065">
                  <a:extLst>
                    <a:ext uri="{9D8B030D-6E8A-4147-A177-3AD203B41FA5}">
                      <a16:colId xmlns:a16="http://schemas.microsoft.com/office/drawing/2014/main" val="2932079408"/>
                    </a:ext>
                  </a:extLst>
                </a:gridCol>
              </a:tblGrid>
              <a:tr h="423792">
                <a:tc rowSpan="2">
                  <a:txBody>
                    <a:bodyPr/>
                    <a:lstStyle/>
                    <a:p>
                      <a:endParaRPr lang="fr-FR" sz="1400" b="1" dirty="0"/>
                    </a:p>
                    <a:p>
                      <a:r>
                        <a:rPr lang="fr-FR" sz="1400" b="1" dirty="0">
                          <a:latin typeface="Yu Gothic" panose="020B0400000000000000" pitchFamily="34" charset="-128"/>
                          <a:ea typeface="Yu Gothic" panose="020B0400000000000000" pitchFamily="34" charset="-128"/>
                        </a:rPr>
                        <a:t>Classe réelle</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lstStyle/>
                    <a:p>
                      <a:r>
                        <a:rPr lang="fr-FR" sz="1400" dirty="0">
                          <a:latin typeface="Yu Gothic" panose="020B0400000000000000" pitchFamily="34" charset="-128"/>
                          <a:ea typeface="Yu Gothic" panose="020B0400000000000000" pitchFamily="34" charset="-128"/>
                        </a:rPr>
                        <a:t>Négatif (0)</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945490560"/>
                  </a:ext>
                </a:extLst>
              </a:tr>
              <a:tr h="346697">
                <a:tc vMerge="1">
                  <a:txBody>
                    <a:bodyPr/>
                    <a:lstStyle/>
                    <a:p>
                      <a:endParaRPr dirty="0"/>
                    </a:p>
                  </a:txBody>
                  <a:tcP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r>
                        <a:rPr lang="fr-FR" sz="1400" dirty="0">
                          <a:latin typeface="Yu Gothic" panose="020B0400000000000000" pitchFamily="34" charset="-128"/>
                          <a:ea typeface="Yu Gothic" panose="020B0400000000000000" pitchFamily="34" charset="-128"/>
                        </a:rPr>
                        <a:t>Positif (1)</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2781686176"/>
                  </a:ext>
                </a:extLst>
              </a:tr>
            </a:tbl>
          </a:graphicData>
        </a:graphic>
      </p:graphicFrame>
      <p:graphicFrame>
        <p:nvGraphicFramePr>
          <p:cNvPr id="14" name="Tableau 13">
            <a:extLst>
              <a:ext uri="{FF2B5EF4-FFF2-40B4-BE49-F238E27FC236}">
                <a16:creationId xmlns:a16="http://schemas.microsoft.com/office/drawing/2014/main" id="{B7C74353-B89E-B5B2-F39D-5ACF1CF6B554}"/>
              </a:ext>
            </a:extLst>
          </p:cNvPr>
          <p:cNvGraphicFramePr>
            <a:graphicFrameLocks noGrp="1"/>
          </p:cNvGraphicFramePr>
          <p:nvPr>
            <p:extLst>
              <p:ext uri="{D42A27DB-BD31-4B8C-83A1-F6EECF244321}">
                <p14:modId xmlns:p14="http://schemas.microsoft.com/office/powerpoint/2010/main" val="2902487585"/>
              </p:ext>
            </p:extLst>
          </p:nvPr>
        </p:nvGraphicFramePr>
        <p:xfrm>
          <a:off x="3221879" y="3992846"/>
          <a:ext cx="2571367" cy="1472381"/>
        </p:xfrm>
        <a:graphic>
          <a:graphicData uri="http://schemas.openxmlformats.org/drawingml/2006/table">
            <a:tbl>
              <a:tblPr/>
              <a:tblGrid>
                <a:gridCol w="1233443">
                  <a:extLst>
                    <a:ext uri="{9D8B030D-6E8A-4147-A177-3AD203B41FA5}">
                      <a16:colId xmlns:a16="http://schemas.microsoft.com/office/drawing/2014/main" val="446712727"/>
                    </a:ext>
                  </a:extLst>
                </a:gridCol>
                <a:gridCol w="1337924">
                  <a:extLst>
                    <a:ext uri="{9D8B030D-6E8A-4147-A177-3AD203B41FA5}">
                      <a16:colId xmlns:a16="http://schemas.microsoft.com/office/drawing/2014/main" val="3334556229"/>
                    </a:ext>
                  </a:extLst>
                </a:gridCol>
              </a:tblGrid>
              <a:tr h="0">
                <a:tc gridSpan="2">
                  <a:txBody>
                    <a:bodyPr/>
                    <a:lstStyle/>
                    <a:p>
                      <a:r>
                        <a:rPr lang="fr-FR" sz="1400" b="1" dirty="0"/>
                        <a:t>          </a:t>
                      </a:r>
                      <a:r>
                        <a:rPr lang="fr-FR" sz="1400" b="1" dirty="0">
                          <a:latin typeface="Yu Gothic" panose="020B0400000000000000" pitchFamily="34" charset="-128"/>
                          <a:ea typeface="Yu Gothic" panose="020B0400000000000000" pitchFamily="34" charset="-128"/>
                        </a:rPr>
                        <a:t>Classe prédite</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hMerge="1">
                  <a:txBody>
                    <a:bodyPr/>
                    <a:lstStyle/>
                    <a:p>
                      <a:endParaRPr lang="fr-FR"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4295045"/>
                  </a:ext>
                </a:extLst>
              </a:tr>
              <a:tr h="39622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mn-cs"/>
                        </a:rPr>
                        <a:t>Négatif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mn-cs"/>
                        </a:rPr>
                        <a:t>Positif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6378620"/>
                  </a:ext>
                </a:extLst>
              </a:tr>
              <a:tr h="408286">
                <a:tc>
                  <a:txBody>
                    <a:bodyPr/>
                    <a:lstStyle/>
                    <a:p>
                      <a:r>
                        <a:rPr lang="fr-FR" sz="1400" dirty="0">
                          <a:latin typeface="Yu Gothic" panose="020B0400000000000000" pitchFamily="34" charset="-128"/>
                          <a:ea typeface="Yu Gothic" panose="020B0400000000000000" pitchFamily="34" charset="-128"/>
                        </a:rPr>
                        <a:t>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400" dirty="0">
                          <a:latin typeface="Yu Gothic" panose="020B0400000000000000" pitchFamily="34" charset="-128"/>
                          <a:ea typeface="Yu Gothic" panose="020B0400000000000000" pitchFamily="34" charset="-128"/>
                        </a:rPr>
                        <a:t>FP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1581741"/>
                  </a:ext>
                </a:extLst>
              </a:tr>
              <a:tr h="363069">
                <a:tc>
                  <a:txBody>
                    <a:bodyPr/>
                    <a:lstStyle/>
                    <a:p>
                      <a:r>
                        <a:rPr lang="fr-FR" sz="1400" dirty="0">
                          <a:latin typeface="Yu Gothic" panose="020B0400000000000000" pitchFamily="34" charset="-128"/>
                          <a:ea typeface="Yu Gothic" panose="020B0400000000000000" pitchFamily="34" charset="-128"/>
                        </a:rPr>
                        <a:t>FN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400" dirty="0">
                          <a:latin typeface="Yu Gothic" panose="020B0400000000000000" pitchFamily="34" charset="-128"/>
                          <a:ea typeface="Yu Gothic" panose="020B0400000000000000" pitchFamily="34" charset="-128"/>
                        </a:rPr>
                        <a:t>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4951928"/>
                  </a:ext>
                </a:extLst>
              </a:tr>
            </a:tbl>
          </a:graphicData>
        </a:graphic>
      </p:graphicFrame>
      <p:cxnSp>
        <p:nvCxnSpPr>
          <p:cNvPr id="18" name="Connecteur : en angle 17">
            <a:extLst>
              <a:ext uri="{FF2B5EF4-FFF2-40B4-BE49-F238E27FC236}">
                <a16:creationId xmlns:a16="http://schemas.microsoft.com/office/drawing/2014/main" id="{87422D76-590C-FA83-37B8-437EB85A80CB}"/>
              </a:ext>
            </a:extLst>
          </p:cNvPr>
          <p:cNvCxnSpPr>
            <a:cxnSpLocks/>
          </p:cNvCxnSpPr>
          <p:nvPr/>
        </p:nvCxnSpPr>
        <p:spPr>
          <a:xfrm>
            <a:off x="326800" y="1244953"/>
            <a:ext cx="546185" cy="196381"/>
          </a:xfrm>
          <a:prstGeom prst="bentConnector3">
            <a:avLst/>
          </a:prstGeom>
          <a:ln>
            <a:tailEnd type="triangle"/>
          </a:ln>
        </p:spPr>
        <p:style>
          <a:lnRef idx="3">
            <a:schemeClr val="accent6"/>
          </a:lnRef>
          <a:fillRef idx="0">
            <a:schemeClr val="accent6"/>
          </a:fillRef>
          <a:effectRef idx="2">
            <a:schemeClr val="accent6"/>
          </a:effectRef>
          <a:fontRef idx="minor">
            <a:schemeClr val="tx1"/>
          </a:fontRef>
        </p:style>
      </p:cxnSp>
      <p:pic>
        <p:nvPicPr>
          <p:cNvPr id="19" name="Image 18">
            <a:extLst>
              <a:ext uri="{FF2B5EF4-FFF2-40B4-BE49-F238E27FC236}">
                <a16:creationId xmlns:a16="http://schemas.microsoft.com/office/drawing/2014/main" id="{813FB096-B459-F98B-A0DA-85B4F183AEE6}"/>
              </a:ext>
            </a:extLst>
          </p:cNvPr>
          <p:cNvPicPr>
            <a:picLocks noChangeAspect="1"/>
          </p:cNvPicPr>
          <p:nvPr/>
        </p:nvPicPr>
        <p:blipFill>
          <a:blip r:embed="rId2"/>
          <a:stretch>
            <a:fillRect/>
          </a:stretch>
        </p:blipFill>
        <p:spPr>
          <a:xfrm>
            <a:off x="326800" y="3476077"/>
            <a:ext cx="737680" cy="390178"/>
          </a:xfrm>
          <a:prstGeom prst="rect">
            <a:avLst/>
          </a:prstGeom>
        </p:spPr>
      </p:pic>
      <p:pic>
        <p:nvPicPr>
          <p:cNvPr id="20" name="Image 19">
            <a:extLst>
              <a:ext uri="{FF2B5EF4-FFF2-40B4-BE49-F238E27FC236}">
                <a16:creationId xmlns:a16="http://schemas.microsoft.com/office/drawing/2014/main" id="{F19802F4-0154-EFE1-D384-6909F2D97C43}"/>
              </a:ext>
            </a:extLst>
          </p:cNvPr>
          <p:cNvPicPr>
            <a:picLocks noChangeAspect="1"/>
          </p:cNvPicPr>
          <p:nvPr/>
        </p:nvPicPr>
        <p:blipFill>
          <a:blip r:embed="rId3"/>
          <a:stretch>
            <a:fillRect/>
          </a:stretch>
        </p:blipFill>
        <p:spPr>
          <a:xfrm>
            <a:off x="6376252" y="852474"/>
            <a:ext cx="4387893" cy="1642256"/>
          </a:xfrm>
          <a:prstGeom prst="rect">
            <a:avLst/>
          </a:prstGeom>
          <a:ln>
            <a:noFill/>
          </a:ln>
          <a:effectLst>
            <a:outerShdw blurRad="190500" algn="tl" rotWithShape="0">
              <a:srgbClr val="000000">
                <a:alpha val="70000"/>
              </a:srgbClr>
            </a:outerShdw>
          </a:effectLst>
        </p:spPr>
      </p:pic>
      <p:cxnSp>
        <p:nvCxnSpPr>
          <p:cNvPr id="22" name="Connecteur droit 21">
            <a:extLst>
              <a:ext uri="{FF2B5EF4-FFF2-40B4-BE49-F238E27FC236}">
                <a16:creationId xmlns:a16="http://schemas.microsoft.com/office/drawing/2014/main" id="{8819B175-5911-E8E8-06B8-12A52C63604A}"/>
              </a:ext>
            </a:extLst>
          </p:cNvPr>
          <p:cNvCxnSpPr>
            <a:cxnSpLocks/>
          </p:cNvCxnSpPr>
          <p:nvPr/>
        </p:nvCxnSpPr>
        <p:spPr>
          <a:xfrm>
            <a:off x="6376252" y="3025498"/>
            <a:ext cx="0" cy="3756617"/>
          </a:xfrm>
          <a:prstGeom prst="line">
            <a:avLst/>
          </a:prstGeom>
        </p:spPr>
        <p:style>
          <a:lnRef idx="3">
            <a:schemeClr val="dk1"/>
          </a:lnRef>
          <a:fillRef idx="0">
            <a:schemeClr val="dk1"/>
          </a:fillRef>
          <a:effectRef idx="2">
            <a:schemeClr val="dk1"/>
          </a:effectRef>
          <a:fontRef idx="minor">
            <a:schemeClr val="tx1"/>
          </a:fontRef>
        </p:style>
      </p:cxnSp>
      <p:graphicFrame>
        <p:nvGraphicFramePr>
          <p:cNvPr id="23" name="Tableau 22">
            <a:extLst>
              <a:ext uri="{FF2B5EF4-FFF2-40B4-BE49-F238E27FC236}">
                <a16:creationId xmlns:a16="http://schemas.microsoft.com/office/drawing/2014/main" id="{802A8E0E-E013-5022-9D64-959FDB334751}"/>
              </a:ext>
            </a:extLst>
          </p:cNvPr>
          <p:cNvGraphicFramePr>
            <a:graphicFrameLocks noGrp="1"/>
          </p:cNvGraphicFramePr>
          <p:nvPr>
            <p:extLst>
              <p:ext uri="{D42A27DB-BD31-4B8C-83A1-F6EECF244321}">
                <p14:modId xmlns:p14="http://schemas.microsoft.com/office/powerpoint/2010/main" val="2963930510"/>
              </p:ext>
            </p:extLst>
          </p:nvPr>
        </p:nvGraphicFramePr>
        <p:xfrm>
          <a:off x="6609455" y="4142416"/>
          <a:ext cx="5406621" cy="2135648"/>
        </p:xfrm>
        <a:graphic>
          <a:graphicData uri="http://schemas.openxmlformats.org/drawingml/2006/table">
            <a:tbl>
              <a:tblPr/>
              <a:tblGrid>
                <a:gridCol w="537385">
                  <a:extLst>
                    <a:ext uri="{9D8B030D-6E8A-4147-A177-3AD203B41FA5}">
                      <a16:colId xmlns:a16="http://schemas.microsoft.com/office/drawing/2014/main" val="527338466"/>
                    </a:ext>
                  </a:extLst>
                </a:gridCol>
                <a:gridCol w="4869236">
                  <a:extLst>
                    <a:ext uri="{9D8B030D-6E8A-4147-A177-3AD203B41FA5}">
                      <a16:colId xmlns:a16="http://schemas.microsoft.com/office/drawing/2014/main" val="778890087"/>
                    </a:ext>
                  </a:extLst>
                </a:gridCol>
              </a:tblGrid>
              <a:tr h="533912">
                <a:tc>
                  <a:txBody>
                    <a:bodyPr/>
                    <a:lstStyle/>
                    <a:p>
                      <a:r>
                        <a:rPr lang="fr-FR" b="1" dirty="0">
                          <a:solidFill>
                            <a:srgbClr val="00B050"/>
                          </a:solidFill>
                          <a:latin typeface="Yu Gothic" panose="020B0400000000000000" pitchFamily="34" charset="-128"/>
                          <a:ea typeface="Yu Gothic" panose="020B0400000000000000" pitchFamily="34" charset="-128"/>
                        </a:rPr>
                        <a:t>TN</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fr-FR" sz="1200" dirty="0"/>
                        <a:t>bon client prédit bon client : donc crédit accordé à un client qui  remboursera = </a:t>
                      </a:r>
                      <a:r>
                        <a:rPr lang="fr-FR" sz="1200" b="1" dirty="0">
                          <a:solidFill>
                            <a:srgbClr val="00B050"/>
                          </a:solidFill>
                        </a:rPr>
                        <a:t>gain</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5859021"/>
                  </a:ext>
                </a:extLst>
              </a:tr>
              <a:tr h="533912">
                <a:tc>
                  <a:txBody>
                    <a:bodyPr/>
                    <a:lstStyle/>
                    <a:p>
                      <a:r>
                        <a:rPr lang="fr-FR" b="1" dirty="0">
                          <a:solidFill>
                            <a:schemeClr val="accent3"/>
                          </a:solidFill>
                          <a:latin typeface="Yu Gothic" panose="020B0400000000000000" pitchFamily="34" charset="-128"/>
                          <a:ea typeface="Yu Gothic" panose="020B0400000000000000" pitchFamily="34" charset="-128"/>
                        </a:rPr>
                        <a:t>FP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200" dirty="0"/>
                        <a:t>bon client prédit mauvais client : donc refus crédit et </a:t>
                      </a:r>
                      <a:r>
                        <a:rPr lang="fr-FR" sz="1200" b="1" dirty="0">
                          <a:solidFill>
                            <a:schemeClr val="accent3"/>
                          </a:solidFill>
                        </a:rPr>
                        <a:t>manque à gagner en capital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5209545"/>
                  </a:ext>
                </a:extLst>
              </a:tr>
              <a:tr h="533912">
                <a:tc>
                  <a:txBody>
                    <a:bodyPr/>
                    <a:lstStyle/>
                    <a:p>
                      <a:r>
                        <a:rPr lang="fr-FR" b="1" dirty="0">
                          <a:solidFill>
                            <a:srgbClr val="FF0000"/>
                          </a:solidFill>
                          <a:latin typeface="Yu Gothic" panose="020B0400000000000000" pitchFamily="34" charset="-128"/>
                          <a:ea typeface="Yu Gothic" panose="020B0400000000000000" pitchFamily="34" charset="-128"/>
                        </a:rPr>
                        <a:t>FN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200" dirty="0"/>
                        <a:t>mauvais client prédit bon client : donc crédit accordé et </a:t>
                      </a:r>
                      <a:r>
                        <a:rPr lang="fr-FR" sz="1200" b="1" dirty="0">
                          <a:solidFill>
                            <a:srgbClr val="FF0000"/>
                          </a:solidFill>
                        </a:rPr>
                        <a:t>perte en capital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9515170"/>
                  </a:ext>
                </a:extLst>
              </a:tr>
              <a:tr h="533912">
                <a:tc>
                  <a:txBody>
                    <a:bodyPr/>
                    <a:lstStyle/>
                    <a:p>
                      <a:r>
                        <a:rPr lang="fr-FR" b="1" dirty="0">
                          <a:solidFill>
                            <a:srgbClr val="7030A0"/>
                          </a:solidFill>
                          <a:latin typeface="Yu Gothic" panose="020B0400000000000000" pitchFamily="34" charset="-128"/>
                          <a:ea typeface="Yu Gothic" panose="020B0400000000000000" pitchFamily="34" charset="-128"/>
                        </a:rPr>
                        <a:t>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r>
                        <a:rPr lang="fr-FR" sz="1200" dirty="0"/>
                        <a:t>mauvais client prédit mauvais client : donc refus crédit à un client qui ne pourra pas le rembourser = </a:t>
                      </a:r>
                      <a:r>
                        <a:rPr lang="fr-FR" sz="1200" b="1" dirty="0">
                          <a:solidFill>
                            <a:schemeClr val="accent5">
                              <a:lumMod val="50000"/>
                            </a:schemeClr>
                          </a:solidFill>
                        </a:rPr>
                        <a:t>ni perte, ni gain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3907454"/>
                  </a:ext>
                </a:extLst>
              </a:tr>
            </a:tbl>
          </a:graphicData>
        </a:graphic>
      </p:graphicFrame>
      <p:graphicFrame>
        <p:nvGraphicFramePr>
          <p:cNvPr id="24" name="Tableau 23">
            <a:extLst>
              <a:ext uri="{FF2B5EF4-FFF2-40B4-BE49-F238E27FC236}">
                <a16:creationId xmlns:a16="http://schemas.microsoft.com/office/drawing/2014/main" id="{5A0959FD-5F9E-D18D-81B1-6BD05724F5DD}"/>
              </a:ext>
            </a:extLst>
          </p:cNvPr>
          <p:cNvGraphicFramePr>
            <a:graphicFrameLocks noGrp="1"/>
          </p:cNvGraphicFramePr>
          <p:nvPr>
            <p:extLst>
              <p:ext uri="{D42A27DB-BD31-4B8C-83A1-F6EECF244321}">
                <p14:modId xmlns:p14="http://schemas.microsoft.com/office/powerpoint/2010/main" val="2805183563"/>
              </p:ext>
            </p:extLst>
          </p:nvPr>
        </p:nvGraphicFramePr>
        <p:xfrm>
          <a:off x="7155650" y="3602368"/>
          <a:ext cx="4860426" cy="527774"/>
        </p:xfrm>
        <a:graphic>
          <a:graphicData uri="http://schemas.openxmlformats.org/drawingml/2006/table">
            <a:tbl>
              <a:tblPr/>
              <a:tblGrid>
                <a:gridCol w="4860426">
                  <a:extLst>
                    <a:ext uri="{9D8B030D-6E8A-4147-A177-3AD203B41FA5}">
                      <a16:colId xmlns:a16="http://schemas.microsoft.com/office/drawing/2014/main" val="2742478925"/>
                    </a:ext>
                  </a:extLst>
                </a:gridCol>
              </a:tblGrid>
              <a:tr h="527774">
                <a:tc>
                  <a:txBody>
                    <a:bodyPr/>
                    <a:lstStyle/>
                    <a:p>
                      <a:r>
                        <a:rPr lang="fr-FR" b="1" dirty="0">
                          <a:latin typeface="Yu Gothic" panose="020B0400000000000000" pitchFamily="34" charset="-128"/>
                          <a:ea typeface="Yu Gothic" panose="020B0400000000000000" pitchFamily="34" charset="-128"/>
                        </a:rPr>
                        <a:t>                        Prédictions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52587620"/>
                  </a:ext>
                </a:extLst>
              </a:tr>
            </a:tbl>
          </a:graphicData>
        </a:graphic>
      </p:graphicFrame>
    </p:spTree>
    <p:extLst>
      <p:ext uri="{BB962C8B-B14F-4D97-AF65-F5344CB8AC3E}">
        <p14:creationId xmlns:p14="http://schemas.microsoft.com/office/powerpoint/2010/main" val="2649625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238C41-1E26-A9E1-AB6E-3DFA8F2E2990}"/>
              </a:ext>
            </a:extLst>
          </p:cNvPr>
          <p:cNvSpPr>
            <a:spLocks noGrp="1"/>
          </p:cNvSpPr>
          <p:nvPr>
            <p:ph type="title"/>
          </p:nvPr>
        </p:nvSpPr>
        <p:spPr>
          <a:xfrm>
            <a:off x="0" y="0"/>
            <a:ext cx="12192000" cy="697043"/>
          </a:xfrm>
          <a:solidFill>
            <a:schemeClr val="tx2"/>
          </a:solidFill>
        </p:spPr>
        <p:txBody>
          <a:bodyPr/>
          <a:lstStyle/>
          <a:p>
            <a:r>
              <a:rPr lang="fr-FR" b="1" dirty="0">
                <a:solidFill>
                  <a:schemeClr val="accent4"/>
                </a:solidFill>
                <a:latin typeface="Yu Gothic" panose="020B0400000000000000" pitchFamily="34" charset="-128"/>
                <a:ea typeface="Yu Gothic" panose="020B0400000000000000" pitchFamily="34" charset="-128"/>
              </a:rPr>
              <a:t>Traitement du déséquilibre des classes</a:t>
            </a:r>
            <a:endParaRPr lang="fr-FR" dirty="0"/>
          </a:p>
        </p:txBody>
      </p:sp>
      <p:sp>
        <p:nvSpPr>
          <p:cNvPr id="3" name="Espace réservé du contenu 2">
            <a:extLst>
              <a:ext uri="{FF2B5EF4-FFF2-40B4-BE49-F238E27FC236}">
                <a16:creationId xmlns:a16="http://schemas.microsoft.com/office/drawing/2014/main" id="{00A57734-4ADB-6ED3-F6ED-E05353053C70}"/>
              </a:ext>
            </a:extLst>
          </p:cNvPr>
          <p:cNvSpPr>
            <a:spLocks noGrp="1"/>
          </p:cNvSpPr>
          <p:nvPr>
            <p:ph idx="1"/>
          </p:nvPr>
        </p:nvSpPr>
        <p:spPr>
          <a:xfrm>
            <a:off x="0" y="697043"/>
            <a:ext cx="12192000" cy="6160957"/>
          </a:xfrm>
          <a:solidFill>
            <a:schemeClr val="bg1"/>
          </a:solidFill>
        </p:spPr>
        <p:txBody>
          <a:bodyPr>
            <a:normAutofit/>
          </a:bodyPr>
          <a:lstStyle/>
          <a:p>
            <a:pPr marL="0" lvl="0" indent="0">
              <a:buClrTx/>
              <a:buSzPct val="100000"/>
              <a:buNone/>
              <a:defRPr/>
            </a:pPr>
            <a:r>
              <a:rPr lang="fr-FR" sz="1900" b="1" dirty="0">
                <a:solidFill>
                  <a:srgbClr val="E33D6F"/>
                </a:solidFill>
                <a:latin typeface="Yu Gothic" panose="020B0400000000000000" pitchFamily="34" charset="-128"/>
                <a:ea typeface="Yu Gothic" panose="020B0400000000000000" pitchFamily="34" charset="-128"/>
              </a:rPr>
              <a:t>	</a:t>
            </a:r>
          </a:p>
          <a:p>
            <a:pPr marL="0" lvl="0" indent="0">
              <a:buClrTx/>
              <a:buSzPct val="100000"/>
              <a:buNone/>
              <a:defRPr/>
            </a:pPr>
            <a:r>
              <a:rPr lang="fr-FR" sz="1900" b="1" dirty="0">
                <a:solidFill>
                  <a:schemeClr val="accent1"/>
                </a:solidFill>
                <a:highlight>
                  <a:srgbClr val="C0C0C0"/>
                </a:highlight>
                <a:latin typeface="Yu Gothic" panose="020B0400000000000000" pitchFamily="34" charset="-128"/>
                <a:ea typeface="Yu Gothic" panose="020B0400000000000000" pitchFamily="34" charset="-128"/>
              </a:rPr>
              <a:t>• Approche numéro 1 pour pallier au déséquilibre</a:t>
            </a:r>
          </a:p>
          <a:p>
            <a:pPr marL="0" lvl="0" indent="0">
              <a:buClrTx/>
              <a:buSzPct val="100000"/>
              <a:buNone/>
              <a:defRPr/>
            </a:pPr>
            <a:r>
              <a:rPr lang="fr-FR" sz="1400" i="1" dirty="0">
                <a:solidFill>
                  <a:schemeClr val="accent2"/>
                </a:solidFill>
                <a:latin typeface="Yu Gothic" panose="020B0400000000000000" pitchFamily="34" charset="-128"/>
                <a:ea typeface="Yu Gothic" panose="020B0400000000000000" pitchFamily="34" charset="-128"/>
              </a:rPr>
              <a:t>1. </a:t>
            </a:r>
            <a:r>
              <a:rPr lang="fr-FR" sz="1400" i="1" dirty="0" err="1">
                <a:solidFill>
                  <a:schemeClr val="accent2"/>
                </a:solidFill>
                <a:latin typeface="Yu Gothic" panose="020B0400000000000000" pitchFamily="34" charset="-128"/>
                <a:ea typeface="Yu Gothic" panose="020B0400000000000000" pitchFamily="34" charset="-128"/>
              </a:rPr>
              <a:t>Strategy</a:t>
            </a:r>
            <a:r>
              <a:rPr lang="fr-FR" sz="1400" i="1" dirty="0">
                <a:solidFill>
                  <a:schemeClr val="accent2"/>
                </a:solidFill>
                <a:latin typeface="Yu Gothic" panose="020B0400000000000000" pitchFamily="34" charset="-128"/>
                <a:ea typeface="Yu Gothic" panose="020B0400000000000000" pitchFamily="34" charset="-128"/>
              </a:rPr>
              <a:t>="</a:t>
            </a:r>
            <a:r>
              <a:rPr lang="fr-FR" sz="1400" i="1" dirty="0" err="1">
                <a:solidFill>
                  <a:schemeClr val="accent2"/>
                </a:solidFill>
                <a:latin typeface="Yu Gothic" panose="020B0400000000000000" pitchFamily="34" charset="-128"/>
                <a:ea typeface="Yu Gothic" panose="020B0400000000000000" pitchFamily="34" charset="-128"/>
              </a:rPr>
              <a:t>most_frequent</a:t>
            </a:r>
            <a:r>
              <a:rPr lang="fr-FR" sz="1400" i="1" dirty="0">
                <a:solidFill>
                  <a:schemeClr val="accent2"/>
                </a:solidFill>
                <a:latin typeface="Yu Gothic" panose="020B0400000000000000" pitchFamily="34" charset="-128"/>
                <a:ea typeface="Yu Gothic" panose="020B0400000000000000" pitchFamily="34" charset="-128"/>
              </a:rPr>
              <a:t>«  (</a:t>
            </a:r>
            <a:r>
              <a:rPr lang="fr-FR" sz="1400" i="1" dirty="0" err="1">
                <a:solidFill>
                  <a:schemeClr val="accent2"/>
                </a:solidFill>
                <a:latin typeface="Yu Gothic" panose="020B0400000000000000" pitchFamily="34" charset="-128"/>
                <a:ea typeface="Yu Gothic" panose="020B0400000000000000" pitchFamily="34" charset="-128"/>
              </a:rPr>
              <a:t>DummyClassifier</a:t>
            </a:r>
            <a:r>
              <a:rPr lang="fr-FR" sz="1400" i="1" dirty="0">
                <a:solidFill>
                  <a:schemeClr val="accent2"/>
                </a:solidFill>
                <a:latin typeface="Yu Gothic" panose="020B0400000000000000" pitchFamily="34" charset="-128"/>
                <a:ea typeface="Yu Gothic" panose="020B0400000000000000" pitchFamily="34" charset="-128"/>
              </a:rPr>
              <a:t>) </a:t>
            </a:r>
            <a:r>
              <a:rPr lang="fr-FR" sz="1400" dirty="0">
                <a:solidFill>
                  <a:schemeClr val="tx1"/>
                </a:solidFill>
                <a:latin typeface="Yu Gothic" panose="020B0400000000000000" pitchFamily="34" charset="-128"/>
                <a:ea typeface="Yu Gothic" panose="020B0400000000000000" pitchFamily="34" charset="-128"/>
              </a:rPr>
              <a:t>: Pas de gestion du déséquilibre ici. </a:t>
            </a:r>
          </a:p>
          <a:p>
            <a:pPr marL="0" lvl="0" indent="0">
              <a:buClrTx/>
              <a:buSzPct val="100000"/>
              <a:buNone/>
              <a:defRPr/>
            </a:pPr>
            <a:r>
              <a:rPr lang="fr-FR" sz="1400" dirty="0">
                <a:solidFill>
                  <a:schemeClr val="tx1"/>
                </a:solidFill>
                <a:latin typeface="Yu Gothic" panose="020B0400000000000000" pitchFamily="34" charset="-128"/>
                <a:ea typeface="Yu Gothic" panose="020B0400000000000000" pitchFamily="34" charset="-128"/>
              </a:rPr>
              <a:t>	Modèle de base qui sert uniquement de référence naïve. Il prédit toujours la classe majoritaire.</a:t>
            </a:r>
          </a:p>
          <a:p>
            <a:pPr marL="0" lvl="0" indent="0">
              <a:buClrTx/>
              <a:buSzPct val="100000"/>
              <a:buNone/>
              <a:defRPr/>
            </a:pPr>
            <a:r>
              <a:rPr lang="fr-FR" sz="1400" i="1" dirty="0">
                <a:solidFill>
                  <a:schemeClr val="accent2"/>
                </a:solidFill>
                <a:latin typeface="Yu Gothic" panose="020B0400000000000000" pitchFamily="34" charset="-128"/>
                <a:ea typeface="Yu Gothic" panose="020B0400000000000000" pitchFamily="34" charset="-128"/>
              </a:rPr>
              <a:t>2. </a:t>
            </a:r>
            <a:r>
              <a:rPr lang="fr-FR" sz="1400" i="1" dirty="0" err="1">
                <a:solidFill>
                  <a:schemeClr val="accent2"/>
                </a:solidFill>
                <a:latin typeface="Yu Gothic" panose="020B0400000000000000" pitchFamily="34" charset="-128"/>
                <a:ea typeface="Yu Gothic" panose="020B0400000000000000" pitchFamily="34" charset="-128"/>
              </a:rPr>
              <a:t>class_weight</a:t>
            </a:r>
            <a:r>
              <a:rPr lang="fr-FR" sz="1400" i="1" dirty="0">
                <a:solidFill>
                  <a:schemeClr val="accent2"/>
                </a:solidFill>
                <a:latin typeface="Yu Gothic" panose="020B0400000000000000" pitchFamily="34" charset="-128"/>
                <a:ea typeface="Yu Gothic" panose="020B0400000000000000" pitchFamily="34" charset="-128"/>
              </a:rPr>
              <a:t>='</a:t>
            </a:r>
            <a:r>
              <a:rPr lang="fr-FR" sz="1400" i="1" dirty="0" err="1">
                <a:solidFill>
                  <a:schemeClr val="accent2"/>
                </a:solidFill>
                <a:latin typeface="Yu Gothic" panose="020B0400000000000000" pitchFamily="34" charset="-128"/>
                <a:ea typeface="Yu Gothic" panose="020B0400000000000000" pitchFamily="34" charset="-128"/>
              </a:rPr>
              <a:t>balanced</a:t>
            </a:r>
            <a:r>
              <a:rPr lang="fr-FR" sz="1400" i="1" dirty="0">
                <a:solidFill>
                  <a:schemeClr val="accent2"/>
                </a:solidFill>
                <a:latin typeface="Yu Gothic" panose="020B0400000000000000" pitchFamily="34" charset="-128"/>
                <a:ea typeface="Yu Gothic" panose="020B0400000000000000" pitchFamily="34" charset="-128"/>
              </a:rPr>
              <a:t>' (</a:t>
            </a:r>
            <a:r>
              <a:rPr lang="fr-FR" sz="1400" i="1" dirty="0" err="1">
                <a:solidFill>
                  <a:schemeClr val="accent2"/>
                </a:solidFill>
                <a:latin typeface="Yu Gothic" panose="020B0400000000000000" pitchFamily="34" charset="-128"/>
                <a:ea typeface="Yu Gothic" panose="020B0400000000000000" pitchFamily="34" charset="-128"/>
              </a:rPr>
              <a:t>LogisticRegression</a:t>
            </a:r>
            <a:r>
              <a:rPr lang="fr-FR" sz="1400" i="1" dirty="0">
                <a:solidFill>
                  <a:schemeClr val="accent2"/>
                </a:solidFill>
                <a:latin typeface="Yu Gothic" panose="020B0400000000000000" pitchFamily="34" charset="-128"/>
                <a:ea typeface="Yu Gothic" panose="020B0400000000000000" pitchFamily="34" charset="-128"/>
              </a:rPr>
              <a:t>, </a:t>
            </a:r>
            <a:r>
              <a:rPr lang="fr-FR" sz="1400" i="1" dirty="0" err="1">
                <a:solidFill>
                  <a:schemeClr val="accent2"/>
                </a:solidFill>
                <a:latin typeface="Yu Gothic" panose="020B0400000000000000" pitchFamily="34" charset="-128"/>
                <a:ea typeface="Yu Gothic" panose="020B0400000000000000" pitchFamily="34" charset="-128"/>
              </a:rPr>
              <a:t>RandomForest</a:t>
            </a:r>
            <a:r>
              <a:rPr lang="fr-FR" sz="1400" i="1" dirty="0">
                <a:solidFill>
                  <a:schemeClr val="accent2"/>
                </a:solidFill>
                <a:latin typeface="Yu Gothic" panose="020B0400000000000000" pitchFamily="34" charset="-128"/>
                <a:ea typeface="Yu Gothic" panose="020B0400000000000000" pitchFamily="34" charset="-128"/>
              </a:rPr>
              <a:t>)        </a:t>
            </a:r>
            <a:r>
              <a:rPr lang="fr-FR" sz="1400" dirty="0">
                <a:solidFill>
                  <a:schemeClr val="tx1"/>
                </a:solidFill>
                <a:latin typeface="Yu Gothic" panose="020B0400000000000000" pitchFamily="34" charset="-128"/>
                <a:ea typeface="Yu Gothic" panose="020B0400000000000000" pitchFamily="34" charset="-128"/>
              </a:rPr>
              <a:t>Le modèle pénalise plus fortement </a:t>
            </a:r>
          </a:p>
          <a:p>
            <a:pPr marL="0" indent="0">
              <a:buClrTx/>
              <a:buSzPct val="100000"/>
              <a:buNone/>
              <a:defRPr/>
            </a:pPr>
            <a:r>
              <a:rPr lang="fr-FR" sz="1400" i="1" dirty="0">
                <a:solidFill>
                  <a:schemeClr val="accent2"/>
                </a:solidFill>
                <a:latin typeface="Yu Gothic" panose="020B0400000000000000" pitchFamily="34" charset="-128"/>
                <a:ea typeface="Yu Gothic" panose="020B0400000000000000" pitchFamily="34" charset="-128"/>
              </a:rPr>
              <a:t>	</a:t>
            </a:r>
            <a:r>
              <a:rPr lang="fr-FR" sz="1400" dirty="0">
                <a:solidFill>
                  <a:schemeClr val="tx1"/>
                </a:solidFill>
                <a:latin typeface="Yu Gothic" panose="020B0400000000000000" pitchFamily="34" charset="-128"/>
                <a:ea typeface="Yu Gothic" panose="020B0400000000000000" pitchFamily="34" charset="-128"/>
              </a:rPr>
              <a:t>Et</a:t>
            </a:r>
            <a:r>
              <a:rPr lang="fr-FR" sz="1400" i="1" dirty="0">
                <a:solidFill>
                  <a:schemeClr val="accent2"/>
                </a:solidFill>
                <a:latin typeface="Yu Gothic" panose="020B0400000000000000" pitchFamily="34" charset="-128"/>
                <a:ea typeface="Yu Gothic" panose="020B0400000000000000" pitchFamily="34" charset="-128"/>
              </a:rPr>
              <a:t> </a:t>
            </a:r>
            <a:r>
              <a:rPr lang="fr-FR" sz="1400" i="1" dirty="0" err="1">
                <a:solidFill>
                  <a:schemeClr val="accent2"/>
                </a:solidFill>
                <a:latin typeface="Yu Gothic" panose="020B0400000000000000" pitchFamily="34" charset="-128"/>
                <a:ea typeface="Yu Gothic" panose="020B0400000000000000" pitchFamily="34" charset="-128"/>
              </a:rPr>
              <a:t>scale_pos_weight</a:t>
            </a:r>
            <a:r>
              <a:rPr lang="fr-FR" sz="1400" i="1" dirty="0">
                <a:solidFill>
                  <a:schemeClr val="accent2"/>
                </a:solidFill>
                <a:latin typeface="Yu Gothic" panose="020B0400000000000000" pitchFamily="34" charset="-128"/>
                <a:ea typeface="Yu Gothic" panose="020B0400000000000000" pitchFamily="34" charset="-128"/>
              </a:rPr>
              <a:t> (</a:t>
            </a:r>
            <a:r>
              <a:rPr lang="fr-FR" sz="1400" i="1" dirty="0" err="1">
                <a:solidFill>
                  <a:schemeClr val="accent2"/>
                </a:solidFill>
                <a:latin typeface="Yu Gothic" panose="020B0400000000000000" pitchFamily="34" charset="-128"/>
                <a:ea typeface="Yu Gothic" panose="020B0400000000000000" pitchFamily="34" charset="-128"/>
              </a:rPr>
              <a:t>XGBoost</a:t>
            </a:r>
            <a:r>
              <a:rPr lang="fr-FR" sz="1400" i="1" dirty="0">
                <a:solidFill>
                  <a:schemeClr val="accent2"/>
                </a:solidFill>
                <a:latin typeface="Yu Gothic" panose="020B0400000000000000" pitchFamily="34" charset="-128"/>
                <a:ea typeface="Yu Gothic" panose="020B0400000000000000" pitchFamily="34" charset="-128"/>
              </a:rPr>
              <a:t>)                                                     </a:t>
            </a:r>
            <a:r>
              <a:rPr lang="fr-FR" sz="1400" i="1" dirty="0">
                <a:solidFill>
                  <a:schemeClr val="tx1"/>
                </a:solidFill>
                <a:latin typeface="Yu Gothic" panose="020B0400000000000000" pitchFamily="34" charset="-128"/>
                <a:ea typeface="Yu Gothic" panose="020B0400000000000000" pitchFamily="34" charset="-128"/>
              </a:rPr>
              <a:t>les erreurs sur la classe minoritaire</a:t>
            </a:r>
          </a:p>
          <a:p>
            <a:pPr marL="0" indent="0">
              <a:buClrTx/>
              <a:buSzPct val="100000"/>
              <a:buNone/>
              <a:defRPr/>
            </a:pPr>
            <a:endParaRPr lang="fr-FR" sz="1400" i="1" dirty="0">
              <a:solidFill>
                <a:schemeClr val="tx1"/>
              </a:solidFill>
              <a:latin typeface="Yu Gothic" panose="020B0400000000000000" pitchFamily="34" charset="-128"/>
              <a:ea typeface="Yu Gothic" panose="020B0400000000000000" pitchFamily="34" charset="-128"/>
            </a:endParaRPr>
          </a:p>
          <a:p>
            <a:pPr marL="0" indent="0">
              <a:lnSpc>
                <a:spcPct val="200000"/>
              </a:lnSpc>
              <a:buClrTx/>
              <a:buSzPct val="100000"/>
              <a:buNone/>
              <a:defRPr/>
            </a:pPr>
            <a:r>
              <a:rPr lang="fr-FR" sz="1400" i="1" dirty="0">
                <a:solidFill>
                  <a:schemeClr val="accent2"/>
                </a:solidFill>
                <a:latin typeface="Yu Gothic" panose="020B0400000000000000" pitchFamily="34" charset="-128"/>
                <a:ea typeface="Yu Gothic" panose="020B0400000000000000" pitchFamily="34" charset="-128"/>
              </a:rPr>
              <a:t>3. ('sampling', SMOTE())  pour LGBM </a:t>
            </a:r>
            <a:r>
              <a:rPr lang="fr-FR" sz="1400" dirty="0">
                <a:solidFill>
                  <a:schemeClr val="tx1"/>
                </a:solidFill>
                <a:latin typeface="Yu Gothic" panose="020B0400000000000000" pitchFamily="34" charset="-128"/>
                <a:ea typeface="Yu Gothic" panose="020B0400000000000000" pitchFamily="34" charset="-128"/>
              </a:rPr>
              <a:t>: Génère des exemples synthétiques de la classe minoritaire.</a:t>
            </a:r>
            <a:endParaRPr lang="fr-FR" sz="1400" b="1" dirty="0">
              <a:solidFill>
                <a:schemeClr val="tx1"/>
              </a:solidFill>
              <a:latin typeface="Yu Gothic" panose="020B0400000000000000" pitchFamily="34" charset="-128"/>
              <a:ea typeface="Yu Gothic" panose="020B0400000000000000" pitchFamily="34" charset="-128"/>
            </a:endParaRPr>
          </a:p>
          <a:p>
            <a:pPr marL="0" lvl="0" indent="0">
              <a:buClrTx/>
              <a:buSzPct val="100000"/>
              <a:buNone/>
              <a:defRPr/>
            </a:pPr>
            <a:r>
              <a:rPr lang="fr-FR" sz="1400" b="1" dirty="0">
                <a:solidFill>
                  <a:schemeClr val="tx1"/>
                </a:solidFill>
                <a:latin typeface="Yu Gothic" panose="020B0400000000000000" pitchFamily="34" charset="-128"/>
                <a:ea typeface="Yu Gothic" panose="020B0400000000000000" pitchFamily="34" charset="-128"/>
              </a:rPr>
              <a:t>• Chaque modèle est entraîné selon ses méthodes adaptées.</a:t>
            </a:r>
          </a:p>
          <a:p>
            <a:pPr marL="0" lvl="0" indent="0">
              <a:buClrTx/>
              <a:buSzPct val="100000"/>
              <a:buNone/>
              <a:defRPr/>
            </a:pPr>
            <a:endParaRPr lang="fr-FR" sz="1900" b="1" dirty="0">
              <a:solidFill>
                <a:schemeClr val="accent1"/>
              </a:solidFill>
              <a:highlight>
                <a:srgbClr val="C0C0C0"/>
              </a:highlight>
              <a:latin typeface="Yu Gothic" panose="020B0400000000000000" pitchFamily="34" charset="-128"/>
              <a:ea typeface="Yu Gothic" panose="020B0400000000000000" pitchFamily="34" charset="-128"/>
            </a:endParaRPr>
          </a:p>
          <a:p>
            <a:pPr marL="0" lvl="0" indent="0">
              <a:buClrTx/>
              <a:buSzPct val="100000"/>
              <a:buNone/>
              <a:defRPr/>
            </a:pPr>
            <a:r>
              <a:rPr lang="fr-FR" sz="1900" b="1" dirty="0">
                <a:solidFill>
                  <a:schemeClr val="accent1"/>
                </a:solidFill>
                <a:highlight>
                  <a:srgbClr val="C0C0C0"/>
                </a:highlight>
                <a:latin typeface="Yu Gothic" panose="020B0400000000000000" pitchFamily="34" charset="-128"/>
                <a:ea typeface="Yu Gothic" panose="020B0400000000000000" pitchFamily="34" charset="-128"/>
              </a:rPr>
              <a:t>• </a:t>
            </a:r>
            <a:r>
              <a:rPr lang="fr-FR" sz="1900" b="1" u="sng" dirty="0">
                <a:solidFill>
                  <a:schemeClr val="accent1"/>
                </a:solidFill>
                <a:highlight>
                  <a:srgbClr val="C0C0C0"/>
                </a:highlight>
                <a:latin typeface="Yu Gothic" panose="020B0400000000000000" pitchFamily="34" charset="-128"/>
                <a:ea typeface="Yu Gothic" panose="020B0400000000000000" pitchFamily="34" charset="-128"/>
              </a:rPr>
              <a:t>Approche numéro 2 pour pallier au déséquilibre</a:t>
            </a:r>
          </a:p>
          <a:p>
            <a:pPr>
              <a:buAutoNum type="arabicPeriod"/>
            </a:pPr>
            <a:r>
              <a:rPr lang="fr-FR" sz="1400" b="1" dirty="0">
                <a:solidFill>
                  <a:srgbClr val="000000"/>
                </a:solidFill>
                <a:latin typeface="Yu Gothic" panose="020B0400000000000000" pitchFamily="34" charset="-128"/>
                <a:ea typeface="Yu Gothic" panose="020B0400000000000000" pitchFamily="34" charset="-128"/>
              </a:rPr>
              <a:t>minimisation du coût d’erreur de prédiction métier, </a:t>
            </a:r>
            <a:r>
              <a:rPr lang="fr-FR" sz="1400" dirty="0">
                <a:solidFill>
                  <a:srgbClr val="000000"/>
                </a:solidFill>
                <a:latin typeface="Yu Gothic" panose="020B0400000000000000" pitchFamily="34" charset="-128"/>
                <a:ea typeface="Yu Gothic" panose="020B0400000000000000" pitchFamily="34" charset="-128"/>
              </a:rPr>
              <a:t>plutôt que de se contenter de l’</a:t>
            </a:r>
            <a:r>
              <a:rPr lang="fr-FR" sz="1400" dirty="0" err="1">
                <a:solidFill>
                  <a:srgbClr val="000000"/>
                </a:solidFill>
                <a:latin typeface="Yu Gothic" panose="020B0400000000000000" pitchFamily="34" charset="-128"/>
                <a:ea typeface="Yu Gothic" panose="020B0400000000000000" pitchFamily="34" charset="-128"/>
              </a:rPr>
              <a:t>accuracy</a:t>
            </a:r>
            <a:r>
              <a:rPr lang="fr-FR" sz="1400" dirty="0">
                <a:solidFill>
                  <a:srgbClr val="000000"/>
                </a:solidFill>
                <a:latin typeface="Yu Gothic" panose="020B0400000000000000" pitchFamily="34" charset="-128"/>
                <a:ea typeface="Yu Gothic" panose="020B0400000000000000" pitchFamily="34" charset="-128"/>
              </a:rPr>
              <a:t> (par la mise en place d’une fonction de coût personnalisée : nous avons considéré qu’un faux négatif coûte 10x plus qu’un faux positif.</a:t>
            </a:r>
          </a:p>
          <a:p>
            <a:pPr>
              <a:buAutoNum type="arabicPeriod"/>
            </a:pPr>
            <a:r>
              <a:rPr lang="fr-FR" sz="1400" b="1" dirty="0">
                <a:solidFill>
                  <a:srgbClr val="000000"/>
                </a:solidFill>
                <a:latin typeface="Yu Gothic" panose="020B0400000000000000" pitchFamily="34" charset="-128"/>
                <a:ea typeface="Yu Gothic" panose="020B0400000000000000" pitchFamily="34" charset="-128"/>
              </a:rPr>
              <a:t>Recherche du seuil optimal (</a:t>
            </a:r>
            <a:r>
              <a:rPr lang="fr-FR" sz="1400" dirty="0">
                <a:latin typeface="Yu Gothic" panose="020B0400000000000000" pitchFamily="34" charset="-128"/>
                <a:ea typeface="Yu Gothic" panose="020B0400000000000000" pitchFamily="34" charset="-128"/>
              </a:rPr>
              <a:t>en fonction de ce coût métier pour réduire l’impact des erreurs critiques ), </a:t>
            </a:r>
            <a:r>
              <a:rPr lang="fr-FR" sz="1400" b="1" dirty="0">
                <a:solidFill>
                  <a:srgbClr val="000000"/>
                </a:solidFill>
                <a:latin typeface="Yu Gothic" panose="020B0400000000000000" pitchFamily="34" charset="-128"/>
                <a:ea typeface="Yu Gothic" panose="020B0400000000000000" pitchFamily="34" charset="-128"/>
              </a:rPr>
              <a:t>pour minimiser ce coût métier.</a:t>
            </a:r>
          </a:p>
          <a:p>
            <a:pPr marL="0" indent="0">
              <a:buNone/>
            </a:pPr>
            <a:endParaRPr lang="fr-FR" sz="1400" dirty="0">
              <a:latin typeface="Yu Gothic" panose="020B0400000000000000" pitchFamily="34" charset="-128"/>
              <a:ea typeface="Yu Gothic" panose="020B0400000000000000" pitchFamily="34" charset="-128"/>
            </a:endParaRPr>
          </a:p>
          <a:p>
            <a:pPr marL="0" indent="0">
              <a:buNone/>
            </a:pPr>
            <a:endParaRPr lang="fr-FR" sz="1400" dirty="0">
              <a:latin typeface="Yu Gothic" panose="020B0400000000000000" pitchFamily="34" charset="-128"/>
              <a:ea typeface="Yu Gothic" panose="020B0400000000000000" pitchFamily="34" charset="-128"/>
            </a:endParaRPr>
          </a:p>
          <a:p>
            <a:pPr marL="0" indent="0">
              <a:buNone/>
            </a:pPr>
            <a:endParaRPr lang="fr-FR" dirty="0"/>
          </a:p>
          <a:p>
            <a:pPr marL="0" indent="0">
              <a:buNone/>
            </a:pPr>
            <a:endParaRPr lang="fr-FR" dirty="0"/>
          </a:p>
          <a:p>
            <a:endParaRPr lang="fr-FR" sz="1800" b="1" i="0" u="none" strike="noStrike" baseline="0" dirty="0">
              <a:solidFill>
                <a:srgbClr val="000000"/>
              </a:solidFill>
              <a:latin typeface="Times New Roman" panose="02020603050405020304" pitchFamily="18" charset="0"/>
            </a:endParaRPr>
          </a:p>
          <a:p>
            <a:pPr marL="0" indent="0">
              <a:buNone/>
            </a:pPr>
            <a:endParaRPr lang="fr-FR" b="1" dirty="0">
              <a:solidFill>
                <a:srgbClr val="000000"/>
              </a:solidFill>
              <a:latin typeface="Times New Roman" panose="02020603050405020304" pitchFamily="18" charset="0"/>
            </a:endParaRPr>
          </a:p>
        </p:txBody>
      </p:sp>
      <p:sp>
        <p:nvSpPr>
          <p:cNvPr id="10" name="Espace réservé du pied de page 9">
            <a:extLst>
              <a:ext uri="{FF2B5EF4-FFF2-40B4-BE49-F238E27FC236}">
                <a16:creationId xmlns:a16="http://schemas.microsoft.com/office/drawing/2014/main" id="{9563BD04-3298-A508-BF86-AB74A764AE7D}"/>
              </a:ext>
            </a:extLst>
          </p:cNvPr>
          <p:cNvSpPr>
            <a:spLocks noGrp="1"/>
          </p:cNvSpPr>
          <p:nvPr>
            <p:ph type="ftr" sz="quarter" idx="11"/>
          </p:nvPr>
        </p:nvSpPr>
        <p:spPr>
          <a:xfrm>
            <a:off x="11557416" y="6404696"/>
            <a:ext cx="547141" cy="385847"/>
          </a:xfrm>
        </p:spPr>
        <p:txBody>
          <a:bodyPr/>
          <a:lstStyle/>
          <a:p>
            <a:r>
              <a:rPr lang="en-US" sz="2000" dirty="0"/>
              <a:t>11</a:t>
            </a:r>
          </a:p>
        </p:txBody>
      </p:sp>
      <p:sp>
        <p:nvSpPr>
          <p:cNvPr id="4" name="Accolades 3">
            <a:extLst>
              <a:ext uri="{FF2B5EF4-FFF2-40B4-BE49-F238E27FC236}">
                <a16:creationId xmlns:a16="http://schemas.microsoft.com/office/drawing/2014/main" id="{7A16C3A6-44DA-A8DB-E339-F4AE149A7605}"/>
              </a:ext>
            </a:extLst>
          </p:cNvPr>
          <p:cNvSpPr/>
          <p:nvPr/>
        </p:nvSpPr>
        <p:spPr>
          <a:xfrm>
            <a:off x="5553906" y="2195732"/>
            <a:ext cx="3448945" cy="730293"/>
          </a:xfrm>
          <a:prstGeom prst="bracePair">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46C9DA04-B364-7D26-104E-08FBDC703F76}"/>
              </a:ext>
            </a:extLst>
          </p:cNvPr>
          <p:cNvCxnSpPr>
            <a:cxnSpLocks/>
          </p:cNvCxnSpPr>
          <p:nvPr/>
        </p:nvCxnSpPr>
        <p:spPr>
          <a:xfrm>
            <a:off x="92054" y="4142416"/>
            <a:ext cx="11936295" cy="0"/>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181119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5A67D7-C86C-20F2-5FA9-E555DA84FAEA}"/>
              </a:ext>
            </a:extLst>
          </p:cNvPr>
          <p:cNvSpPr>
            <a:spLocks noGrp="1"/>
          </p:cNvSpPr>
          <p:nvPr>
            <p:ph type="title"/>
          </p:nvPr>
        </p:nvSpPr>
        <p:spPr>
          <a:xfrm>
            <a:off x="0" y="0"/>
            <a:ext cx="12192000" cy="738252"/>
          </a:xfrm>
          <a:solidFill>
            <a:schemeClr val="tx2"/>
          </a:solidFill>
        </p:spPr>
        <p:txBody>
          <a:bodyPr/>
          <a:lstStyle/>
          <a:p>
            <a:r>
              <a:rPr lang="fr-FR" b="1" i="0" u="none" strike="noStrike" baseline="0" dirty="0">
                <a:solidFill>
                  <a:schemeClr val="accent4"/>
                </a:solidFill>
                <a:latin typeface="Yu Gothic" panose="020B0400000000000000" pitchFamily="34" charset="-128"/>
                <a:ea typeface="Yu Gothic" panose="020B0400000000000000" pitchFamily="34" charset="-128"/>
              </a:rPr>
              <a:t>Modèle </a:t>
            </a:r>
            <a:r>
              <a:rPr lang="fr-FR" b="1" i="0" u="none" strike="noStrike" baseline="0" dirty="0" err="1">
                <a:solidFill>
                  <a:schemeClr val="accent4"/>
                </a:solidFill>
                <a:latin typeface="Yu Gothic" panose="020B0400000000000000" pitchFamily="34" charset="-128"/>
                <a:ea typeface="Yu Gothic" panose="020B0400000000000000" pitchFamily="34" charset="-128"/>
              </a:rPr>
              <a:t>DummyClassifier</a:t>
            </a:r>
            <a:r>
              <a:rPr lang="fr-FR" b="1" i="0" u="none" strike="noStrike" baseline="0" dirty="0">
                <a:solidFill>
                  <a:schemeClr val="accent4"/>
                </a:solidFill>
                <a:latin typeface="Yu Gothic" panose="020B0400000000000000" pitchFamily="34" charset="-128"/>
                <a:ea typeface="Yu Gothic" panose="020B0400000000000000" pitchFamily="34" charset="-128"/>
              </a:rPr>
              <a:t> (</a:t>
            </a:r>
            <a:r>
              <a:rPr lang="fr-FR" b="1" i="0" u="none" strike="noStrike" baseline="0" dirty="0" err="1">
                <a:solidFill>
                  <a:schemeClr val="accent4"/>
                </a:solidFill>
                <a:latin typeface="Yu Gothic" panose="020B0400000000000000" pitchFamily="34" charset="-128"/>
                <a:ea typeface="Yu Gothic" panose="020B0400000000000000" pitchFamily="34" charset="-128"/>
              </a:rPr>
              <a:t>baseline</a:t>
            </a:r>
            <a:r>
              <a:rPr lang="fr-FR" b="1" i="0" u="none" strike="noStrike" baseline="0" dirty="0">
                <a:solidFill>
                  <a:schemeClr val="accent4"/>
                </a:solidFill>
                <a:latin typeface="Yu Gothic" panose="020B0400000000000000" pitchFamily="34" charset="-128"/>
                <a:ea typeface="Yu Gothic" panose="020B0400000000000000" pitchFamily="34" charset="-128"/>
              </a:rPr>
              <a:t>)</a:t>
            </a:r>
            <a:endParaRPr lang="fr-FR" dirty="0"/>
          </a:p>
        </p:txBody>
      </p:sp>
      <p:sp>
        <p:nvSpPr>
          <p:cNvPr id="3" name="Espace réservé du contenu 2">
            <a:extLst>
              <a:ext uri="{FF2B5EF4-FFF2-40B4-BE49-F238E27FC236}">
                <a16:creationId xmlns:a16="http://schemas.microsoft.com/office/drawing/2014/main" id="{84A2FDF3-5A06-1061-00AB-3E190302B064}"/>
              </a:ext>
            </a:extLst>
          </p:cNvPr>
          <p:cNvSpPr>
            <a:spLocks noGrp="1"/>
          </p:cNvSpPr>
          <p:nvPr>
            <p:ph idx="1"/>
          </p:nvPr>
        </p:nvSpPr>
        <p:spPr>
          <a:xfrm>
            <a:off x="0" y="738252"/>
            <a:ext cx="12192000" cy="6119746"/>
          </a:xfrm>
          <a:solidFill>
            <a:schemeClr val="bg1"/>
          </a:solidFill>
        </p:spPr>
        <p:txBody>
          <a:bodyPr>
            <a:normAutofit/>
          </a:bodyPr>
          <a:lstStyle/>
          <a:p>
            <a:pPr marL="0" indent="0">
              <a:buNone/>
            </a:pPr>
            <a:endParaRPr lang="fr-FR" sz="1400" b="1" dirty="0">
              <a:latin typeface="Yu Gothic" panose="020B0400000000000000" pitchFamily="34" charset="-128"/>
              <a:ea typeface="Yu Gothic" panose="020B0400000000000000" pitchFamily="34" charset="-128"/>
            </a:endParaRPr>
          </a:p>
          <a:p>
            <a:pPr marL="0" indent="0">
              <a:buNone/>
            </a:pPr>
            <a:r>
              <a:rPr lang="fr-FR" sz="1400" dirty="0">
                <a:solidFill>
                  <a:schemeClr val="tx1"/>
                </a:solidFill>
                <a:latin typeface="Yu Gothic" panose="020B0400000000000000" pitchFamily="34" charset="-128"/>
                <a:ea typeface="Yu Gothic" panose="020B0400000000000000" pitchFamily="34" charset="-128"/>
              </a:rPr>
              <a:t>Le Modèle </a:t>
            </a:r>
            <a:r>
              <a:rPr lang="fr-FR" sz="1400" b="1" dirty="0" err="1">
                <a:solidFill>
                  <a:schemeClr val="tx1"/>
                </a:solidFill>
                <a:latin typeface="Yu Gothic" panose="020B0400000000000000" pitchFamily="34" charset="-128"/>
                <a:ea typeface="Yu Gothic" panose="020B0400000000000000" pitchFamily="34" charset="-128"/>
              </a:rPr>
              <a:t>DummyClassifier</a:t>
            </a:r>
            <a:r>
              <a:rPr lang="fr-FR" sz="1400" b="1" dirty="0">
                <a:solidFill>
                  <a:schemeClr val="tx1"/>
                </a:solidFill>
                <a:latin typeface="Yu Gothic" panose="020B0400000000000000" pitchFamily="34" charset="-128"/>
                <a:ea typeface="Yu Gothic" panose="020B0400000000000000" pitchFamily="34" charset="-128"/>
              </a:rPr>
              <a:t> , </a:t>
            </a:r>
            <a:r>
              <a:rPr lang="fr-FR" sz="1400" b="1" dirty="0">
                <a:latin typeface="Yu Gothic" panose="020B0400000000000000" pitchFamily="34" charset="-128"/>
                <a:ea typeface="Yu Gothic" panose="020B0400000000000000" pitchFamily="34" charset="-128"/>
              </a:rPr>
              <a:t>Baseline</a:t>
            </a:r>
            <a:r>
              <a:rPr lang="fr-FR" sz="1400" dirty="0">
                <a:latin typeface="Yu Gothic" panose="020B0400000000000000" pitchFamily="34" charset="-128"/>
                <a:ea typeface="Yu Gothic" panose="020B0400000000000000" pitchFamily="34" charset="-128"/>
              </a:rPr>
              <a:t> servant de référence pour mesurer les performances minimales et comparer l'efficacité des modèles plus complexes. J'ai utilisé le </a:t>
            </a:r>
            <a:r>
              <a:rPr lang="fr-FR" sz="1400" dirty="0" err="1">
                <a:latin typeface="Yu Gothic" panose="020B0400000000000000" pitchFamily="34" charset="-128"/>
                <a:ea typeface="Yu Gothic" panose="020B0400000000000000" pitchFamily="34" charset="-128"/>
              </a:rPr>
              <a:t>DummyClassifier</a:t>
            </a:r>
            <a:r>
              <a:rPr lang="fr-FR" sz="1400" dirty="0">
                <a:latin typeface="Yu Gothic" panose="020B0400000000000000" pitchFamily="34" charset="-128"/>
                <a:ea typeface="Yu Gothic" panose="020B0400000000000000" pitchFamily="34" charset="-128"/>
              </a:rPr>
              <a:t> pour </a:t>
            </a:r>
            <a:r>
              <a:rPr lang="fr-FR" sz="1400" dirty="0" err="1">
                <a:latin typeface="Yu Gothic" panose="020B0400000000000000" pitchFamily="34" charset="-128"/>
                <a:ea typeface="Yu Gothic" panose="020B0400000000000000" pitchFamily="34" charset="-128"/>
              </a:rPr>
              <a:t>montrern</a:t>
            </a:r>
            <a:r>
              <a:rPr lang="fr-FR" sz="1400" dirty="0">
                <a:latin typeface="Yu Gothic" panose="020B0400000000000000" pitchFamily="34" charset="-128"/>
                <a:ea typeface="Yu Gothic" panose="020B0400000000000000" pitchFamily="34" charset="-128"/>
              </a:rPr>
              <a:t> le score qu'un algorithme simple pourrait obtenir en faisant des prédictions. Cette Baseline sera utilisée pour évaluer les performances de mon modèle.</a:t>
            </a:r>
          </a:p>
        </p:txBody>
      </p:sp>
      <p:sp>
        <p:nvSpPr>
          <p:cNvPr id="6" name="Espace réservé du pied de page 5">
            <a:extLst>
              <a:ext uri="{FF2B5EF4-FFF2-40B4-BE49-F238E27FC236}">
                <a16:creationId xmlns:a16="http://schemas.microsoft.com/office/drawing/2014/main" id="{C7F143B4-4BDF-0B95-A1BD-C2B09C0FF579}"/>
              </a:ext>
            </a:extLst>
          </p:cNvPr>
          <p:cNvSpPr>
            <a:spLocks noGrp="1"/>
          </p:cNvSpPr>
          <p:nvPr>
            <p:ph type="ftr" sz="quarter" idx="11"/>
          </p:nvPr>
        </p:nvSpPr>
        <p:spPr>
          <a:xfrm>
            <a:off x="11559632" y="6447154"/>
            <a:ext cx="556017" cy="310896"/>
          </a:xfrm>
        </p:spPr>
        <p:txBody>
          <a:bodyPr/>
          <a:lstStyle/>
          <a:p>
            <a:r>
              <a:rPr lang="en-US" sz="2000" dirty="0"/>
              <a:t>12</a:t>
            </a:r>
          </a:p>
        </p:txBody>
      </p:sp>
      <p:pic>
        <p:nvPicPr>
          <p:cNvPr id="7" name="Image 6">
            <a:extLst>
              <a:ext uri="{FF2B5EF4-FFF2-40B4-BE49-F238E27FC236}">
                <a16:creationId xmlns:a16="http://schemas.microsoft.com/office/drawing/2014/main" id="{40232CC3-1A33-437C-BF3A-C5712CE79BA9}"/>
              </a:ext>
            </a:extLst>
          </p:cNvPr>
          <p:cNvPicPr>
            <a:picLocks noChangeAspect="1"/>
          </p:cNvPicPr>
          <p:nvPr/>
        </p:nvPicPr>
        <p:blipFill>
          <a:blip r:embed="rId2"/>
          <a:stretch>
            <a:fillRect/>
          </a:stretch>
        </p:blipFill>
        <p:spPr>
          <a:xfrm>
            <a:off x="237294" y="1962598"/>
            <a:ext cx="3399850" cy="814313"/>
          </a:xfrm>
          <a:prstGeom prst="rect">
            <a:avLst/>
          </a:prstGeom>
        </p:spPr>
      </p:pic>
      <p:pic>
        <p:nvPicPr>
          <p:cNvPr id="11" name="Image 10">
            <a:extLst>
              <a:ext uri="{FF2B5EF4-FFF2-40B4-BE49-F238E27FC236}">
                <a16:creationId xmlns:a16="http://schemas.microsoft.com/office/drawing/2014/main" id="{BC1CF56A-78D2-5ADE-C150-4608098F2C81}"/>
              </a:ext>
            </a:extLst>
          </p:cNvPr>
          <p:cNvPicPr>
            <a:picLocks noChangeAspect="1"/>
          </p:cNvPicPr>
          <p:nvPr/>
        </p:nvPicPr>
        <p:blipFill>
          <a:blip r:embed="rId3"/>
          <a:stretch>
            <a:fillRect/>
          </a:stretch>
        </p:blipFill>
        <p:spPr>
          <a:xfrm>
            <a:off x="8554856" y="1962599"/>
            <a:ext cx="3399850" cy="814312"/>
          </a:xfrm>
          <a:prstGeom prst="rect">
            <a:avLst/>
          </a:prstGeom>
          <a:ln>
            <a:solidFill>
              <a:schemeClr val="accent1"/>
            </a:solidFill>
          </a:ln>
        </p:spPr>
      </p:pic>
      <p:pic>
        <p:nvPicPr>
          <p:cNvPr id="13" name="Image 12">
            <a:extLst>
              <a:ext uri="{FF2B5EF4-FFF2-40B4-BE49-F238E27FC236}">
                <a16:creationId xmlns:a16="http://schemas.microsoft.com/office/drawing/2014/main" id="{798FE176-7EA3-DEE7-8608-F611FE688D6D}"/>
              </a:ext>
            </a:extLst>
          </p:cNvPr>
          <p:cNvPicPr>
            <a:picLocks noChangeAspect="1"/>
          </p:cNvPicPr>
          <p:nvPr/>
        </p:nvPicPr>
        <p:blipFill>
          <a:blip r:embed="rId4"/>
          <a:stretch>
            <a:fillRect/>
          </a:stretch>
        </p:blipFill>
        <p:spPr>
          <a:xfrm>
            <a:off x="2149832" y="3043909"/>
            <a:ext cx="7358159" cy="3646635"/>
          </a:xfrm>
          <a:prstGeom prst="rect">
            <a:avLst/>
          </a:prstGeom>
          <a:ln w="57150">
            <a:solidFill>
              <a:schemeClr val="accent1"/>
            </a:solidFill>
          </a:ln>
        </p:spPr>
      </p:pic>
      <p:pic>
        <p:nvPicPr>
          <p:cNvPr id="15" name="Image 14">
            <a:extLst>
              <a:ext uri="{FF2B5EF4-FFF2-40B4-BE49-F238E27FC236}">
                <a16:creationId xmlns:a16="http://schemas.microsoft.com/office/drawing/2014/main" id="{C6366F0C-4EBE-6C79-092C-DD1647A49012}"/>
              </a:ext>
            </a:extLst>
          </p:cNvPr>
          <p:cNvPicPr>
            <a:picLocks noChangeAspect="1"/>
          </p:cNvPicPr>
          <p:nvPr/>
        </p:nvPicPr>
        <p:blipFill>
          <a:blip r:embed="rId5"/>
          <a:stretch>
            <a:fillRect/>
          </a:stretch>
        </p:blipFill>
        <p:spPr>
          <a:xfrm>
            <a:off x="4424714" y="2006770"/>
            <a:ext cx="3019361" cy="770141"/>
          </a:xfrm>
          <a:prstGeom prst="rect">
            <a:avLst/>
          </a:prstGeom>
          <a:ln>
            <a:solidFill>
              <a:schemeClr val="accent1"/>
            </a:solidFill>
          </a:ln>
        </p:spPr>
      </p:pic>
      <p:sp>
        <p:nvSpPr>
          <p:cNvPr id="16" name="Flèche : droite 15">
            <a:extLst>
              <a:ext uri="{FF2B5EF4-FFF2-40B4-BE49-F238E27FC236}">
                <a16:creationId xmlns:a16="http://schemas.microsoft.com/office/drawing/2014/main" id="{55E0DB33-ED37-D3E9-D87B-C0E295A1419F}"/>
              </a:ext>
            </a:extLst>
          </p:cNvPr>
          <p:cNvSpPr/>
          <p:nvPr/>
        </p:nvSpPr>
        <p:spPr>
          <a:xfrm>
            <a:off x="7744784" y="2289068"/>
            <a:ext cx="349804" cy="2147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60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01C413-1C49-8792-1E99-59AE413D5DBE}"/>
              </a:ext>
            </a:extLst>
          </p:cNvPr>
          <p:cNvSpPr>
            <a:spLocks noGrp="1"/>
          </p:cNvSpPr>
          <p:nvPr>
            <p:ph type="title"/>
          </p:nvPr>
        </p:nvSpPr>
        <p:spPr>
          <a:xfrm>
            <a:off x="0" y="1"/>
            <a:ext cx="12192000" cy="902126"/>
          </a:xfrm>
          <a:solidFill>
            <a:schemeClr val="tx2"/>
          </a:solidFill>
        </p:spPr>
        <p:txBody>
          <a:bodyPr/>
          <a:lstStyle/>
          <a:p>
            <a:r>
              <a:rPr lang="fr-FR" sz="3200" b="1" i="0" u="none" strike="noStrike" baseline="0" dirty="0">
                <a:solidFill>
                  <a:schemeClr val="accent4"/>
                </a:solidFill>
                <a:latin typeface="Yu Gothic" panose="020B0400000000000000" pitchFamily="34" charset="-128"/>
                <a:ea typeface="Yu Gothic" panose="020B0400000000000000" pitchFamily="34" charset="-128"/>
              </a:rPr>
              <a:t>Modèle Régression Logistique </a:t>
            </a:r>
            <a:br>
              <a:rPr lang="fr-FR" sz="3200" b="1" i="0" u="none" strike="noStrike" baseline="0" dirty="0">
                <a:solidFill>
                  <a:schemeClr val="accent4"/>
                </a:solidFill>
                <a:latin typeface="Yu Gothic" panose="020B0400000000000000" pitchFamily="34" charset="-128"/>
                <a:ea typeface="Yu Gothic" panose="020B0400000000000000" pitchFamily="34" charset="-128"/>
              </a:rPr>
            </a:br>
            <a:r>
              <a:rPr lang="fr-FR" sz="2000" b="1" i="0" u="none" strike="noStrike" baseline="0" dirty="0">
                <a:solidFill>
                  <a:schemeClr val="accent4"/>
                </a:solidFill>
                <a:latin typeface="Yu Gothic" panose="020B0400000000000000" pitchFamily="34" charset="-128"/>
                <a:ea typeface="Yu Gothic" panose="020B0400000000000000" pitchFamily="34" charset="-128"/>
              </a:rPr>
              <a:t>(avec gestion du déséquilibre des classes)</a:t>
            </a:r>
            <a:endParaRPr lang="fr-FR" sz="2000" b="1" dirty="0">
              <a:solidFill>
                <a:schemeClr val="accent4"/>
              </a:solidFill>
              <a:latin typeface="Yu Gothic" panose="020B0400000000000000" pitchFamily="34" charset="-128"/>
              <a:ea typeface="Yu Gothic" panose="020B0400000000000000" pitchFamily="34" charset="-128"/>
            </a:endParaRPr>
          </a:p>
        </p:txBody>
      </p:sp>
      <p:sp>
        <p:nvSpPr>
          <p:cNvPr id="3" name="Espace réservé du contenu 2">
            <a:extLst>
              <a:ext uri="{FF2B5EF4-FFF2-40B4-BE49-F238E27FC236}">
                <a16:creationId xmlns:a16="http://schemas.microsoft.com/office/drawing/2014/main" id="{9B51C840-7E6F-3559-3C3B-1F9FCF691242}"/>
              </a:ext>
            </a:extLst>
          </p:cNvPr>
          <p:cNvSpPr>
            <a:spLocks noGrp="1"/>
          </p:cNvSpPr>
          <p:nvPr>
            <p:ph idx="1"/>
          </p:nvPr>
        </p:nvSpPr>
        <p:spPr>
          <a:xfrm>
            <a:off x="0" y="902127"/>
            <a:ext cx="12192000" cy="5894663"/>
          </a:xfrm>
          <a:solidFill>
            <a:schemeClr val="bg1"/>
          </a:solidFill>
        </p:spPr>
        <p:txBody>
          <a:bodyPr/>
          <a:lstStyle/>
          <a:p>
            <a:pPr marL="0" indent="0">
              <a:lnSpc>
                <a:spcPct val="200000"/>
              </a:lnSpc>
              <a:buNone/>
            </a:pPr>
            <a:r>
              <a:rPr lang="fr-FR" b="1" dirty="0">
                <a:solidFill>
                  <a:srgbClr val="000000"/>
                </a:solidFill>
                <a:latin typeface="Times New Roman" panose="02020603050405020304" pitchFamily="18" charset="0"/>
              </a:rPr>
              <a:t> </a:t>
            </a:r>
            <a:r>
              <a:rPr lang="fr-FR" sz="1400" dirty="0">
                <a:solidFill>
                  <a:schemeClr val="tx1"/>
                </a:solidFill>
                <a:latin typeface="Yu Gothic" panose="020B0400000000000000" pitchFamily="34" charset="-128"/>
                <a:ea typeface="Yu Gothic" panose="020B0400000000000000" pitchFamily="34" charset="-128"/>
              </a:rPr>
              <a:t>Le Modèle </a:t>
            </a:r>
            <a:r>
              <a:rPr lang="fr-FR" sz="1400" b="1" dirty="0" err="1">
                <a:solidFill>
                  <a:schemeClr val="tx1"/>
                </a:solidFill>
                <a:latin typeface="Yu Gothic" panose="020B0400000000000000" pitchFamily="34" charset="-128"/>
                <a:ea typeface="Yu Gothic" panose="020B0400000000000000" pitchFamily="34" charset="-128"/>
              </a:rPr>
              <a:t>LogisticRegression</a:t>
            </a:r>
            <a:r>
              <a:rPr lang="fr-FR" sz="1400" b="1" dirty="0">
                <a:solidFill>
                  <a:schemeClr val="tx1"/>
                </a:solidFill>
                <a:latin typeface="Yu Gothic" panose="020B0400000000000000" pitchFamily="34" charset="-128"/>
                <a:ea typeface="Yu Gothic" panose="020B0400000000000000" pitchFamily="34" charset="-128"/>
              </a:rPr>
              <a:t>, peut également servir de </a:t>
            </a:r>
            <a:r>
              <a:rPr lang="fr-FR" sz="1400" b="1" dirty="0">
                <a:latin typeface="Yu Gothic" panose="020B0400000000000000" pitchFamily="34" charset="-128"/>
                <a:ea typeface="Yu Gothic" panose="020B0400000000000000" pitchFamily="34" charset="-128"/>
              </a:rPr>
              <a:t>Baseline, du fait de sa simplicité.</a:t>
            </a:r>
            <a:endParaRPr lang="fr-FR" sz="1400" b="0" i="0" u="none" strike="noStrike" baseline="0" dirty="0">
              <a:solidFill>
                <a:srgbClr val="000000"/>
              </a:solidFill>
              <a:latin typeface="Yu Gothic" panose="020B0400000000000000" pitchFamily="34" charset="-128"/>
              <a:ea typeface="Yu Gothic" panose="020B0400000000000000" pitchFamily="34" charset="-128"/>
            </a:endParaRPr>
          </a:p>
        </p:txBody>
      </p:sp>
      <p:sp>
        <p:nvSpPr>
          <p:cNvPr id="6" name="Espace réservé du pied de page 5">
            <a:extLst>
              <a:ext uri="{FF2B5EF4-FFF2-40B4-BE49-F238E27FC236}">
                <a16:creationId xmlns:a16="http://schemas.microsoft.com/office/drawing/2014/main" id="{A07D3E0A-5A28-510D-0A2A-01A7F391FA99}"/>
              </a:ext>
            </a:extLst>
          </p:cNvPr>
          <p:cNvSpPr>
            <a:spLocks noGrp="1"/>
          </p:cNvSpPr>
          <p:nvPr>
            <p:ph type="ftr" sz="quarter" idx="11"/>
          </p:nvPr>
        </p:nvSpPr>
        <p:spPr>
          <a:xfrm>
            <a:off x="11519940" y="6485895"/>
            <a:ext cx="610699" cy="310896"/>
          </a:xfrm>
        </p:spPr>
        <p:txBody>
          <a:bodyPr/>
          <a:lstStyle/>
          <a:p>
            <a:r>
              <a:rPr lang="en-US" sz="2000" dirty="0"/>
              <a:t>13</a:t>
            </a:r>
          </a:p>
        </p:txBody>
      </p:sp>
      <p:pic>
        <p:nvPicPr>
          <p:cNvPr id="9" name="Image 8">
            <a:extLst>
              <a:ext uri="{FF2B5EF4-FFF2-40B4-BE49-F238E27FC236}">
                <a16:creationId xmlns:a16="http://schemas.microsoft.com/office/drawing/2014/main" id="{25F242F0-2056-906A-B516-3E99475FFF46}"/>
              </a:ext>
            </a:extLst>
          </p:cNvPr>
          <p:cNvPicPr>
            <a:picLocks noChangeAspect="1"/>
          </p:cNvPicPr>
          <p:nvPr/>
        </p:nvPicPr>
        <p:blipFill>
          <a:blip r:embed="rId3"/>
          <a:stretch>
            <a:fillRect/>
          </a:stretch>
        </p:blipFill>
        <p:spPr>
          <a:xfrm>
            <a:off x="200472" y="1880162"/>
            <a:ext cx="4204751" cy="790685"/>
          </a:xfrm>
          <a:prstGeom prst="rect">
            <a:avLst/>
          </a:prstGeom>
        </p:spPr>
      </p:pic>
      <p:sp>
        <p:nvSpPr>
          <p:cNvPr id="12" name="Flèche : droite 11">
            <a:extLst>
              <a:ext uri="{FF2B5EF4-FFF2-40B4-BE49-F238E27FC236}">
                <a16:creationId xmlns:a16="http://schemas.microsoft.com/office/drawing/2014/main" id="{3F0BD214-771D-6A10-26DE-60311C894438}"/>
              </a:ext>
            </a:extLst>
          </p:cNvPr>
          <p:cNvSpPr/>
          <p:nvPr/>
        </p:nvSpPr>
        <p:spPr>
          <a:xfrm>
            <a:off x="7663853" y="2178603"/>
            <a:ext cx="350955" cy="2042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a:extLst>
              <a:ext uri="{FF2B5EF4-FFF2-40B4-BE49-F238E27FC236}">
                <a16:creationId xmlns:a16="http://schemas.microsoft.com/office/drawing/2014/main" id="{CCF32655-58CE-96B6-4A7F-200A7E7DDAF0}"/>
              </a:ext>
            </a:extLst>
          </p:cNvPr>
          <p:cNvPicPr>
            <a:picLocks noChangeAspect="1"/>
          </p:cNvPicPr>
          <p:nvPr/>
        </p:nvPicPr>
        <p:blipFill>
          <a:blip r:embed="rId4"/>
          <a:stretch>
            <a:fillRect/>
          </a:stretch>
        </p:blipFill>
        <p:spPr>
          <a:xfrm>
            <a:off x="8291910" y="1880161"/>
            <a:ext cx="3699617" cy="790685"/>
          </a:xfrm>
          <a:prstGeom prst="rect">
            <a:avLst/>
          </a:prstGeom>
          <a:ln>
            <a:solidFill>
              <a:schemeClr val="accent1"/>
            </a:solidFill>
          </a:ln>
        </p:spPr>
      </p:pic>
      <p:pic>
        <p:nvPicPr>
          <p:cNvPr id="16" name="Image 15">
            <a:extLst>
              <a:ext uri="{FF2B5EF4-FFF2-40B4-BE49-F238E27FC236}">
                <a16:creationId xmlns:a16="http://schemas.microsoft.com/office/drawing/2014/main" id="{6C5496D0-12B4-AB51-31E9-59598B86FAA2}"/>
              </a:ext>
            </a:extLst>
          </p:cNvPr>
          <p:cNvPicPr>
            <a:picLocks noChangeAspect="1"/>
          </p:cNvPicPr>
          <p:nvPr/>
        </p:nvPicPr>
        <p:blipFill>
          <a:blip r:embed="rId5"/>
          <a:stretch>
            <a:fillRect/>
          </a:stretch>
        </p:blipFill>
        <p:spPr>
          <a:xfrm>
            <a:off x="4605697" y="1880162"/>
            <a:ext cx="2691092" cy="790685"/>
          </a:xfrm>
          <a:prstGeom prst="rect">
            <a:avLst/>
          </a:prstGeom>
          <a:ln>
            <a:solidFill>
              <a:schemeClr val="accent1"/>
            </a:solidFill>
          </a:ln>
        </p:spPr>
      </p:pic>
      <p:pic>
        <p:nvPicPr>
          <p:cNvPr id="18" name="Image 17">
            <a:extLst>
              <a:ext uri="{FF2B5EF4-FFF2-40B4-BE49-F238E27FC236}">
                <a16:creationId xmlns:a16="http://schemas.microsoft.com/office/drawing/2014/main" id="{8F910DA9-6874-5B0E-283E-95F6A56B4AC3}"/>
              </a:ext>
            </a:extLst>
          </p:cNvPr>
          <p:cNvPicPr>
            <a:picLocks noChangeAspect="1"/>
          </p:cNvPicPr>
          <p:nvPr/>
        </p:nvPicPr>
        <p:blipFill>
          <a:blip r:embed="rId6"/>
          <a:stretch>
            <a:fillRect/>
          </a:stretch>
        </p:blipFill>
        <p:spPr>
          <a:xfrm>
            <a:off x="2034352" y="3066190"/>
            <a:ext cx="7536129" cy="3608504"/>
          </a:xfrm>
          <a:prstGeom prst="rect">
            <a:avLst/>
          </a:prstGeom>
          <a:ln w="57150">
            <a:solidFill>
              <a:schemeClr val="accent1"/>
            </a:solidFill>
          </a:ln>
        </p:spPr>
      </p:pic>
    </p:spTree>
    <p:extLst>
      <p:ext uri="{BB962C8B-B14F-4D97-AF65-F5344CB8AC3E}">
        <p14:creationId xmlns:p14="http://schemas.microsoft.com/office/powerpoint/2010/main" val="4085597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AE96CB-D695-E138-0FA5-250F72D594B8}"/>
              </a:ext>
            </a:extLst>
          </p:cNvPr>
          <p:cNvSpPr>
            <a:spLocks noGrp="1"/>
          </p:cNvSpPr>
          <p:nvPr>
            <p:ph type="title"/>
          </p:nvPr>
        </p:nvSpPr>
        <p:spPr>
          <a:xfrm>
            <a:off x="0" y="0"/>
            <a:ext cx="12192000" cy="916386"/>
          </a:xfrm>
          <a:solidFill>
            <a:schemeClr val="tx2"/>
          </a:solidFill>
        </p:spPr>
        <p:txBody>
          <a:bodyPr/>
          <a:lstStyle/>
          <a:p>
            <a:r>
              <a:rPr lang="fr-FR" sz="3200" b="1" i="0" u="none" strike="noStrike" baseline="0" dirty="0">
                <a:solidFill>
                  <a:schemeClr val="accent4"/>
                </a:solidFill>
                <a:latin typeface="Yu Gothic" panose="020B0400000000000000" pitchFamily="34" charset="-128"/>
                <a:ea typeface="Yu Gothic" panose="020B0400000000000000" pitchFamily="34" charset="-128"/>
              </a:rPr>
              <a:t>Modèle </a:t>
            </a:r>
            <a:r>
              <a:rPr lang="fr-FR" sz="3200" b="1" i="0" u="none" strike="noStrike" baseline="0" dirty="0" err="1">
                <a:solidFill>
                  <a:schemeClr val="accent4"/>
                </a:solidFill>
                <a:latin typeface="Yu Gothic" panose="020B0400000000000000" pitchFamily="34" charset="-128"/>
                <a:ea typeface="Yu Gothic" panose="020B0400000000000000" pitchFamily="34" charset="-128"/>
              </a:rPr>
              <a:t>RandomForestClassifier</a:t>
            </a:r>
            <a:br>
              <a:rPr lang="fr-FR" sz="3200" b="1" i="0" u="none" strike="noStrike" baseline="0" dirty="0">
                <a:solidFill>
                  <a:schemeClr val="accent4"/>
                </a:solidFill>
                <a:latin typeface="Yu Gothic" panose="020B0400000000000000" pitchFamily="34" charset="-128"/>
                <a:ea typeface="Yu Gothic" panose="020B0400000000000000" pitchFamily="34" charset="-128"/>
              </a:rPr>
            </a:br>
            <a:r>
              <a:rPr kumimoji="0" lang="fr-FR" sz="20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t>(avec gestion du déséquilibre des classes)</a:t>
            </a:r>
            <a:endParaRPr lang="fr-FR" sz="3200" dirty="0"/>
          </a:p>
        </p:txBody>
      </p:sp>
      <p:sp>
        <p:nvSpPr>
          <p:cNvPr id="3" name="Espace réservé du contenu 2">
            <a:extLst>
              <a:ext uri="{FF2B5EF4-FFF2-40B4-BE49-F238E27FC236}">
                <a16:creationId xmlns:a16="http://schemas.microsoft.com/office/drawing/2014/main" id="{E184FE4C-EEB7-1F80-2739-7876A77A77FF}"/>
              </a:ext>
            </a:extLst>
          </p:cNvPr>
          <p:cNvSpPr>
            <a:spLocks noGrp="1"/>
          </p:cNvSpPr>
          <p:nvPr>
            <p:ph idx="1"/>
          </p:nvPr>
        </p:nvSpPr>
        <p:spPr>
          <a:xfrm>
            <a:off x="0" y="916386"/>
            <a:ext cx="12192000" cy="5907734"/>
          </a:xfrm>
          <a:solidFill>
            <a:schemeClr val="bg1"/>
          </a:solidFill>
        </p:spPr>
        <p:txBody>
          <a:bodyPr/>
          <a:lstStyle/>
          <a:p>
            <a:pPr marL="0" indent="0">
              <a:lnSpc>
                <a:spcPct val="150000"/>
              </a:lnSpc>
              <a:buNone/>
            </a:pPr>
            <a:r>
              <a:rPr lang="fr-FR" b="1" i="0" u="none" strike="noStrike" baseline="0" dirty="0">
                <a:solidFill>
                  <a:srgbClr val="000000"/>
                </a:solidFill>
                <a:latin typeface="Yu Gothic" panose="020B0400000000000000" pitchFamily="34" charset="-128"/>
                <a:ea typeface="Yu Gothic" panose="020B0400000000000000" pitchFamily="34" charset="-128"/>
              </a:rPr>
              <a:t>	</a:t>
            </a:r>
            <a:endParaRPr lang="fr-FR" dirty="0"/>
          </a:p>
        </p:txBody>
      </p:sp>
      <p:sp>
        <p:nvSpPr>
          <p:cNvPr id="7" name="Espace réservé du pied de page 6">
            <a:extLst>
              <a:ext uri="{FF2B5EF4-FFF2-40B4-BE49-F238E27FC236}">
                <a16:creationId xmlns:a16="http://schemas.microsoft.com/office/drawing/2014/main" id="{583F34BF-6ACA-656F-7594-BC6367414B6F}"/>
              </a:ext>
            </a:extLst>
          </p:cNvPr>
          <p:cNvSpPr>
            <a:spLocks noGrp="1"/>
          </p:cNvSpPr>
          <p:nvPr>
            <p:ph type="ftr" sz="quarter" idx="11"/>
          </p:nvPr>
        </p:nvSpPr>
        <p:spPr>
          <a:xfrm>
            <a:off x="11557416" y="6513224"/>
            <a:ext cx="542508" cy="310896"/>
          </a:xfrm>
        </p:spPr>
        <p:txBody>
          <a:bodyPr/>
          <a:lstStyle/>
          <a:p>
            <a:r>
              <a:rPr lang="en-US" sz="2000" dirty="0"/>
              <a:t>14</a:t>
            </a:r>
          </a:p>
        </p:txBody>
      </p:sp>
      <p:pic>
        <p:nvPicPr>
          <p:cNvPr id="14" name="Image 13">
            <a:extLst>
              <a:ext uri="{FF2B5EF4-FFF2-40B4-BE49-F238E27FC236}">
                <a16:creationId xmlns:a16="http://schemas.microsoft.com/office/drawing/2014/main" id="{57471C8F-F4BD-A06C-AFF0-373605AD5DAC}"/>
              </a:ext>
            </a:extLst>
          </p:cNvPr>
          <p:cNvPicPr>
            <a:picLocks noChangeAspect="1"/>
          </p:cNvPicPr>
          <p:nvPr/>
        </p:nvPicPr>
        <p:blipFill>
          <a:blip r:embed="rId2"/>
          <a:stretch>
            <a:fillRect/>
          </a:stretch>
        </p:blipFill>
        <p:spPr>
          <a:xfrm>
            <a:off x="8683732" y="1666669"/>
            <a:ext cx="3508268" cy="809738"/>
          </a:xfrm>
          <a:prstGeom prst="rect">
            <a:avLst/>
          </a:prstGeom>
          <a:ln>
            <a:solidFill>
              <a:schemeClr val="accent1"/>
            </a:solidFill>
          </a:ln>
        </p:spPr>
      </p:pic>
      <p:pic>
        <p:nvPicPr>
          <p:cNvPr id="16" name="Image 15">
            <a:extLst>
              <a:ext uri="{FF2B5EF4-FFF2-40B4-BE49-F238E27FC236}">
                <a16:creationId xmlns:a16="http://schemas.microsoft.com/office/drawing/2014/main" id="{4BF06425-8516-4037-57E2-BCEC7EEC09B6}"/>
              </a:ext>
            </a:extLst>
          </p:cNvPr>
          <p:cNvPicPr>
            <a:picLocks noChangeAspect="1"/>
          </p:cNvPicPr>
          <p:nvPr/>
        </p:nvPicPr>
        <p:blipFill>
          <a:blip r:embed="rId3"/>
          <a:stretch>
            <a:fillRect/>
          </a:stretch>
        </p:blipFill>
        <p:spPr>
          <a:xfrm>
            <a:off x="4989310" y="1666669"/>
            <a:ext cx="2595914" cy="809738"/>
          </a:xfrm>
          <a:prstGeom prst="rect">
            <a:avLst/>
          </a:prstGeom>
          <a:ln>
            <a:solidFill>
              <a:schemeClr val="accent1"/>
            </a:solidFill>
          </a:ln>
        </p:spPr>
      </p:pic>
      <p:pic>
        <p:nvPicPr>
          <p:cNvPr id="18" name="Image 17">
            <a:extLst>
              <a:ext uri="{FF2B5EF4-FFF2-40B4-BE49-F238E27FC236}">
                <a16:creationId xmlns:a16="http://schemas.microsoft.com/office/drawing/2014/main" id="{EDE1B184-D935-C3BE-D2FB-10932E8108D2}"/>
              </a:ext>
            </a:extLst>
          </p:cNvPr>
          <p:cNvPicPr>
            <a:picLocks noChangeAspect="1"/>
          </p:cNvPicPr>
          <p:nvPr/>
        </p:nvPicPr>
        <p:blipFill>
          <a:blip r:embed="rId4"/>
          <a:stretch>
            <a:fillRect/>
          </a:stretch>
        </p:blipFill>
        <p:spPr>
          <a:xfrm>
            <a:off x="154471" y="1666670"/>
            <a:ext cx="4374571" cy="809738"/>
          </a:xfrm>
          <a:prstGeom prst="rect">
            <a:avLst/>
          </a:prstGeom>
        </p:spPr>
      </p:pic>
      <p:pic>
        <p:nvPicPr>
          <p:cNvPr id="20" name="Image 19">
            <a:extLst>
              <a:ext uri="{FF2B5EF4-FFF2-40B4-BE49-F238E27FC236}">
                <a16:creationId xmlns:a16="http://schemas.microsoft.com/office/drawing/2014/main" id="{AC48F8A7-ACCB-729C-2EA9-FED72D97CABD}"/>
              </a:ext>
            </a:extLst>
          </p:cNvPr>
          <p:cNvPicPr>
            <a:picLocks noChangeAspect="1"/>
          </p:cNvPicPr>
          <p:nvPr/>
        </p:nvPicPr>
        <p:blipFill>
          <a:blip r:embed="rId5"/>
          <a:stretch>
            <a:fillRect/>
          </a:stretch>
        </p:blipFill>
        <p:spPr>
          <a:xfrm>
            <a:off x="1982222" y="2932285"/>
            <a:ext cx="7585225" cy="3744676"/>
          </a:xfrm>
          <a:prstGeom prst="rect">
            <a:avLst/>
          </a:prstGeom>
          <a:ln w="57150">
            <a:solidFill>
              <a:schemeClr val="accent1"/>
            </a:solidFill>
          </a:ln>
        </p:spPr>
      </p:pic>
      <p:sp>
        <p:nvSpPr>
          <p:cNvPr id="21" name="Flèche : droite 20">
            <a:extLst>
              <a:ext uri="{FF2B5EF4-FFF2-40B4-BE49-F238E27FC236}">
                <a16:creationId xmlns:a16="http://schemas.microsoft.com/office/drawing/2014/main" id="{03420C71-C3BE-E8B8-A80E-B3CB601C15E4}"/>
              </a:ext>
            </a:extLst>
          </p:cNvPr>
          <p:cNvSpPr/>
          <p:nvPr/>
        </p:nvSpPr>
        <p:spPr>
          <a:xfrm>
            <a:off x="8045492" y="1961073"/>
            <a:ext cx="368215" cy="2209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05826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54448F-E066-2B6C-F608-7B125415010A}"/>
              </a:ext>
            </a:extLst>
          </p:cNvPr>
          <p:cNvSpPr>
            <a:spLocks noGrp="1"/>
          </p:cNvSpPr>
          <p:nvPr>
            <p:ph type="title"/>
          </p:nvPr>
        </p:nvSpPr>
        <p:spPr>
          <a:xfrm>
            <a:off x="0" y="0"/>
            <a:ext cx="12192000" cy="865305"/>
          </a:xfrm>
          <a:solidFill>
            <a:schemeClr val="tx2"/>
          </a:solidFill>
        </p:spPr>
        <p:txBody>
          <a:bodyPr/>
          <a:lstStyle/>
          <a:p>
            <a:r>
              <a:rPr kumimoji="0" lang="fr-FR" sz="32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t>Modèle </a:t>
            </a:r>
            <a:r>
              <a:rPr kumimoji="0" lang="fr-FR" sz="3200" b="1" i="0" u="none" strike="noStrike" kern="1200" cap="none" spc="0" normalizeH="0" baseline="0" noProof="0" dirty="0" err="1">
                <a:ln>
                  <a:noFill/>
                </a:ln>
                <a:solidFill>
                  <a:srgbClr val="E9943A"/>
                </a:solidFill>
                <a:effectLst/>
                <a:uLnTx/>
                <a:uFillTx/>
                <a:latin typeface="Yu Gothic" panose="020B0400000000000000" pitchFamily="34" charset="-128"/>
                <a:ea typeface="Yu Gothic" panose="020B0400000000000000" pitchFamily="34" charset="-128"/>
                <a:cs typeface="+mj-cs"/>
              </a:rPr>
              <a:t>XGBClassifier</a:t>
            </a:r>
            <a:br>
              <a:rPr kumimoji="0" lang="fr-FR" sz="32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br>
            <a:r>
              <a:rPr kumimoji="0" lang="fr-FR" sz="20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t>(avec gestion du déséquilibre des classes)</a:t>
            </a:r>
            <a:endParaRPr lang="fr-FR" dirty="0"/>
          </a:p>
        </p:txBody>
      </p:sp>
      <p:sp>
        <p:nvSpPr>
          <p:cNvPr id="3" name="Espace réservé du contenu 2">
            <a:extLst>
              <a:ext uri="{FF2B5EF4-FFF2-40B4-BE49-F238E27FC236}">
                <a16:creationId xmlns:a16="http://schemas.microsoft.com/office/drawing/2014/main" id="{6C3446EB-9261-CB82-C63E-13AF8E6211B8}"/>
              </a:ext>
            </a:extLst>
          </p:cNvPr>
          <p:cNvSpPr>
            <a:spLocks noGrp="1"/>
          </p:cNvSpPr>
          <p:nvPr>
            <p:ph idx="1"/>
          </p:nvPr>
        </p:nvSpPr>
        <p:spPr>
          <a:xfrm>
            <a:off x="-48105" y="865305"/>
            <a:ext cx="12192000" cy="5863266"/>
          </a:xfrm>
          <a:solidFill>
            <a:schemeClr val="bg1"/>
          </a:solidFill>
        </p:spPr>
        <p:txBody>
          <a:bodyPr/>
          <a:lstStyle/>
          <a:p>
            <a:pPr marL="0" indent="0">
              <a:buNone/>
            </a:pPr>
            <a:endParaRPr lang="fr-FR" b="1" dirty="0">
              <a:solidFill>
                <a:schemeClr val="accent2"/>
              </a:solidFill>
            </a:endParaRPr>
          </a:p>
          <a:p>
            <a:pPr marL="0" indent="0">
              <a:buNone/>
            </a:pPr>
            <a:endParaRPr lang="fr-FR" b="1" dirty="0">
              <a:solidFill>
                <a:schemeClr val="accent2"/>
              </a:solidFill>
            </a:endParaRPr>
          </a:p>
        </p:txBody>
      </p:sp>
      <p:sp>
        <p:nvSpPr>
          <p:cNvPr id="6" name="Espace réservé du pied de page 5">
            <a:extLst>
              <a:ext uri="{FF2B5EF4-FFF2-40B4-BE49-F238E27FC236}">
                <a16:creationId xmlns:a16="http://schemas.microsoft.com/office/drawing/2014/main" id="{0504FF8F-2D5B-1770-1422-02420F6BA300}"/>
              </a:ext>
            </a:extLst>
          </p:cNvPr>
          <p:cNvSpPr>
            <a:spLocks noGrp="1"/>
          </p:cNvSpPr>
          <p:nvPr>
            <p:ph type="ftr" sz="quarter" idx="11"/>
          </p:nvPr>
        </p:nvSpPr>
        <p:spPr>
          <a:xfrm>
            <a:off x="11572407" y="6471321"/>
            <a:ext cx="533400" cy="310896"/>
          </a:xfrm>
        </p:spPr>
        <p:txBody>
          <a:bodyPr/>
          <a:lstStyle/>
          <a:p>
            <a:r>
              <a:rPr lang="en-US" sz="2000" dirty="0"/>
              <a:t>15</a:t>
            </a:r>
          </a:p>
        </p:txBody>
      </p:sp>
      <p:pic>
        <p:nvPicPr>
          <p:cNvPr id="7" name="Image 6">
            <a:extLst>
              <a:ext uri="{FF2B5EF4-FFF2-40B4-BE49-F238E27FC236}">
                <a16:creationId xmlns:a16="http://schemas.microsoft.com/office/drawing/2014/main" id="{817F3F62-BCF2-B2D3-BD99-1EC644BF27BE}"/>
              </a:ext>
            </a:extLst>
          </p:cNvPr>
          <p:cNvPicPr>
            <a:picLocks noChangeAspect="1"/>
          </p:cNvPicPr>
          <p:nvPr/>
        </p:nvPicPr>
        <p:blipFill>
          <a:blip r:embed="rId3"/>
          <a:stretch>
            <a:fillRect/>
          </a:stretch>
        </p:blipFill>
        <p:spPr>
          <a:xfrm>
            <a:off x="4853292" y="1384301"/>
            <a:ext cx="2474884" cy="809646"/>
          </a:xfrm>
          <a:prstGeom prst="rect">
            <a:avLst/>
          </a:prstGeom>
          <a:ln>
            <a:solidFill>
              <a:schemeClr val="accent1"/>
            </a:solidFill>
          </a:ln>
        </p:spPr>
      </p:pic>
      <p:pic>
        <p:nvPicPr>
          <p:cNvPr id="9" name="Image 8">
            <a:extLst>
              <a:ext uri="{FF2B5EF4-FFF2-40B4-BE49-F238E27FC236}">
                <a16:creationId xmlns:a16="http://schemas.microsoft.com/office/drawing/2014/main" id="{A9DF845C-4A95-4B5C-C610-AB6712400328}"/>
              </a:ext>
            </a:extLst>
          </p:cNvPr>
          <p:cNvPicPr>
            <a:picLocks noChangeAspect="1"/>
          </p:cNvPicPr>
          <p:nvPr/>
        </p:nvPicPr>
        <p:blipFill>
          <a:blip r:embed="rId4"/>
          <a:stretch>
            <a:fillRect/>
          </a:stretch>
        </p:blipFill>
        <p:spPr>
          <a:xfrm>
            <a:off x="8321268" y="1384301"/>
            <a:ext cx="3615339" cy="809645"/>
          </a:xfrm>
          <a:prstGeom prst="rect">
            <a:avLst/>
          </a:prstGeom>
          <a:ln>
            <a:solidFill>
              <a:schemeClr val="accent1"/>
            </a:solidFill>
          </a:ln>
        </p:spPr>
      </p:pic>
      <p:pic>
        <p:nvPicPr>
          <p:cNvPr id="11" name="Image 10">
            <a:extLst>
              <a:ext uri="{FF2B5EF4-FFF2-40B4-BE49-F238E27FC236}">
                <a16:creationId xmlns:a16="http://schemas.microsoft.com/office/drawing/2014/main" id="{5BA1F7B4-FDB6-CBA9-24FD-AB9C12351368}"/>
              </a:ext>
            </a:extLst>
          </p:cNvPr>
          <p:cNvPicPr>
            <a:picLocks noChangeAspect="1"/>
          </p:cNvPicPr>
          <p:nvPr/>
        </p:nvPicPr>
        <p:blipFill>
          <a:blip r:embed="rId5"/>
          <a:stretch>
            <a:fillRect/>
          </a:stretch>
        </p:blipFill>
        <p:spPr>
          <a:xfrm>
            <a:off x="1999729" y="2841391"/>
            <a:ext cx="7572950" cy="3872393"/>
          </a:xfrm>
          <a:prstGeom prst="rect">
            <a:avLst/>
          </a:prstGeom>
          <a:ln w="57150">
            <a:solidFill>
              <a:schemeClr val="accent1"/>
            </a:solidFill>
          </a:ln>
        </p:spPr>
      </p:pic>
      <p:pic>
        <p:nvPicPr>
          <p:cNvPr id="13" name="Image 12">
            <a:extLst>
              <a:ext uri="{FF2B5EF4-FFF2-40B4-BE49-F238E27FC236}">
                <a16:creationId xmlns:a16="http://schemas.microsoft.com/office/drawing/2014/main" id="{E92B773D-E8F6-6F7B-6D9A-7B1D3E5E9585}"/>
              </a:ext>
            </a:extLst>
          </p:cNvPr>
          <p:cNvPicPr>
            <a:picLocks noChangeAspect="1"/>
          </p:cNvPicPr>
          <p:nvPr/>
        </p:nvPicPr>
        <p:blipFill>
          <a:blip r:embed="rId6"/>
          <a:stretch>
            <a:fillRect/>
          </a:stretch>
        </p:blipFill>
        <p:spPr>
          <a:xfrm>
            <a:off x="248351" y="975979"/>
            <a:ext cx="4321702" cy="1509262"/>
          </a:xfrm>
          <a:prstGeom prst="rect">
            <a:avLst/>
          </a:prstGeom>
        </p:spPr>
      </p:pic>
      <p:sp>
        <p:nvSpPr>
          <p:cNvPr id="14" name="Flèche : droite 13">
            <a:extLst>
              <a:ext uri="{FF2B5EF4-FFF2-40B4-BE49-F238E27FC236}">
                <a16:creationId xmlns:a16="http://schemas.microsoft.com/office/drawing/2014/main" id="{A2BB6B6C-4719-719E-3DA8-572CA5065E9D}"/>
              </a:ext>
            </a:extLst>
          </p:cNvPr>
          <p:cNvSpPr/>
          <p:nvPr/>
        </p:nvSpPr>
        <p:spPr>
          <a:xfrm>
            <a:off x="7535464" y="1752089"/>
            <a:ext cx="398900" cy="2025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27757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7E08C6-5290-00C7-E930-6ED2A01120F1}"/>
              </a:ext>
            </a:extLst>
          </p:cNvPr>
          <p:cNvSpPr>
            <a:spLocks noGrp="1"/>
          </p:cNvSpPr>
          <p:nvPr>
            <p:ph type="title"/>
          </p:nvPr>
        </p:nvSpPr>
        <p:spPr>
          <a:xfrm>
            <a:off x="0" y="0"/>
            <a:ext cx="12192000" cy="889852"/>
          </a:xfrm>
          <a:solidFill>
            <a:schemeClr val="tx2"/>
          </a:solidFill>
        </p:spPr>
        <p:txBody>
          <a:bodyPr/>
          <a:lstStyle/>
          <a:p>
            <a:r>
              <a:rPr kumimoji="0" lang="fr-FR" sz="32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t>Modèle </a:t>
            </a:r>
            <a:r>
              <a:rPr kumimoji="0" lang="fr-FR" sz="3200" b="1" i="0" u="none" strike="noStrike" kern="1200" cap="none" spc="0" normalizeH="0" baseline="0" noProof="0" dirty="0" err="1">
                <a:ln>
                  <a:noFill/>
                </a:ln>
                <a:solidFill>
                  <a:srgbClr val="E9943A"/>
                </a:solidFill>
                <a:effectLst/>
                <a:uLnTx/>
                <a:uFillTx/>
                <a:latin typeface="Yu Gothic" panose="020B0400000000000000" pitchFamily="34" charset="-128"/>
                <a:ea typeface="Yu Gothic" panose="020B0400000000000000" pitchFamily="34" charset="-128"/>
                <a:cs typeface="+mj-cs"/>
              </a:rPr>
              <a:t>LGBMClassifier</a:t>
            </a:r>
            <a:br>
              <a:rPr kumimoji="0" lang="fr-FR" sz="32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br>
            <a:r>
              <a:rPr kumimoji="0" lang="fr-FR" sz="20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t>(avec gestion du déséquilibre des classes)</a:t>
            </a:r>
            <a:endParaRPr lang="fr-FR" dirty="0"/>
          </a:p>
        </p:txBody>
      </p:sp>
      <p:sp>
        <p:nvSpPr>
          <p:cNvPr id="3" name="Espace réservé du contenu 2">
            <a:extLst>
              <a:ext uri="{FF2B5EF4-FFF2-40B4-BE49-F238E27FC236}">
                <a16:creationId xmlns:a16="http://schemas.microsoft.com/office/drawing/2014/main" id="{56CD0878-0614-540B-1252-3C03F841F22D}"/>
              </a:ext>
            </a:extLst>
          </p:cNvPr>
          <p:cNvSpPr>
            <a:spLocks noGrp="1"/>
          </p:cNvSpPr>
          <p:nvPr>
            <p:ph idx="1"/>
          </p:nvPr>
        </p:nvSpPr>
        <p:spPr>
          <a:xfrm>
            <a:off x="0" y="889852"/>
            <a:ext cx="12192000" cy="5968148"/>
          </a:xfrm>
          <a:solidFill>
            <a:schemeClr val="bg1"/>
          </a:solidFill>
        </p:spPr>
        <p:txBody>
          <a:bodyPr/>
          <a:lstStyle/>
          <a:p>
            <a:endParaRPr lang="fr-FR" dirty="0"/>
          </a:p>
          <a:p>
            <a:endParaRPr lang="fr-FR" dirty="0"/>
          </a:p>
        </p:txBody>
      </p:sp>
      <p:sp>
        <p:nvSpPr>
          <p:cNvPr id="4" name="Espace réservé du pied de page 3">
            <a:extLst>
              <a:ext uri="{FF2B5EF4-FFF2-40B4-BE49-F238E27FC236}">
                <a16:creationId xmlns:a16="http://schemas.microsoft.com/office/drawing/2014/main" id="{6C919E1D-E2DA-1908-7292-D3B459F565D2}"/>
              </a:ext>
            </a:extLst>
          </p:cNvPr>
          <p:cNvSpPr>
            <a:spLocks noGrp="1"/>
          </p:cNvSpPr>
          <p:nvPr>
            <p:ph type="ftr" sz="quarter" idx="11"/>
          </p:nvPr>
        </p:nvSpPr>
        <p:spPr>
          <a:xfrm>
            <a:off x="11561944" y="6471618"/>
            <a:ext cx="527775" cy="304801"/>
          </a:xfrm>
        </p:spPr>
        <p:txBody>
          <a:bodyPr/>
          <a:lstStyle/>
          <a:p>
            <a:r>
              <a:rPr lang="en-US" sz="2000" dirty="0"/>
              <a:t>16</a:t>
            </a:r>
          </a:p>
        </p:txBody>
      </p:sp>
      <p:pic>
        <p:nvPicPr>
          <p:cNvPr id="12" name="Image 11">
            <a:extLst>
              <a:ext uri="{FF2B5EF4-FFF2-40B4-BE49-F238E27FC236}">
                <a16:creationId xmlns:a16="http://schemas.microsoft.com/office/drawing/2014/main" id="{15A81F66-7999-89E7-3532-9440DE76A4E6}"/>
              </a:ext>
            </a:extLst>
          </p:cNvPr>
          <p:cNvPicPr>
            <a:picLocks noChangeAspect="1"/>
          </p:cNvPicPr>
          <p:nvPr/>
        </p:nvPicPr>
        <p:blipFill>
          <a:blip r:embed="rId2"/>
          <a:stretch>
            <a:fillRect/>
          </a:stretch>
        </p:blipFill>
        <p:spPr>
          <a:xfrm>
            <a:off x="2132387" y="2787499"/>
            <a:ext cx="7478018" cy="3938557"/>
          </a:xfrm>
          <a:prstGeom prst="rect">
            <a:avLst/>
          </a:prstGeom>
          <a:ln w="57150">
            <a:solidFill>
              <a:schemeClr val="accent1"/>
            </a:solidFill>
          </a:ln>
        </p:spPr>
      </p:pic>
      <p:sp>
        <p:nvSpPr>
          <p:cNvPr id="13" name="Flèche : droite 12">
            <a:extLst>
              <a:ext uri="{FF2B5EF4-FFF2-40B4-BE49-F238E27FC236}">
                <a16:creationId xmlns:a16="http://schemas.microsoft.com/office/drawing/2014/main" id="{78614B2E-5FC0-6DEF-DC70-7B113A20ABB2}"/>
              </a:ext>
            </a:extLst>
          </p:cNvPr>
          <p:cNvSpPr/>
          <p:nvPr/>
        </p:nvSpPr>
        <p:spPr>
          <a:xfrm>
            <a:off x="7814335" y="1686193"/>
            <a:ext cx="386626" cy="2393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C30FD86A-EE2C-5C2E-3F66-BD6C12BE42D9}"/>
              </a:ext>
            </a:extLst>
          </p:cNvPr>
          <p:cNvPicPr>
            <a:picLocks noChangeAspect="1"/>
          </p:cNvPicPr>
          <p:nvPr/>
        </p:nvPicPr>
        <p:blipFill>
          <a:blip r:embed="rId3"/>
          <a:stretch>
            <a:fillRect/>
          </a:stretch>
        </p:blipFill>
        <p:spPr>
          <a:xfrm>
            <a:off x="70887" y="1285684"/>
            <a:ext cx="4559897" cy="800212"/>
          </a:xfrm>
          <a:prstGeom prst="rect">
            <a:avLst/>
          </a:prstGeom>
        </p:spPr>
      </p:pic>
      <p:pic>
        <p:nvPicPr>
          <p:cNvPr id="11" name="Image 10">
            <a:extLst>
              <a:ext uri="{FF2B5EF4-FFF2-40B4-BE49-F238E27FC236}">
                <a16:creationId xmlns:a16="http://schemas.microsoft.com/office/drawing/2014/main" id="{A4EC7B37-07D1-1D23-07E0-9E2D2BC4E87A}"/>
              </a:ext>
            </a:extLst>
          </p:cNvPr>
          <p:cNvPicPr>
            <a:picLocks noChangeAspect="1"/>
          </p:cNvPicPr>
          <p:nvPr/>
        </p:nvPicPr>
        <p:blipFill>
          <a:blip r:embed="rId4"/>
          <a:stretch>
            <a:fillRect/>
          </a:stretch>
        </p:blipFill>
        <p:spPr>
          <a:xfrm>
            <a:off x="5045020" y="1285685"/>
            <a:ext cx="2516197" cy="800212"/>
          </a:xfrm>
          <a:prstGeom prst="rect">
            <a:avLst/>
          </a:prstGeom>
          <a:ln>
            <a:solidFill>
              <a:schemeClr val="accent1"/>
            </a:solidFill>
          </a:ln>
        </p:spPr>
      </p:pic>
      <p:pic>
        <p:nvPicPr>
          <p:cNvPr id="15" name="Image 14">
            <a:extLst>
              <a:ext uri="{FF2B5EF4-FFF2-40B4-BE49-F238E27FC236}">
                <a16:creationId xmlns:a16="http://schemas.microsoft.com/office/drawing/2014/main" id="{970B1D2A-B01B-4718-4457-52B92E0B936A}"/>
              </a:ext>
            </a:extLst>
          </p:cNvPr>
          <p:cNvPicPr>
            <a:picLocks noChangeAspect="1"/>
          </p:cNvPicPr>
          <p:nvPr/>
        </p:nvPicPr>
        <p:blipFill>
          <a:blip r:embed="rId5"/>
          <a:stretch>
            <a:fillRect/>
          </a:stretch>
        </p:blipFill>
        <p:spPr>
          <a:xfrm>
            <a:off x="8616879" y="1285684"/>
            <a:ext cx="3422721" cy="800212"/>
          </a:xfrm>
          <a:prstGeom prst="rect">
            <a:avLst/>
          </a:prstGeom>
          <a:ln>
            <a:solidFill>
              <a:schemeClr val="accent1"/>
            </a:solidFill>
          </a:ln>
        </p:spPr>
      </p:pic>
    </p:spTree>
    <p:extLst>
      <p:ext uri="{BB962C8B-B14F-4D97-AF65-F5344CB8AC3E}">
        <p14:creationId xmlns:p14="http://schemas.microsoft.com/office/powerpoint/2010/main" val="2644233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D2BBC-32CE-533E-C50E-4C6E2D5CCE37}"/>
              </a:ext>
            </a:extLst>
          </p:cNvPr>
          <p:cNvSpPr>
            <a:spLocks noGrp="1"/>
          </p:cNvSpPr>
          <p:nvPr>
            <p:ph type="title"/>
          </p:nvPr>
        </p:nvSpPr>
        <p:spPr>
          <a:xfrm>
            <a:off x="0" y="1"/>
            <a:ext cx="12192000" cy="850899"/>
          </a:xfrm>
          <a:solidFill>
            <a:schemeClr val="tx2"/>
          </a:solidFill>
        </p:spPr>
        <p:txBody>
          <a:bodyPr/>
          <a:lstStyle/>
          <a:p>
            <a:r>
              <a:rPr lang="fr-FR" sz="2800" b="1" i="0" u="none" strike="noStrike" baseline="0" dirty="0">
                <a:solidFill>
                  <a:schemeClr val="accent4"/>
                </a:solidFill>
                <a:latin typeface="Yu Gothic" panose="020B0400000000000000" pitchFamily="34" charset="-128"/>
                <a:ea typeface="Yu Gothic" panose="020B0400000000000000" pitchFamily="34" charset="-128"/>
              </a:rPr>
              <a:t>Optimisation des modèles en fonction du coût spécifique au métier et des hyperparamètres </a:t>
            </a:r>
            <a:endParaRPr lang="fr-FR" sz="2800" b="1" dirty="0">
              <a:solidFill>
                <a:schemeClr val="accent4"/>
              </a:solidFill>
              <a:latin typeface="Yu Gothic" panose="020B0400000000000000" pitchFamily="34" charset="-128"/>
              <a:ea typeface="Yu Gothic" panose="020B0400000000000000" pitchFamily="34" charset="-128"/>
            </a:endParaRPr>
          </a:p>
        </p:txBody>
      </p:sp>
      <p:sp>
        <p:nvSpPr>
          <p:cNvPr id="3" name="Espace réservé du contenu 2">
            <a:extLst>
              <a:ext uri="{FF2B5EF4-FFF2-40B4-BE49-F238E27FC236}">
                <a16:creationId xmlns:a16="http://schemas.microsoft.com/office/drawing/2014/main" id="{4132F305-0334-FBA2-44DD-A0FD8C4E1189}"/>
              </a:ext>
            </a:extLst>
          </p:cNvPr>
          <p:cNvSpPr>
            <a:spLocks noGrp="1"/>
          </p:cNvSpPr>
          <p:nvPr>
            <p:ph idx="1"/>
          </p:nvPr>
        </p:nvSpPr>
        <p:spPr>
          <a:xfrm>
            <a:off x="0" y="850900"/>
            <a:ext cx="12192000" cy="6007099"/>
          </a:xfrm>
          <a:solidFill>
            <a:schemeClr val="bg1"/>
          </a:solidFill>
        </p:spPr>
        <p:txBody>
          <a:bodyPr/>
          <a:lstStyle/>
          <a:p>
            <a:pPr marL="0" indent="0">
              <a:lnSpc>
                <a:spcPct val="150000"/>
              </a:lnSpc>
              <a:buNone/>
            </a:pPr>
            <a:r>
              <a:rPr lang="fr-FR" sz="1600" b="1" u="sng" dirty="0">
                <a:latin typeface="Yu Gothic" panose="020B0400000000000000" pitchFamily="34" charset="-128"/>
                <a:ea typeface="Yu Gothic" panose="020B0400000000000000" pitchFamily="34" charset="-128"/>
              </a:rPr>
              <a:t>Visualisation des résultats et Comparaison</a:t>
            </a:r>
          </a:p>
          <a:p>
            <a:pPr marL="0" indent="0">
              <a:buNone/>
            </a:pPr>
            <a:r>
              <a:rPr lang="fr-FR" b="1" dirty="0">
                <a:latin typeface="Yu Gothic" panose="020B0400000000000000" pitchFamily="34" charset="-128"/>
                <a:ea typeface="Yu Gothic" panose="020B0400000000000000" pitchFamily="34" charset="-128"/>
              </a:rPr>
              <a:t>																					</a:t>
            </a:r>
            <a:r>
              <a:rPr lang="fr-FR" b="1" u="sng" dirty="0">
                <a:solidFill>
                  <a:srgbClr val="FF0000"/>
                </a:solidFill>
                <a:latin typeface="Yu Gothic" panose="020B0400000000000000" pitchFamily="34" charset="-128"/>
                <a:ea typeface="Yu Gothic" panose="020B0400000000000000" pitchFamily="34" charset="-128"/>
              </a:rPr>
              <a:t>Modèle choisi </a:t>
            </a:r>
            <a:endParaRPr lang="fr-FR" u="sng" dirty="0">
              <a:solidFill>
                <a:srgbClr val="FF0000"/>
              </a:solidFill>
              <a:latin typeface="Yu Gothic" panose="020B0400000000000000" pitchFamily="34" charset="-128"/>
              <a:ea typeface="Yu Gothic" panose="020B0400000000000000" pitchFamily="34" charset="-128"/>
            </a:endParaRPr>
          </a:p>
          <a:p>
            <a:pPr marL="0" indent="0">
              <a:buNone/>
            </a:pPr>
            <a:endParaRPr lang="fr-FR" dirty="0">
              <a:latin typeface="Yu Gothic" panose="020B0400000000000000" pitchFamily="34" charset="-128"/>
              <a:ea typeface="Yu Gothic" panose="020B0400000000000000" pitchFamily="34" charset="-128"/>
            </a:endParaRPr>
          </a:p>
          <a:p>
            <a:pPr marL="0" indent="0">
              <a:buNone/>
            </a:pPr>
            <a:endParaRPr lang="fr-FR" sz="1600" b="1" dirty="0">
              <a:latin typeface="Yu Gothic" panose="020B0400000000000000" pitchFamily="34" charset="-128"/>
              <a:ea typeface="Yu Gothic" panose="020B0400000000000000" pitchFamily="34" charset="-128"/>
            </a:endParaRPr>
          </a:p>
          <a:p>
            <a:pPr marL="0" indent="0">
              <a:buNone/>
            </a:pPr>
            <a:endParaRPr lang="fr-FR" sz="1600" b="1" dirty="0">
              <a:latin typeface="Yu Gothic" panose="020B0400000000000000" pitchFamily="34" charset="-128"/>
              <a:ea typeface="Yu Gothic" panose="020B0400000000000000" pitchFamily="34" charset="-128"/>
            </a:endParaRPr>
          </a:p>
          <a:p>
            <a:pPr marL="0" indent="0">
              <a:buNone/>
            </a:pPr>
            <a:endParaRPr lang="fr-FR" sz="1600" b="1" dirty="0">
              <a:latin typeface="Yu Gothic" panose="020B0400000000000000" pitchFamily="34" charset="-128"/>
              <a:ea typeface="Yu Gothic" panose="020B0400000000000000" pitchFamily="34" charset="-128"/>
            </a:endParaRPr>
          </a:p>
          <a:p>
            <a:pPr marL="0" indent="0">
              <a:buNone/>
            </a:pPr>
            <a:endParaRPr lang="fr-FR" sz="1600" b="1" dirty="0">
              <a:latin typeface="Yu Gothic" panose="020B0400000000000000" pitchFamily="34" charset="-128"/>
              <a:ea typeface="Yu Gothic" panose="020B0400000000000000" pitchFamily="34" charset="-128"/>
            </a:endParaRPr>
          </a:p>
          <a:p>
            <a:pPr marL="0" indent="0">
              <a:buNone/>
            </a:pPr>
            <a:endParaRPr lang="fr-FR" sz="1600" b="1" dirty="0">
              <a:latin typeface="Yu Gothic" panose="020B0400000000000000" pitchFamily="34" charset="-128"/>
              <a:ea typeface="Yu Gothic" panose="020B0400000000000000" pitchFamily="34" charset="-128"/>
            </a:endParaRPr>
          </a:p>
          <a:p>
            <a:pPr marL="0" indent="0">
              <a:buNone/>
            </a:pPr>
            <a:endParaRPr lang="fr-FR" sz="1600" b="1" dirty="0">
              <a:latin typeface="Yu Gothic" panose="020B0400000000000000" pitchFamily="34" charset="-128"/>
              <a:ea typeface="Yu Gothic" panose="020B0400000000000000" pitchFamily="34" charset="-128"/>
            </a:endParaRPr>
          </a:p>
          <a:p>
            <a:pPr marL="0" indent="0">
              <a:buNone/>
            </a:pPr>
            <a:endParaRPr lang="fr-FR" sz="1600" b="1" dirty="0">
              <a:latin typeface="Yu Gothic" panose="020B0400000000000000" pitchFamily="34" charset="-128"/>
              <a:ea typeface="Yu Gothic" panose="020B0400000000000000" pitchFamily="34" charset="-128"/>
            </a:endParaRPr>
          </a:p>
          <a:p>
            <a:pPr marL="0" indent="0">
              <a:buNone/>
            </a:pPr>
            <a:endParaRPr lang="fr-FR" sz="1600" b="1" dirty="0">
              <a:latin typeface="Yu Gothic" panose="020B0400000000000000" pitchFamily="34" charset="-128"/>
              <a:ea typeface="Yu Gothic" panose="020B0400000000000000" pitchFamily="34" charset="-128"/>
            </a:endParaRPr>
          </a:p>
          <a:p>
            <a:pPr marL="0" indent="0">
              <a:buNone/>
            </a:pPr>
            <a:endParaRPr lang="fr-FR" sz="1600" b="1" dirty="0">
              <a:latin typeface="Yu Gothic" panose="020B0400000000000000" pitchFamily="34" charset="-128"/>
              <a:ea typeface="Yu Gothic" panose="020B0400000000000000" pitchFamily="34" charset="-128"/>
            </a:endParaRPr>
          </a:p>
          <a:p>
            <a:pPr marL="0" indent="0">
              <a:buNone/>
            </a:pPr>
            <a:endParaRPr lang="fr-FR" sz="1600" b="1" dirty="0">
              <a:latin typeface="Yu Gothic" panose="020B0400000000000000" pitchFamily="34" charset="-128"/>
              <a:ea typeface="Yu Gothic" panose="020B0400000000000000" pitchFamily="34" charset="-128"/>
            </a:endParaRPr>
          </a:p>
          <a:p>
            <a:pPr marL="0" indent="0">
              <a:buNone/>
            </a:pPr>
            <a:endParaRPr lang="fr-FR" sz="1600" b="1" dirty="0">
              <a:latin typeface="Yu Gothic" panose="020B0400000000000000" pitchFamily="34" charset="-128"/>
              <a:ea typeface="Yu Gothic" panose="020B0400000000000000" pitchFamily="34" charset="-128"/>
            </a:endParaRPr>
          </a:p>
          <a:p>
            <a:pPr marL="0" indent="0">
              <a:buNone/>
            </a:pPr>
            <a:endParaRPr lang="fr-FR" sz="1600" b="1" dirty="0">
              <a:latin typeface="Yu Gothic" panose="020B0400000000000000" pitchFamily="34" charset="-128"/>
              <a:ea typeface="Yu Gothic" panose="020B0400000000000000" pitchFamily="34" charset="-128"/>
            </a:endParaRPr>
          </a:p>
          <a:p>
            <a:pPr marL="0" indent="0">
              <a:buNone/>
            </a:pPr>
            <a:endParaRPr lang="fr-FR" dirty="0"/>
          </a:p>
          <a:p>
            <a:endParaRPr lang="fr-FR" dirty="0"/>
          </a:p>
        </p:txBody>
      </p:sp>
      <p:sp>
        <p:nvSpPr>
          <p:cNvPr id="4" name="Espace réservé du pied de page 3">
            <a:extLst>
              <a:ext uri="{FF2B5EF4-FFF2-40B4-BE49-F238E27FC236}">
                <a16:creationId xmlns:a16="http://schemas.microsoft.com/office/drawing/2014/main" id="{21A8FF57-6130-998C-3224-D38C04D5FE16}"/>
              </a:ext>
            </a:extLst>
          </p:cNvPr>
          <p:cNvSpPr>
            <a:spLocks noGrp="1"/>
          </p:cNvSpPr>
          <p:nvPr>
            <p:ph type="ftr" sz="quarter" idx="11"/>
          </p:nvPr>
        </p:nvSpPr>
        <p:spPr>
          <a:xfrm>
            <a:off x="11576868" y="6459344"/>
            <a:ext cx="555808" cy="304801"/>
          </a:xfrm>
        </p:spPr>
        <p:txBody>
          <a:bodyPr/>
          <a:lstStyle/>
          <a:p>
            <a:r>
              <a:rPr lang="en-US" sz="2000" dirty="0"/>
              <a:t>17</a:t>
            </a:r>
          </a:p>
        </p:txBody>
      </p:sp>
      <p:pic>
        <p:nvPicPr>
          <p:cNvPr id="6" name="Image 5">
            <a:extLst>
              <a:ext uri="{FF2B5EF4-FFF2-40B4-BE49-F238E27FC236}">
                <a16:creationId xmlns:a16="http://schemas.microsoft.com/office/drawing/2014/main" id="{217CF184-BE81-7503-D8F1-2DF7A133A2F5}"/>
              </a:ext>
            </a:extLst>
          </p:cNvPr>
          <p:cNvPicPr>
            <a:picLocks noChangeAspect="1"/>
          </p:cNvPicPr>
          <p:nvPr/>
        </p:nvPicPr>
        <p:blipFill>
          <a:blip r:embed="rId2"/>
          <a:stretch>
            <a:fillRect/>
          </a:stretch>
        </p:blipFill>
        <p:spPr>
          <a:xfrm>
            <a:off x="9202172" y="2444728"/>
            <a:ext cx="2540000" cy="917712"/>
          </a:xfrm>
          <a:prstGeom prst="rect">
            <a:avLst/>
          </a:prstGeom>
        </p:spPr>
      </p:pic>
      <p:pic>
        <p:nvPicPr>
          <p:cNvPr id="7" name="Image 6">
            <a:extLst>
              <a:ext uri="{FF2B5EF4-FFF2-40B4-BE49-F238E27FC236}">
                <a16:creationId xmlns:a16="http://schemas.microsoft.com/office/drawing/2014/main" id="{98900BB7-DE0C-B4F0-BA6F-FC8D21FFCBF9}"/>
              </a:ext>
            </a:extLst>
          </p:cNvPr>
          <p:cNvPicPr>
            <a:picLocks noChangeAspect="1"/>
          </p:cNvPicPr>
          <p:nvPr/>
        </p:nvPicPr>
        <p:blipFill>
          <a:blip r:embed="rId3"/>
          <a:stretch>
            <a:fillRect/>
          </a:stretch>
        </p:blipFill>
        <p:spPr>
          <a:xfrm>
            <a:off x="135210" y="1320756"/>
            <a:ext cx="8617135" cy="2247944"/>
          </a:xfrm>
          <a:prstGeom prst="rect">
            <a:avLst/>
          </a:prstGeom>
          <a:ln>
            <a:noFill/>
          </a:ln>
          <a:effectLst>
            <a:outerShdw blurRad="190500" algn="tl" rotWithShape="0">
              <a:srgbClr val="000000">
                <a:alpha val="70000"/>
              </a:srgbClr>
            </a:outerShdw>
          </a:effectLst>
        </p:spPr>
      </p:pic>
      <p:pic>
        <p:nvPicPr>
          <p:cNvPr id="9" name="Image 8">
            <a:extLst>
              <a:ext uri="{FF2B5EF4-FFF2-40B4-BE49-F238E27FC236}">
                <a16:creationId xmlns:a16="http://schemas.microsoft.com/office/drawing/2014/main" id="{60E3D782-EFA4-85EF-F981-974C775D73EE}"/>
              </a:ext>
            </a:extLst>
          </p:cNvPr>
          <p:cNvPicPr>
            <a:picLocks noChangeAspect="1"/>
          </p:cNvPicPr>
          <p:nvPr/>
        </p:nvPicPr>
        <p:blipFill>
          <a:blip r:embed="rId4"/>
          <a:stretch>
            <a:fillRect/>
          </a:stretch>
        </p:blipFill>
        <p:spPr>
          <a:xfrm>
            <a:off x="400050" y="3854448"/>
            <a:ext cx="8493376" cy="2909697"/>
          </a:xfrm>
          <a:prstGeom prst="rect">
            <a:avLst/>
          </a:prstGeom>
          <a:ln w="28575">
            <a:solidFill>
              <a:schemeClr val="accent1"/>
            </a:solidFill>
          </a:ln>
        </p:spPr>
      </p:pic>
      <p:graphicFrame>
        <p:nvGraphicFramePr>
          <p:cNvPr id="11" name="Tableau 10">
            <a:extLst>
              <a:ext uri="{FF2B5EF4-FFF2-40B4-BE49-F238E27FC236}">
                <a16:creationId xmlns:a16="http://schemas.microsoft.com/office/drawing/2014/main" id="{1DE14491-2B15-B436-A264-529E795186CC}"/>
              </a:ext>
            </a:extLst>
          </p:cNvPr>
          <p:cNvGraphicFramePr>
            <a:graphicFrameLocks noGrp="1"/>
          </p:cNvGraphicFramePr>
          <p:nvPr>
            <p:extLst>
              <p:ext uri="{D42A27DB-BD31-4B8C-83A1-F6EECF244321}">
                <p14:modId xmlns:p14="http://schemas.microsoft.com/office/powerpoint/2010/main" val="73886618"/>
              </p:ext>
            </p:extLst>
          </p:nvPr>
        </p:nvGraphicFramePr>
        <p:xfrm>
          <a:off x="9293476" y="3854448"/>
          <a:ext cx="2839200" cy="2604895"/>
        </p:xfrm>
        <a:graphic>
          <a:graphicData uri="http://schemas.openxmlformats.org/drawingml/2006/table">
            <a:tbl>
              <a:tblPr firstRow="1" bandRow="1">
                <a:tableStyleId>{5C22544A-7EE6-4342-B048-85BDC9FD1C3A}</a:tableStyleId>
              </a:tblPr>
              <a:tblGrid>
                <a:gridCol w="2839200">
                  <a:extLst>
                    <a:ext uri="{9D8B030D-6E8A-4147-A177-3AD203B41FA5}">
                      <a16:colId xmlns:a16="http://schemas.microsoft.com/office/drawing/2014/main" val="1282506756"/>
                    </a:ext>
                  </a:extLst>
                </a:gridCol>
              </a:tblGrid>
              <a:tr h="2604895">
                <a:tc>
                  <a:txBody>
                    <a:bodyPr/>
                    <a:lstStyle/>
                    <a:p>
                      <a:r>
                        <a:rPr lang="fr-FR" dirty="0" err="1">
                          <a:solidFill>
                            <a:schemeClr val="tx1"/>
                          </a:solidFill>
                        </a:rPr>
                        <a:t>LightGBM</a:t>
                      </a:r>
                      <a:r>
                        <a:rPr lang="fr-FR" dirty="0">
                          <a:solidFill>
                            <a:schemeClr val="tx1"/>
                          </a:solidFill>
                        </a:rPr>
                        <a:t> combine la meilleure performance globale (AUC, F1, rappel) et un temps d'entraînement réduit, ce qui en fait le meilleur compromis.</a:t>
                      </a:r>
                    </a:p>
                  </a:txBody>
                  <a:tcPr>
                    <a:solidFill>
                      <a:schemeClr val="bg1"/>
                    </a:solidFill>
                  </a:tcPr>
                </a:tc>
                <a:extLst>
                  <a:ext uri="{0D108BD9-81ED-4DB2-BD59-A6C34878D82A}">
                    <a16:rowId xmlns:a16="http://schemas.microsoft.com/office/drawing/2014/main" val="1257003504"/>
                  </a:ext>
                </a:extLst>
              </a:tr>
            </a:tbl>
          </a:graphicData>
        </a:graphic>
      </p:graphicFrame>
      <p:sp>
        <p:nvSpPr>
          <p:cNvPr id="12" name="Flèche : bas 11">
            <a:extLst>
              <a:ext uri="{FF2B5EF4-FFF2-40B4-BE49-F238E27FC236}">
                <a16:creationId xmlns:a16="http://schemas.microsoft.com/office/drawing/2014/main" id="{49451472-0D99-B587-3CB8-0351E32BB9F1}"/>
              </a:ext>
            </a:extLst>
          </p:cNvPr>
          <p:cNvSpPr/>
          <p:nvPr/>
        </p:nvSpPr>
        <p:spPr>
          <a:xfrm>
            <a:off x="10087997" y="1752599"/>
            <a:ext cx="768350" cy="6159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lèche : bas 12">
            <a:extLst>
              <a:ext uri="{FF2B5EF4-FFF2-40B4-BE49-F238E27FC236}">
                <a16:creationId xmlns:a16="http://schemas.microsoft.com/office/drawing/2014/main" id="{6FD68C6C-8E01-5738-9C15-FE610D28B1A7}"/>
              </a:ext>
            </a:extLst>
          </p:cNvPr>
          <p:cNvSpPr/>
          <p:nvPr/>
        </p:nvSpPr>
        <p:spPr>
          <a:xfrm>
            <a:off x="10332472" y="3428999"/>
            <a:ext cx="279400" cy="3492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990109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A23E46-F106-3BDA-3AC5-54E8D2FA8323}"/>
              </a:ext>
            </a:extLst>
          </p:cNvPr>
          <p:cNvSpPr>
            <a:spLocks noGrp="1"/>
          </p:cNvSpPr>
          <p:nvPr>
            <p:ph type="title"/>
          </p:nvPr>
        </p:nvSpPr>
        <p:spPr>
          <a:xfrm>
            <a:off x="0" y="0"/>
            <a:ext cx="12192000" cy="781050"/>
          </a:xfrm>
          <a:solidFill>
            <a:schemeClr val="tx2"/>
          </a:solidFill>
        </p:spPr>
        <p:txBody>
          <a:bodyPr/>
          <a:lstStyle/>
          <a:p>
            <a:r>
              <a:rPr lang="fr-FR" b="1" dirty="0">
                <a:solidFill>
                  <a:schemeClr val="accent4"/>
                </a:solidFill>
                <a:latin typeface="Yu Gothic" panose="020B0400000000000000" pitchFamily="34" charset="-128"/>
                <a:ea typeface="Yu Gothic" panose="020B0400000000000000" pitchFamily="34" charset="-128"/>
              </a:rPr>
              <a:t>Interprétabilité</a:t>
            </a:r>
            <a:endParaRPr lang="fr-FR" dirty="0"/>
          </a:p>
        </p:txBody>
      </p:sp>
      <p:sp>
        <p:nvSpPr>
          <p:cNvPr id="3" name="Espace réservé du contenu 2">
            <a:extLst>
              <a:ext uri="{FF2B5EF4-FFF2-40B4-BE49-F238E27FC236}">
                <a16:creationId xmlns:a16="http://schemas.microsoft.com/office/drawing/2014/main" id="{A10952CA-C6E4-FF91-E50C-56716F8487D7}"/>
              </a:ext>
            </a:extLst>
          </p:cNvPr>
          <p:cNvSpPr>
            <a:spLocks noGrp="1"/>
          </p:cNvSpPr>
          <p:nvPr>
            <p:ph idx="1"/>
          </p:nvPr>
        </p:nvSpPr>
        <p:spPr>
          <a:xfrm>
            <a:off x="0" y="781050"/>
            <a:ext cx="12192000" cy="6076950"/>
          </a:xfrm>
          <a:solidFill>
            <a:schemeClr val="bg1"/>
          </a:solidFill>
        </p:spPr>
        <p:txBody>
          <a:bodyPr/>
          <a:lstStyle/>
          <a:p>
            <a:endParaRPr lang="fr-FR" dirty="0"/>
          </a:p>
          <a:p>
            <a:endParaRPr lang="fr-FR" dirty="0"/>
          </a:p>
        </p:txBody>
      </p:sp>
      <p:sp>
        <p:nvSpPr>
          <p:cNvPr id="4" name="Espace réservé du pied de page 3">
            <a:extLst>
              <a:ext uri="{FF2B5EF4-FFF2-40B4-BE49-F238E27FC236}">
                <a16:creationId xmlns:a16="http://schemas.microsoft.com/office/drawing/2014/main" id="{8DFF70C6-0CC7-7004-88EB-10EC75095AED}"/>
              </a:ext>
            </a:extLst>
          </p:cNvPr>
          <p:cNvSpPr>
            <a:spLocks noGrp="1"/>
          </p:cNvSpPr>
          <p:nvPr>
            <p:ph type="ftr" sz="quarter" idx="11"/>
          </p:nvPr>
        </p:nvSpPr>
        <p:spPr>
          <a:xfrm>
            <a:off x="11569699" y="6493438"/>
            <a:ext cx="527051" cy="304801"/>
          </a:xfrm>
        </p:spPr>
        <p:txBody>
          <a:bodyPr/>
          <a:lstStyle/>
          <a:p>
            <a:r>
              <a:rPr lang="en-US" sz="2000" dirty="0"/>
              <a:t>18</a:t>
            </a:r>
          </a:p>
        </p:txBody>
      </p:sp>
      <p:pic>
        <p:nvPicPr>
          <p:cNvPr id="6" name="Image 5">
            <a:extLst>
              <a:ext uri="{FF2B5EF4-FFF2-40B4-BE49-F238E27FC236}">
                <a16:creationId xmlns:a16="http://schemas.microsoft.com/office/drawing/2014/main" id="{B862E1D9-D274-78CF-ED76-E837F6E0B549}"/>
              </a:ext>
            </a:extLst>
          </p:cNvPr>
          <p:cNvPicPr>
            <a:picLocks noChangeAspect="1"/>
          </p:cNvPicPr>
          <p:nvPr/>
        </p:nvPicPr>
        <p:blipFill>
          <a:blip r:embed="rId2"/>
          <a:stretch>
            <a:fillRect/>
          </a:stretch>
        </p:blipFill>
        <p:spPr>
          <a:xfrm>
            <a:off x="1139825" y="920750"/>
            <a:ext cx="4445001" cy="3829050"/>
          </a:xfrm>
          <a:prstGeom prst="rect">
            <a:avLst/>
          </a:prstGeom>
          <a:solidFill>
            <a:schemeClr val="tx2"/>
          </a:solidFill>
          <a:ln w="28575">
            <a:solidFill>
              <a:schemeClr val="accent1"/>
            </a:solidFill>
          </a:ln>
        </p:spPr>
      </p:pic>
      <p:pic>
        <p:nvPicPr>
          <p:cNvPr id="8" name="Image 7">
            <a:extLst>
              <a:ext uri="{FF2B5EF4-FFF2-40B4-BE49-F238E27FC236}">
                <a16:creationId xmlns:a16="http://schemas.microsoft.com/office/drawing/2014/main" id="{49A096E3-D168-B809-45F8-AB90FB27B1D5}"/>
              </a:ext>
            </a:extLst>
          </p:cNvPr>
          <p:cNvPicPr>
            <a:picLocks noChangeAspect="1"/>
          </p:cNvPicPr>
          <p:nvPr/>
        </p:nvPicPr>
        <p:blipFill>
          <a:blip r:embed="rId3"/>
          <a:stretch>
            <a:fillRect/>
          </a:stretch>
        </p:blipFill>
        <p:spPr>
          <a:xfrm>
            <a:off x="6724650" y="850900"/>
            <a:ext cx="4514850" cy="3898900"/>
          </a:xfrm>
          <a:prstGeom prst="rect">
            <a:avLst/>
          </a:prstGeom>
          <a:ln w="28575">
            <a:solidFill>
              <a:schemeClr val="accent1"/>
            </a:solidFill>
          </a:ln>
        </p:spPr>
      </p:pic>
      <p:pic>
        <p:nvPicPr>
          <p:cNvPr id="10" name="Image 9">
            <a:extLst>
              <a:ext uri="{FF2B5EF4-FFF2-40B4-BE49-F238E27FC236}">
                <a16:creationId xmlns:a16="http://schemas.microsoft.com/office/drawing/2014/main" id="{40CAE8AF-849B-10CF-2F48-D7A8FC249E8F}"/>
              </a:ext>
            </a:extLst>
          </p:cNvPr>
          <p:cNvPicPr>
            <a:picLocks noChangeAspect="1"/>
          </p:cNvPicPr>
          <p:nvPr/>
        </p:nvPicPr>
        <p:blipFill>
          <a:blip r:embed="rId4"/>
          <a:stretch>
            <a:fillRect/>
          </a:stretch>
        </p:blipFill>
        <p:spPr>
          <a:xfrm>
            <a:off x="1263650" y="5440102"/>
            <a:ext cx="9664700" cy="1273696"/>
          </a:xfrm>
          <a:prstGeom prst="rect">
            <a:avLst/>
          </a:prstGeom>
          <a:ln w="28575">
            <a:solidFill>
              <a:schemeClr val="accent1"/>
            </a:solidFill>
          </a:ln>
        </p:spPr>
      </p:pic>
    </p:spTree>
    <p:extLst>
      <p:ext uri="{BB962C8B-B14F-4D97-AF65-F5344CB8AC3E}">
        <p14:creationId xmlns:p14="http://schemas.microsoft.com/office/powerpoint/2010/main" val="188646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C45381-CFCE-4E3D-DA47-005AFF5E4C18}"/>
              </a:ext>
            </a:extLst>
          </p:cNvPr>
          <p:cNvSpPr>
            <a:spLocks noGrp="1"/>
          </p:cNvSpPr>
          <p:nvPr>
            <p:ph type="title"/>
          </p:nvPr>
        </p:nvSpPr>
        <p:spPr>
          <a:xfrm>
            <a:off x="0" y="0"/>
            <a:ext cx="12192000" cy="736600"/>
          </a:xfrm>
          <a:solidFill>
            <a:schemeClr val="tx2"/>
          </a:solidFill>
        </p:spPr>
        <p:txBody>
          <a:bodyPr/>
          <a:lstStyle/>
          <a:p>
            <a:br>
              <a:rPr lang="fr-FR" dirty="0"/>
            </a:br>
            <a:r>
              <a:rPr lang="fr-FR" b="1" dirty="0">
                <a:solidFill>
                  <a:schemeClr val="accent3"/>
                </a:solidFill>
                <a:latin typeface="Yu Gothic" panose="020B0400000000000000" pitchFamily="34" charset="-128"/>
                <a:ea typeface="Yu Gothic" panose="020B0400000000000000" pitchFamily="34" charset="-128"/>
              </a:rPr>
              <a:t>Analyse du </a:t>
            </a:r>
            <a:r>
              <a:rPr lang="fr-FR" b="1" dirty="0" err="1">
                <a:solidFill>
                  <a:schemeClr val="accent3"/>
                </a:solidFill>
                <a:latin typeface="Yu Gothic" panose="020B0400000000000000" pitchFamily="34" charset="-128"/>
                <a:ea typeface="Yu Gothic" panose="020B0400000000000000" pitchFamily="34" charset="-128"/>
              </a:rPr>
              <a:t>DataDrift</a:t>
            </a:r>
            <a:r>
              <a:rPr lang="fr-FR" b="1" dirty="0">
                <a:solidFill>
                  <a:schemeClr val="accent3"/>
                </a:solidFill>
                <a:latin typeface="Yu Gothic" panose="020B0400000000000000" pitchFamily="34" charset="-128"/>
                <a:ea typeface="Yu Gothic" panose="020B0400000000000000" pitchFamily="34" charset="-128"/>
              </a:rPr>
              <a:t> </a:t>
            </a:r>
            <a:br>
              <a:rPr lang="fr-FR" dirty="0"/>
            </a:br>
            <a:endParaRPr lang="fr-FR" dirty="0"/>
          </a:p>
        </p:txBody>
      </p:sp>
      <p:sp>
        <p:nvSpPr>
          <p:cNvPr id="3" name="Espace réservé du contenu 2">
            <a:extLst>
              <a:ext uri="{FF2B5EF4-FFF2-40B4-BE49-F238E27FC236}">
                <a16:creationId xmlns:a16="http://schemas.microsoft.com/office/drawing/2014/main" id="{848D55BB-0D59-6564-AF6F-BF5DD3D5E9DE}"/>
              </a:ext>
            </a:extLst>
          </p:cNvPr>
          <p:cNvSpPr>
            <a:spLocks noGrp="1"/>
          </p:cNvSpPr>
          <p:nvPr>
            <p:ph idx="1"/>
          </p:nvPr>
        </p:nvSpPr>
        <p:spPr>
          <a:xfrm>
            <a:off x="0" y="736600"/>
            <a:ext cx="12192000" cy="6121400"/>
          </a:xfrm>
          <a:solidFill>
            <a:schemeClr val="bg1"/>
          </a:solidFill>
        </p:spPr>
        <p:txBody>
          <a:bodyPr/>
          <a:lstStyle/>
          <a:p>
            <a:endParaRPr lang="fr-FR" dirty="0"/>
          </a:p>
          <a:p>
            <a:endParaRPr lang="fr-FR" dirty="0"/>
          </a:p>
        </p:txBody>
      </p:sp>
      <p:sp>
        <p:nvSpPr>
          <p:cNvPr id="4" name="Espace réservé du pied de page 3">
            <a:extLst>
              <a:ext uri="{FF2B5EF4-FFF2-40B4-BE49-F238E27FC236}">
                <a16:creationId xmlns:a16="http://schemas.microsoft.com/office/drawing/2014/main" id="{B5501EFA-86E7-18E2-1E6A-680192A2A42E}"/>
              </a:ext>
            </a:extLst>
          </p:cNvPr>
          <p:cNvSpPr>
            <a:spLocks noGrp="1"/>
          </p:cNvSpPr>
          <p:nvPr>
            <p:ph type="ftr" sz="quarter" idx="11"/>
          </p:nvPr>
        </p:nvSpPr>
        <p:spPr>
          <a:xfrm>
            <a:off x="11576050" y="6379138"/>
            <a:ext cx="533399" cy="370912"/>
          </a:xfrm>
        </p:spPr>
        <p:txBody>
          <a:bodyPr/>
          <a:lstStyle/>
          <a:p>
            <a:r>
              <a:rPr lang="en-US" sz="2000" dirty="0">
                <a:latin typeface="Yu Gothic" panose="020B0400000000000000" pitchFamily="34" charset="-128"/>
                <a:ea typeface="Yu Gothic" panose="020B0400000000000000" pitchFamily="34" charset="-128"/>
              </a:rPr>
              <a:t>19</a:t>
            </a:r>
          </a:p>
        </p:txBody>
      </p:sp>
      <p:pic>
        <p:nvPicPr>
          <p:cNvPr id="8" name="Image 7">
            <a:extLst>
              <a:ext uri="{FF2B5EF4-FFF2-40B4-BE49-F238E27FC236}">
                <a16:creationId xmlns:a16="http://schemas.microsoft.com/office/drawing/2014/main" id="{321C3E89-281A-169A-119E-682AA056B399}"/>
              </a:ext>
            </a:extLst>
          </p:cNvPr>
          <p:cNvPicPr>
            <a:picLocks noChangeAspect="1"/>
          </p:cNvPicPr>
          <p:nvPr/>
        </p:nvPicPr>
        <p:blipFill>
          <a:blip r:embed="rId3"/>
          <a:stretch>
            <a:fillRect/>
          </a:stretch>
        </p:blipFill>
        <p:spPr>
          <a:xfrm>
            <a:off x="0" y="736600"/>
            <a:ext cx="12192000" cy="6121400"/>
          </a:xfrm>
          <a:prstGeom prst="rect">
            <a:avLst/>
          </a:prstGeom>
        </p:spPr>
      </p:pic>
    </p:spTree>
    <p:extLst>
      <p:ext uri="{BB962C8B-B14F-4D97-AF65-F5344CB8AC3E}">
        <p14:creationId xmlns:p14="http://schemas.microsoft.com/office/powerpoint/2010/main" val="2001602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628D27-C1E5-5ECB-B66F-614FF0E05EB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5644D3A-54AD-D8DD-814F-23631BF65393}"/>
              </a:ext>
            </a:extLst>
          </p:cNvPr>
          <p:cNvSpPr>
            <a:spLocks noGrp="1"/>
          </p:cNvSpPr>
          <p:nvPr>
            <p:ph idx="1"/>
          </p:nvPr>
        </p:nvSpPr>
        <p:spPr>
          <a:xfrm>
            <a:off x="0" y="0"/>
            <a:ext cx="12192000" cy="6858000"/>
          </a:xfrm>
          <a:solidFill>
            <a:schemeClr val="accent4">
              <a:lumMod val="20000"/>
              <a:lumOff val="80000"/>
            </a:schemeClr>
          </a:solidFill>
        </p:spPr>
        <p:txBody>
          <a:bodyPr/>
          <a:lstStyle/>
          <a:p>
            <a:endParaRPr lang="fr-FR" dirty="0"/>
          </a:p>
          <a:p>
            <a:endParaRPr lang="fr-FR" dirty="0"/>
          </a:p>
          <a:p>
            <a:endParaRPr lang="fr-FR" dirty="0"/>
          </a:p>
        </p:txBody>
      </p:sp>
      <p:sp>
        <p:nvSpPr>
          <p:cNvPr id="5" name="Espace réservé du pied de page 4">
            <a:extLst>
              <a:ext uri="{FF2B5EF4-FFF2-40B4-BE49-F238E27FC236}">
                <a16:creationId xmlns:a16="http://schemas.microsoft.com/office/drawing/2014/main" id="{E3572F71-96D4-A180-118B-5450B224C813}"/>
              </a:ext>
            </a:extLst>
          </p:cNvPr>
          <p:cNvSpPr>
            <a:spLocks noGrp="1"/>
          </p:cNvSpPr>
          <p:nvPr>
            <p:ph type="ftr" sz="quarter" idx="11"/>
          </p:nvPr>
        </p:nvSpPr>
        <p:spPr>
          <a:xfrm>
            <a:off x="11482465" y="6460761"/>
            <a:ext cx="618193" cy="310896"/>
          </a:xfrm>
        </p:spPr>
        <p:txBody>
          <a:bodyPr/>
          <a:lstStyle/>
          <a:p>
            <a:r>
              <a:rPr lang="en-US" sz="2000" dirty="0"/>
              <a:t>20</a:t>
            </a:r>
          </a:p>
        </p:txBody>
      </p:sp>
      <p:graphicFrame>
        <p:nvGraphicFramePr>
          <p:cNvPr id="6" name="Diagramme 5">
            <a:extLst>
              <a:ext uri="{FF2B5EF4-FFF2-40B4-BE49-F238E27FC236}">
                <a16:creationId xmlns:a16="http://schemas.microsoft.com/office/drawing/2014/main" id="{30FB7F37-2558-09DF-9028-436872E0BB32}"/>
              </a:ext>
            </a:extLst>
          </p:cNvPr>
          <p:cNvGraphicFramePr/>
          <p:nvPr>
            <p:extLst>
              <p:ext uri="{D42A27DB-BD31-4B8C-83A1-F6EECF244321}">
                <p14:modId xmlns:p14="http://schemas.microsoft.com/office/powerpoint/2010/main" val="2199665214"/>
              </p:ext>
            </p:extLst>
          </p:nvPr>
        </p:nvGraphicFramePr>
        <p:xfrm>
          <a:off x="3430589" y="2083633"/>
          <a:ext cx="8761412" cy="4377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1068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282DCE-2784-7C36-C89E-96578ED4652D}"/>
              </a:ext>
            </a:extLst>
          </p:cNvPr>
          <p:cNvSpPr>
            <a:spLocks noGrp="1"/>
          </p:cNvSpPr>
          <p:nvPr>
            <p:ph type="title"/>
          </p:nvPr>
        </p:nvSpPr>
        <p:spPr>
          <a:xfrm>
            <a:off x="0" y="1"/>
            <a:ext cx="12192000" cy="692149"/>
          </a:xfrm>
          <a:solidFill>
            <a:schemeClr val="tx2"/>
          </a:solidFill>
        </p:spPr>
        <p:txBody>
          <a:bodyPr/>
          <a:lstStyle/>
          <a:p>
            <a:r>
              <a:rPr lang="fr-FR" b="1" dirty="0">
                <a:solidFill>
                  <a:schemeClr val="accent4"/>
                </a:solidFill>
                <a:latin typeface="Yu Gothic" panose="020B0400000000000000" pitchFamily="34" charset="-128"/>
                <a:ea typeface="Yu Gothic" panose="020B0400000000000000" pitchFamily="34" charset="-128"/>
              </a:rPr>
              <a:t>	</a:t>
            </a:r>
            <a:r>
              <a:rPr lang="fr-FR" b="1" dirty="0">
                <a:solidFill>
                  <a:schemeClr val="accent4"/>
                </a:solidFill>
                <a:latin typeface="arial" panose="020B0604020202020204" pitchFamily="34" charset="0"/>
              </a:rPr>
              <a:t>Présentation du </a:t>
            </a:r>
            <a:r>
              <a:rPr lang="fr-FR" b="1" dirty="0" err="1">
                <a:solidFill>
                  <a:schemeClr val="accent4"/>
                </a:solidFill>
                <a:latin typeface="arial" panose="020B0604020202020204" pitchFamily="34" charset="0"/>
              </a:rPr>
              <a:t>dashboard</a:t>
            </a:r>
            <a:endParaRPr lang="fr-FR" b="1" dirty="0">
              <a:solidFill>
                <a:schemeClr val="accent4"/>
              </a:solidFill>
              <a:latin typeface="Yu Gothic" panose="020B0400000000000000" pitchFamily="34" charset="-128"/>
              <a:ea typeface="Yu Gothic" panose="020B0400000000000000" pitchFamily="34" charset="-128"/>
            </a:endParaRPr>
          </a:p>
        </p:txBody>
      </p:sp>
      <p:sp>
        <p:nvSpPr>
          <p:cNvPr id="3" name="Espace réservé du contenu 2">
            <a:extLst>
              <a:ext uri="{FF2B5EF4-FFF2-40B4-BE49-F238E27FC236}">
                <a16:creationId xmlns:a16="http://schemas.microsoft.com/office/drawing/2014/main" id="{C604F941-3530-C46F-CCA3-D2DD87E3ADCD}"/>
              </a:ext>
            </a:extLst>
          </p:cNvPr>
          <p:cNvSpPr>
            <a:spLocks noGrp="1"/>
          </p:cNvSpPr>
          <p:nvPr>
            <p:ph idx="1"/>
          </p:nvPr>
        </p:nvSpPr>
        <p:spPr>
          <a:xfrm>
            <a:off x="0" y="692150"/>
            <a:ext cx="12192000" cy="6165849"/>
          </a:xfrm>
        </p:spPr>
        <p:style>
          <a:lnRef idx="2">
            <a:schemeClr val="accent6"/>
          </a:lnRef>
          <a:fillRef idx="1">
            <a:schemeClr val="lt1"/>
          </a:fillRef>
          <a:effectRef idx="0">
            <a:schemeClr val="accent6"/>
          </a:effectRef>
          <a:fontRef idx="minor">
            <a:schemeClr val="dk1"/>
          </a:fontRef>
        </p:style>
        <p:txBody>
          <a:bodyPr/>
          <a:lstStyle/>
          <a:p>
            <a:pPr marL="0" indent="0">
              <a:buNone/>
            </a:pPr>
            <a:endParaRPr lang="fr-FR" dirty="0"/>
          </a:p>
          <a:p>
            <a:endParaRPr lang="fr-FR" dirty="0"/>
          </a:p>
        </p:txBody>
      </p:sp>
      <p:sp>
        <p:nvSpPr>
          <p:cNvPr id="8" name="Espace réservé du pied de page 7">
            <a:extLst>
              <a:ext uri="{FF2B5EF4-FFF2-40B4-BE49-F238E27FC236}">
                <a16:creationId xmlns:a16="http://schemas.microsoft.com/office/drawing/2014/main" id="{59BB4527-A6B3-AF4F-1202-E969E79F0CD4}"/>
              </a:ext>
            </a:extLst>
          </p:cNvPr>
          <p:cNvSpPr>
            <a:spLocks noGrp="1"/>
          </p:cNvSpPr>
          <p:nvPr>
            <p:ph type="ftr" sz="quarter" idx="11"/>
          </p:nvPr>
        </p:nvSpPr>
        <p:spPr>
          <a:xfrm>
            <a:off x="11572407" y="6540500"/>
            <a:ext cx="516136" cy="266700"/>
          </a:xfrm>
        </p:spPr>
        <p:txBody>
          <a:bodyPr/>
          <a:lstStyle/>
          <a:p>
            <a:r>
              <a:rPr lang="en-US" sz="2000" dirty="0"/>
              <a:t>27</a:t>
            </a:r>
          </a:p>
        </p:txBody>
      </p:sp>
      <p:graphicFrame>
        <p:nvGraphicFramePr>
          <p:cNvPr id="10" name="Tableau 9">
            <a:extLst>
              <a:ext uri="{FF2B5EF4-FFF2-40B4-BE49-F238E27FC236}">
                <a16:creationId xmlns:a16="http://schemas.microsoft.com/office/drawing/2014/main" id="{9A2A586E-CD4F-F401-3D8C-FBAE2E94D7BC}"/>
              </a:ext>
            </a:extLst>
          </p:cNvPr>
          <p:cNvGraphicFramePr>
            <a:graphicFrameLocks noGrp="1"/>
          </p:cNvGraphicFramePr>
          <p:nvPr>
            <p:extLst>
              <p:ext uri="{D42A27DB-BD31-4B8C-83A1-F6EECF244321}">
                <p14:modId xmlns:p14="http://schemas.microsoft.com/office/powerpoint/2010/main" val="4070596010"/>
              </p:ext>
            </p:extLst>
          </p:nvPr>
        </p:nvGraphicFramePr>
        <p:xfrm>
          <a:off x="0" y="733425"/>
          <a:ext cx="12192000" cy="6083298"/>
        </p:xfrm>
        <a:graphic>
          <a:graphicData uri="http://schemas.openxmlformats.org/drawingml/2006/table">
            <a:tbl>
              <a:tblPr firstRow="1" bandRow="1">
                <a:tableStyleId>{5C22544A-7EE6-4342-B048-85BDC9FD1C3A}</a:tableStyleId>
              </a:tblPr>
              <a:tblGrid>
                <a:gridCol w="5124450">
                  <a:extLst>
                    <a:ext uri="{9D8B030D-6E8A-4147-A177-3AD203B41FA5}">
                      <a16:colId xmlns:a16="http://schemas.microsoft.com/office/drawing/2014/main" val="561398751"/>
                    </a:ext>
                  </a:extLst>
                </a:gridCol>
                <a:gridCol w="7067550">
                  <a:extLst>
                    <a:ext uri="{9D8B030D-6E8A-4147-A177-3AD203B41FA5}">
                      <a16:colId xmlns:a16="http://schemas.microsoft.com/office/drawing/2014/main" val="3452646608"/>
                    </a:ext>
                  </a:extLst>
                </a:gridCol>
              </a:tblGrid>
              <a:tr h="489032">
                <a:tc>
                  <a:txBody>
                    <a:bodyPr/>
                    <a:lstStyle/>
                    <a:p>
                      <a:pPr algn="ctr"/>
                      <a:r>
                        <a:rPr lang="fr-FR" dirty="0">
                          <a:solidFill>
                            <a:schemeClr val="accent4"/>
                          </a:solidFill>
                        </a:rPr>
                        <a:t>OUTILS</a:t>
                      </a:r>
                    </a:p>
                  </a:txBody>
                  <a:tcPr>
                    <a:solidFill>
                      <a:schemeClr val="tx2"/>
                    </a:solidFill>
                  </a:tcPr>
                </a:tc>
                <a:tc>
                  <a:txBody>
                    <a:bodyPr/>
                    <a:lstStyle/>
                    <a:p>
                      <a:pPr algn="ctr"/>
                      <a:r>
                        <a:rPr lang="fr-FR" dirty="0">
                          <a:solidFill>
                            <a:schemeClr val="accent4"/>
                          </a:solidFill>
                        </a:rPr>
                        <a:t>DESCRIPTION</a:t>
                      </a:r>
                    </a:p>
                  </a:txBody>
                  <a:tcPr>
                    <a:solidFill>
                      <a:schemeClr val="tx2"/>
                    </a:solidFill>
                  </a:tcPr>
                </a:tc>
                <a:extLst>
                  <a:ext uri="{0D108BD9-81ED-4DB2-BD59-A6C34878D82A}">
                    <a16:rowId xmlns:a16="http://schemas.microsoft.com/office/drawing/2014/main" val="2503407458"/>
                  </a:ext>
                </a:extLst>
              </a:tr>
              <a:tr h="1391949">
                <a:tc>
                  <a:txBody>
                    <a:bodyPr/>
                    <a:lstStyle/>
                    <a:p>
                      <a:endParaRPr lang="fr-FR" dirty="0"/>
                    </a:p>
                  </a:txBody>
                  <a:tcPr>
                    <a:solidFill>
                      <a:schemeClr val="tx2"/>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600" b="1" dirty="0">
                          <a:latin typeface="Yu Gothic" panose="020B0400000000000000" pitchFamily="34" charset="-128"/>
                          <a:ea typeface="Yu Gothic" panose="020B0400000000000000" pitchFamily="34" charset="-128"/>
                        </a:rPr>
                        <a:t>GitHub est la fondation</a:t>
                      </a:r>
                      <a:r>
                        <a:rPr lang="fr-FR" sz="1600" dirty="0">
                          <a:latin typeface="Yu Gothic" panose="020B0400000000000000" pitchFamily="34" charset="-128"/>
                          <a:ea typeface="Yu Gothic" panose="020B0400000000000000" pitchFamily="34" charset="-128"/>
                        </a:rPr>
                        <a:t>, le chantier du projet, là où tout est organisé et suivi.</a:t>
                      </a:r>
                    </a:p>
                    <a:p>
                      <a:pPr marL="0" marR="0" lvl="0" indent="0" algn="l" defTabSz="457200" rtl="0" eaLnBrk="1" fontAlgn="auto" latinLnBrk="0" hangingPunct="1">
                        <a:lnSpc>
                          <a:spcPct val="100000"/>
                        </a:lnSpc>
                        <a:spcBef>
                          <a:spcPts val="0"/>
                        </a:spcBef>
                        <a:spcAft>
                          <a:spcPts val="0"/>
                        </a:spcAft>
                        <a:buClrTx/>
                        <a:buSzTx/>
                        <a:buFontTx/>
                        <a:buNone/>
                        <a:tabLst/>
                        <a:defRPr/>
                      </a:pPr>
                      <a:r>
                        <a:rPr lang="fr-FR" sz="1600" dirty="0">
                          <a:latin typeface="Yu Gothic" panose="020B0400000000000000" pitchFamily="34" charset="-128"/>
                          <a:ea typeface="Yu Gothic" panose="020B0400000000000000" pitchFamily="34" charset="-128"/>
                        </a:rPr>
                        <a:t>Sert à Centraliser, versionner et partager le code du projet. Il contient les notebooks, scripts API, fichier </a:t>
                      </a:r>
                      <a:r>
                        <a:rPr lang="fr-FR" sz="1600" dirty="0" err="1">
                          <a:latin typeface="Yu Gothic" panose="020B0400000000000000" pitchFamily="34" charset="-128"/>
                          <a:ea typeface="Yu Gothic" panose="020B0400000000000000" pitchFamily="34" charset="-128"/>
                        </a:rPr>
                        <a:t>Streamlit</a:t>
                      </a:r>
                      <a:r>
                        <a:rPr lang="fr-FR" sz="1600" dirty="0">
                          <a:latin typeface="Yu Gothic" panose="020B0400000000000000" pitchFamily="34" charset="-128"/>
                          <a:ea typeface="Yu Gothic" panose="020B0400000000000000" pitchFamily="34" charset="-128"/>
                        </a:rPr>
                        <a:t>, requirements.txt, etc.</a:t>
                      </a:r>
                    </a:p>
                  </a:txBody>
                  <a:tcPr>
                    <a:solidFill>
                      <a:schemeClr val="bg1"/>
                    </a:solidFill>
                  </a:tcPr>
                </a:tc>
                <a:extLst>
                  <a:ext uri="{0D108BD9-81ED-4DB2-BD59-A6C34878D82A}">
                    <a16:rowId xmlns:a16="http://schemas.microsoft.com/office/drawing/2014/main" val="3808866008"/>
                  </a:ext>
                </a:extLst>
              </a:tr>
              <a:tr h="1679760">
                <a:tc>
                  <a:txBody>
                    <a:bodyPr/>
                    <a:lstStyle/>
                    <a:p>
                      <a:endParaRPr lang="fr-FR" dirty="0"/>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mn-cs"/>
                        </a:rPr>
                        <a:t>API</a:t>
                      </a:r>
                      <a:r>
                        <a:rPr kumimoji="0" lang="fr-FR" sz="1400" b="0" i="0"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mn-cs"/>
                        </a:rPr>
                        <a:t> permettant d’appeler la prédiction à partir de l’ID du client.  J’envoie un profil client (sous forme de JSON) à l’API, elle me renvoie un score de crédit.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mn-cs"/>
                        </a:rPr>
                        <a:t>Fonctionnement :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mn-cs"/>
                        </a:rPr>
                        <a:t>Reçoit une requête POST avec les données client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mn-cs"/>
                        </a:rPr>
                        <a:t>Charge mon modèle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mn-cs"/>
                        </a:rPr>
                        <a:t>Retourne le score calculé</a:t>
                      </a:r>
                    </a:p>
                    <a:p>
                      <a:r>
                        <a:rPr lang="fr-FR" sz="1400" dirty="0"/>
                        <a:t>🧠 L’</a:t>
                      </a:r>
                      <a:r>
                        <a:rPr lang="fr-FR" sz="1400" b="1" dirty="0"/>
                        <a:t>API est le cerveau</a:t>
                      </a:r>
                      <a:endParaRPr lang="fr-FR" sz="1400" dirty="0">
                        <a:latin typeface="Yu Gothic" panose="020B0400000000000000" pitchFamily="34" charset="-128"/>
                        <a:ea typeface="Yu Gothic" panose="020B0400000000000000" pitchFamily="34" charset="-128"/>
                      </a:endParaRPr>
                    </a:p>
                  </a:txBody>
                  <a:tcPr>
                    <a:solidFill>
                      <a:schemeClr val="bg1">
                        <a:lumMod val="95000"/>
                      </a:schemeClr>
                    </a:solidFill>
                  </a:tcPr>
                </a:tc>
                <a:extLst>
                  <a:ext uri="{0D108BD9-81ED-4DB2-BD59-A6C34878D82A}">
                    <a16:rowId xmlns:a16="http://schemas.microsoft.com/office/drawing/2014/main" val="2083432510"/>
                  </a:ext>
                </a:extLst>
              </a:tr>
              <a:tr h="1130608">
                <a:tc>
                  <a:txBody>
                    <a:bodyPr/>
                    <a:lstStyle/>
                    <a:p>
                      <a:endParaRPr lang="fr-FR" dirty="0"/>
                    </a:p>
                  </a:txBody>
                  <a:tcPr>
                    <a:solidFill>
                      <a:schemeClr val="bg2"/>
                    </a:solidFill>
                  </a:tcPr>
                </a:tc>
                <a:tc>
                  <a:txBody>
                    <a:bodyPr/>
                    <a:lstStyle/>
                    <a:p>
                      <a:r>
                        <a:rPr lang="fr-FR" sz="1600" b="1" dirty="0" err="1">
                          <a:latin typeface="Yu Gothic" panose="020B0400000000000000" pitchFamily="34" charset="-128"/>
                          <a:ea typeface="Yu Gothic" panose="020B0400000000000000" pitchFamily="34" charset="-128"/>
                        </a:rPr>
                        <a:t>Streamlit</a:t>
                      </a:r>
                      <a:r>
                        <a:rPr lang="fr-FR" sz="1600" dirty="0">
                          <a:latin typeface="Yu Gothic" panose="020B0400000000000000" pitchFamily="34" charset="-128"/>
                          <a:ea typeface="Yu Gothic" panose="020B0400000000000000" pitchFamily="34" charset="-128"/>
                        </a:rPr>
                        <a:t> est une interface utilisateur (frontend) simplifiée, faite pour les Data Scientists, permettant de créer des applications web interactives, en Python, sans avoir besoin de savoir coder en HTML ou JS.</a:t>
                      </a:r>
                    </a:p>
                    <a:p>
                      <a:r>
                        <a:rPr lang="fr-FR" sz="1600" dirty="0">
                          <a:latin typeface="Yu Gothic" panose="020B0400000000000000" pitchFamily="34" charset="-128"/>
                          <a:ea typeface="Yu Gothic" panose="020B0400000000000000" pitchFamily="34" charset="-128"/>
                        </a:rPr>
                        <a:t>permet à l’utilisateur de communiquer avec l’API facilement.</a:t>
                      </a:r>
                      <a:endParaRPr lang="fr-FR" sz="1600" dirty="0"/>
                    </a:p>
                  </a:txBody>
                  <a:tcPr>
                    <a:solidFill>
                      <a:schemeClr val="bg1"/>
                    </a:solidFill>
                  </a:tcPr>
                </a:tc>
                <a:extLst>
                  <a:ext uri="{0D108BD9-81ED-4DB2-BD59-A6C34878D82A}">
                    <a16:rowId xmlns:a16="http://schemas.microsoft.com/office/drawing/2014/main" val="3973882838"/>
                  </a:ext>
                </a:extLst>
              </a:tr>
              <a:tr h="1391949">
                <a:tc>
                  <a:txBody>
                    <a:bodyPr/>
                    <a:lstStyle/>
                    <a:p>
                      <a:endParaRPr lang="fr-FR" dirty="0"/>
                    </a:p>
                    <a:p>
                      <a:pPr algn="ctr"/>
                      <a:endParaRPr lang="fr-FR" sz="4400" b="1" dirty="0">
                        <a:latin typeface="Yu Gothic" panose="020B0400000000000000" pitchFamily="34" charset="-128"/>
                        <a:ea typeface="Yu Gothic" panose="020B0400000000000000" pitchFamily="34" charset="-128"/>
                      </a:endParaRPr>
                    </a:p>
                  </a:txBody>
                  <a:tcPr>
                    <a:solidFill>
                      <a:schemeClr val="bg1"/>
                    </a:solidFill>
                  </a:tcPr>
                </a:tc>
                <a:tc>
                  <a:txBody>
                    <a:bodyPr/>
                    <a:lstStyle/>
                    <a:p>
                      <a:r>
                        <a:rPr lang="fr-FR" sz="1400" b="1" dirty="0">
                          <a:latin typeface="Yu Gothic" panose="020B0400000000000000" pitchFamily="34" charset="-128"/>
                          <a:ea typeface="Yu Gothic" panose="020B0400000000000000" pitchFamily="34" charset="-128"/>
                        </a:rPr>
                        <a:t>AWS </a:t>
                      </a:r>
                      <a:r>
                        <a:rPr lang="fr-FR" sz="1400" b="1" dirty="0" err="1">
                          <a:latin typeface="Yu Gothic" panose="020B0400000000000000" pitchFamily="34" charset="-128"/>
                          <a:ea typeface="Yu Gothic" panose="020B0400000000000000" pitchFamily="34" charset="-128"/>
                        </a:rPr>
                        <a:t>Elastic</a:t>
                      </a:r>
                      <a:r>
                        <a:rPr lang="fr-FR" sz="1400" b="1" dirty="0">
                          <a:latin typeface="Yu Gothic" panose="020B0400000000000000" pitchFamily="34" charset="-128"/>
                          <a:ea typeface="Yu Gothic" panose="020B0400000000000000" pitchFamily="34" charset="-128"/>
                        </a:rPr>
                        <a:t> </a:t>
                      </a:r>
                      <a:r>
                        <a:rPr lang="fr-FR" sz="1400" b="1" dirty="0" err="1">
                          <a:latin typeface="Yu Gothic" panose="020B0400000000000000" pitchFamily="34" charset="-128"/>
                          <a:ea typeface="Yu Gothic" panose="020B0400000000000000" pitchFamily="34" charset="-128"/>
                        </a:rPr>
                        <a:t>Beanstalk</a:t>
                      </a:r>
                      <a:r>
                        <a:rPr lang="fr-FR" sz="1400" b="1" dirty="0">
                          <a:latin typeface="Yu Gothic" panose="020B0400000000000000" pitchFamily="34" charset="-128"/>
                          <a:ea typeface="Yu Gothic" panose="020B0400000000000000" pitchFamily="34" charset="-128"/>
                        </a:rPr>
                        <a:t> </a:t>
                      </a:r>
                      <a:r>
                        <a:rPr lang="fr-FR" sz="1400" dirty="0">
                          <a:latin typeface="Yu Gothic" panose="020B0400000000000000" pitchFamily="34" charset="-128"/>
                          <a:ea typeface="Yu Gothic" panose="020B0400000000000000" pitchFamily="34" charset="-128"/>
                        </a:rPr>
                        <a:t>est un service de déploiement automatique proposé par </a:t>
                      </a:r>
                      <a:r>
                        <a:rPr lang="fr-FR" sz="1400" b="1" dirty="0">
                          <a:latin typeface="Yu Gothic" panose="020B0400000000000000" pitchFamily="34" charset="-128"/>
                          <a:ea typeface="Yu Gothic" panose="020B0400000000000000" pitchFamily="34" charset="-128"/>
                        </a:rPr>
                        <a:t>Amazon Web Services (AWS), </a:t>
                      </a:r>
                      <a:r>
                        <a:rPr lang="fr-FR" sz="1400" dirty="0">
                          <a:latin typeface="Yu Gothic" panose="020B0400000000000000" pitchFamily="34" charset="-128"/>
                          <a:ea typeface="Yu Gothic" panose="020B0400000000000000" pitchFamily="34" charset="-128"/>
                        </a:rPr>
                        <a:t>permettant de déployer et gérer facilement des applications web, sans avoir à gérer l’infrastructure sous-jacente. </a:t>
                      </a:r>
                    </a:p>
                    <a:p>
                      <a:r>
                        <a:rPr lang="fr-FR" sz="1400" dirty="0">
                          <a:latin typeface="Yu Gothic" panose="020B0400000000000000" pitchFamily="34" charset="-128"/>
                          <a:ea typeface="Yu Gothic" panose="020B0400000000000000" pitchFamily="34" charset="-128"/>
                        </a:rPr>
                        <a:t> * Permet de déployer en production les deux conteneurs (API </a:t>
                      </a:r>
                      <a:r>
                        <a:rPr lang="fr-FR" sz="1400" dirty="0" err="1">
                          <a:latin typeface="Yu Gothic" panose="020B0400000000000000" pitchFamily="34" charset="-128"/>
                          <a:ea typeface="Yu Gothic" panose="020B0400000000000000" pitchFamily="34" charset="-128"/>
                        </a:rPr>
                        <a:t>FastAPI</a:t>
                      </a:r>
                      <a:r>
                        <a:rPr lang="fr-FR" sz="1400" dirty="0">
                          <a:latin typeface="Yu Gothic" panose="020B0400000000000000" pitchFamily="34" charset="-128"/>
                          <a:ea typeface="Yu Gothic" panose="020B0400000000000000" pitchFamily="34" charset="-128"/>
                        </a:rPr>
                        <a:t> + Interface </a:t>
                      </a:r>
                      <a:r>
                        <a:rPr lang="fr-FR" sz="1400" dirty="0" err="1">
                          <a:latin typeface="Yu Gothic" panose="020B0400000000000000" pitchFamily="34" charset="-128"/>
                          <a:ea typeface="Yu Gothic" panose="020B0400000000000000" pitchFamily="34" charset="-128"/>
                        </a:rPr>
                        <a:t>Streamlit</a:t>
                      </a:r>
                      <a:r>
                        <a:rPr lang="fr-FR" sz="1400" dirty="0">
                          <a:latin typeface="Yu Gothic" panose="020B0400000000000000" pitchFamily="34" charset="-128"/>
                          <a:ea typeface="Yu Gothic" panose="020B0400000000000000" pitchFamily="34" charset="-128"/>
                        </a:rPr>
                        <a:t>) dans un environnement unique, et facilite l’automatisation avec GitHub Actions.</a:t>
                      </a:r>
                    </a:p>
                  </a:txBody>
                  <a:tcPr>
                    <a:solidFill>
                      <a:schemeClr val="bg1">
                        <a:lumMod val="95000"/>
                      </a:schemeClr>
                    </a:solidFill>
                  </a:tcPr>
                </a:tc>
                <a:extLst>
                  <a:ext uri="{0D108BD9-81ED-4DB2-BD59-A6C34878D82A}">
                    <a16:rowId xmlns:a16="http://schemas.microsoft.com/office/drawing/2014/main" val="2346004041"/>
                  </a:ext>
                </a:extLst>
              </a:tr>
            </a:tbl>
          </a:graphicData>
        </a:graphic>
      </p:graphicFrame>
      <p:pic>
        <p:nvPicPr>
          <p:cNvPr id="15" name="Image 14">
            <a:extLst>
              <a:ext uri="{FF2B5EF4-FFF2-40B4-BE49-F238E27FC236}">
                <a16:creationId xmlns:a16="http://schemas.microsoft.com/office/drawing/2014/main" id="{B7594491-6D68-5F28-A348-7425054C7770}"/>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52043" y="4188494"/>
            <a:ext cx="3740557" cy="996699"/>
          </a:xfrm>
          <a:prstGeom prst="rect">
            <a:avLst/>
          </a:prstGeom>
        </p:spPr>
      </p:pic>
      <p:pic>
        <p:nvPicPr>
          <p:cNvPr id="18" name="Image 17">
            <a:extLst>
              <a:ext uri="{FF2B5EF4-FFF2-40B4-BE49-F238E27FC236}">
                <a16:creationId xmlns:a16="http://schemas.microsoft.com/office/drawing/2014/main" id="{1997955E-43CD-2867-C480-C665DE07767F}"/>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28466" y="2736199"/>
            <a:ext cx="3200407" cy="1245251"/>
          </a:xfrm>
          <a:prstGeom prst="rect">
            <a:avLst/>
          </a:prstGeom>
        </p:spPr>
      </p:pic>
      <p:pic>
        <p:nvPicPr>
          <p:cNvPr id="21" name="Image 20">
            <a:extLst>
              <a:ext uri="{FF2B5EF4-FFF2-40B4-BE49-F238E27FC236}">
                <a16:creationId xmlns:a16="http://schemas.microsoft.com/office/drawing/2014/main" id="{85BC0A3B-CE28-2F8D-1E67-09444525B454}"/>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752263" y="1337794"/>
            <a:ext cx="3200407" cy="996698"/>
          </a:xfrm>
          <a:prstGeom prst="rect">
            <a:avLst/>
          </a:prstGeom>
        </p:spPr>
      </p:pic>
      <p:pic>
        <p:nvPicPr>
          <p:cNvPr id="5" name="Image 4">
            <a:extLst>
              <a:ext uri="{FF2B5EF4-FFF2-40B4-BE49-F238E27FC236}">
                <a16:creationId xmlns:a16="http://schemas.microsoft.com/office/drawing/2014/main" id="{E195880A-4273-7A22-3B43-569FD8A11CFB}"/>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1552659" y="5556749"/>
            <a:ext cx="1739324" cy="486616"/>
          </a:xfrm>
          <a:prstGeom prst="rect">
            <a:avLst/>
          </a:prstGeom>
        </p:spPr>
      </p:pic>
      <p:pic>
        <p:nvPicPr>
          <p:cNvPr id="9" name="Image 8">
            <a:extLst>
              <a:ext uri="{FF2B5EF4-FFF2-40B4-BE49-F238E27FC236}">
                <a16:creationId xmlns:a16="http://schemas.microsoft.com/office/drawing/2014/main" id="{C290655C-149B-60EE-1CFC-6BCC8035B9CF}"/>
              </a:ext>
            </a:extLst>
          </p:cNvPr>
          <p:cNvPicPr>
            <a:picLocks noChangeAspect="1"/>
          </p:cNvPicPr>
          <p:nvPr/>
        </p:nvPicPr>
        <p:blipFill>
          <a:blip r:embed="rId11">
            <a:extLst>
              <a:ext uri="{837473B0-CC2E-450A-ABE3-18F120FF3D39}">
                <a1611:picAttrSrcUrl xmlns:a1611="http://schemas.microsoft.com/office/drawing/2016/11/main" r:id="rId12"/>
              </a:ext>
            </a:extLst>
          </a:blip>
          <a:srcRect r="13835" b="59482"/>
          <a:stretch>
            <a:fillRect/>
          </a:stretch>
        </p:blipFill>
        <p:spPr>
          <a:xfrm>
            <a:off x="497090" y="6129944"/>
            <a:ext cx="4179237" cy="677256"/>
          </a:xfrm>
          <a:prstGeom prst="rect">
            <a:avLst/>
          </a:prstGeom>
        </p:spPr>
      </p:pic>
    </p:spTree>
    <p:extLst>
      <p:ext uri="{BB962C8B-B14F-4D97-AF65-F5344CB8AC3E}">
        <p14:creationId xmlns:p14="http://schemas.microsoft.com/office/powerpoint/2010/main" val="1937625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8C962D-5E34-31B0-807F-EFE6B5C39CD1}"/>
              </a:ext>
            </a:extLst>
          </p:cNvPr>
          <p:cNvSpPr>
            <a:spLocks noGrp="1"/>
          </p:cNvSpPr>
          <p:nvPr>
            <p:ph type="title"/>
          </p:nvPr>
        </p:nvSpPr>
        <p:spPr>
          <a:xfrm>
            <a:off x="0" y="0"/>
            <a:ext cx="12192000" cy="656650"/>
          </a:xfrm>
          <a:solidFill>
            <a:schemeClr val="tx2"/>
          </a:solidFill>
        </p:spPr>
        <p:txBody>
          <a:bodyPr/>
          <a:lstStyle/>
          <a:p>
            <a:r>
              <a:rPr kumimoji="0" lang="fr-FR" sz="36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t>Interface </a:t>
            </a:r>
            <a:r>
              <a:rPr kumimoji="0" lang="fr-FR" sz="3600" b="1" i="0" u="none" strike="noStrike" kern="1200" cap="none" spc="0" normalizeH="0" baseline="0" noProof="0" dirty="0" err="1">
                <a:ln>
                  <a:noFill/>
                </a:ln>
                <a:solidFill>
                  <a:srgbClr val="E9943A"/>
                </a:solidFill>
                <a:effectLst/>
                <a:uLnTx/>
                <a:uFillTx/>
                <a:latin typeface="Yu Gothic" panose="020B0400000000000000" pitchFamily="34" charset="-128"/>
                <a:ea typeface="Yu Gothic" panose="020B0400000000000000" pitchFamily="34" charset="-128"/>
                <a:cs typeface="+mj-cs"/>
              </a:rPr>
              <a:t>Swagger</a:t>
            </a:r>
            <a:r>
              <a:rPr kumimoji="0" lang="fr-FR" sz="36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t> (</a:t>
            </a:r>
            <a:r>
              <a:rPr kumimoji="0" lang="fr-FR" sz="3600" b="1" i="0" u="none" strike="noStrike" kern="1200" cap="none" spc="0" normalizeH="0" baseline="0" noProof="0" dirty="0" err="1">
                <a:ln>
                  <a:noFill/>
                </a:ln>
                <a:solidFill>
                  <a:srgbClr val="E9943A"/>
                </a:solidFill>
                <a:effectLst/>
                <a:uLnTx/>
                <a:uFillTx/>
                <a:latin typeface="Yu Gothic" panose="020B0400000000000000" pitchFamily="34" charset="-128"/>
                <a:ea typeface="Yu Gothic" panose="020B0400000000000000" pitchFamily="34" charset="-128"/>
                <a:cs typeface="+mj-cs"/>
              </a:rPr>
              <a:t>FastAPI</a:t>
            </a:r>
            <a:r>
              <a:rPr kumimoji="0" lang="fr-FR" sz="3600" b="1" i="0" u="none" strike="noStrike" kern="1200" cap="none" spc="0" normalizeH="0" baseline="0" noProof="0" dirty="0">
                <a:ln>
                  <a:noFill/>
                </a:ln>
                <a:solidFill>
                  <a:srgbClr val="E9943A"/>
                </a:solidFill>
                <a:effectLst/>
                <a:uLnTx/>
                <a:uFillTx/>
                <a:latin typeface="Yu Gothic" panose="020B0400000000000000" pitchFamily="34" charset="-128"/>
                <a:ea typeface="Yu Gothic" panose="020B0400000000000000" pitchFamily="34" charset="-128"/>
                <a:cs typeface="+mj-cs"/>
              </a:rPr>
              <a:t>)</a:t>
            </a:r>
            <a:endParaRPr lang="fr-FR" dirty="0"/>
          </a:p>
        </p:txBody>
      </p:sp>
      <p:sp>
        <p:nvSpPr>
          <p:cNvPr id="3" name="Espace réservé du contenu 2">
            <a:extLst>
              <a:ext uri="{FF2B5EF4-FFF2-40B4-BE49-F238E27FC236}">
                <a16:creationId xmlns:a16="http://schemas.microsoft.com/office/drawing/2014/main" id="{2CEA3D93-DB5F-8D4E-8D0A-7EB7C2CB29F5}"/>
              </a:ext>
            </a:extLst>
          </p:cNvPr>
          <p:cNvSpPr>
            <a:spLocks noGrp="1"/>
          </p:cNvSpPr>
          <p:nvPr>
            <p:ph idx="1"/>
          </p:nvPr>
        </p:nvSpPr>
        <p:spPr>
          <a:xfrm>
            <a:off x="0" y="656650"/>
            <a:ext cx="12192000" cy="6201350"/>
          </a:xfrm>
          <a:solidFill>
            <a:schemeClr val="bg1"/>
          </a:solidFill>
        </p:spPr>
        <p:txBody>
          <a:bodyPr/>
          <a:lstStyle/>
          <a:p>
            <a:pPr marL="0" indent="0">
              <a:buNone/>
            </a:pPr>
            <a:r>
              <a:rPr lang="fr-FR" b="1" dirty="0">
                <a:latin typeface="Yu Gothic" panose="020B0400000000000000" pitchFamily="34" charset="-128"/>
                <a:ea typeface="Yu Gothic" panose="020B0400000000000000" pitchFamily="34" charset="-128"/>
              </a:rPr>
              <a:t> </a:t>
            </a:r>
            <a:r>
              <a:rPr lang="fr-FR" dirty="0">
                <a:solidFill>
                  <a:prstClr val="black">
                    <a:lumMod val="75000"/>
                    <a:lumOff val="25000"/>
                  </a:prstClr>
                </a:solidFill>
                <a:latin typeface="Yu Gothic" panose="020B0400000000000000" pitchFamily="34" charset="-128"/>
                <a:ea typeface="Yu Gothic" panose="020B0400000000000000" pitchFamily="34" charset="-128"/>
              </a:rPr>
              <a:t>❑ </a:t>
            </a:r>
            <a:r>
              <a:rPr lang="fr-FR" b="1" dirty="0" err="1">
                <a:latin typeface="Yu Gothic" panose="020B0400000000000000" pitchFamily="34" charset="-128"/>
                <a:ea typeface="Yu Gothic" panose="020B0400000000000000" pitchFamily="34" charset="-128"/>
              </a:rPr>
              <a:t>Swagger</a:t>
            </a:r>
            <a:r>
              <a:rPr lang="fr-FR" b="1" dirty="0">
                <a:latin typeface="Yu Gothic" panose="020B0400000000000000" pitchFamily="34" charset="-128"/>
                <a:ea typeface="Yu Gothic" panose="020B0400000000000000" pitchFamily="34" charset="-128"/>
              </a:rPr>
              <a:t> est une interface web interactive générée automatiquement par </a:t>
            </a:r>
            <a:r>
              <a:rPr lang="fr-FR" b="1" dirty="0" err="1">
                <a:latin typeface="Yu Gothic" panose="020B0400000000000000" pitchFamily="34" charset="-128"/>
                <a:ea typeface="Yu Gothic" panose="020B0400000000000000" pitchFamily="34" charset="-128"/>
              </a:rPr>
              <a:t>FastAPI</a:t>
            </a:r>
            <a:r>
              <a:rPr lang="fr-FR" b="1" dirty="0">
                <a:latin typeface="Yu Gothic" panose="020B0400000000000000" pitchFamily="34" charset="-128"/>
                <a:ea typeface="Yu Gothic" panose="020B0400000000000000" pitchFamily="34" charset="-128"/>
              </a:rPr>
              <a:t> pour documenter et tester l’API, accessible via /docs sur l’URL de l’API.</a:t>
            </a:r>
          </a:p>
          <a:p>
            <a:pPr marL="0" indent="0">
              <a:buNone/>
            </a:pPr>
            <a:r>
              <a:rPr lang="fr-FR" b="1">
                <a:latin typeface="Yu Gothic" panose="020B0400000000000000" pitchFamily="34" charset="-128"/>
                <a:ea typeface="Yu Gothic" panose="020B0400000000000000" pitchFamily="34" charset="-128"/>
              </a:rPr>
              <a:t> </a:t>
            </a:r>
            <a:r>
              <a:rPr lang="fr-FR">
                <a:solidFill>
                  <a:prstClr val="black">
                    <a:lumMod val="75000"/>
                    <a:lumOff val="25000"/>
                  </a:prstClr>
                </a:solidFill>
                <a:latin typeface="Yu Gothic" panose="020B0400000000000000" pitchFamily="34" charset="-128"/>
                <a:ea typeface="Yu Gothic" panose="020B0400000000000000" pitchFamily="34" charset="-128"/>
              </a:rPr>
              <a:t>❑ </a:t>
            </a:r>
            <a:r>
              <a:rPr lang="fr-FR" b="1">
                <a:latin typeface="Yu Gothic" panose="020B0400000000000000" pitchFamily="34" charset="-128"/>
                <a:ea typeface="Yu Gothic" panose="020B0400000000000000" pitchFamily="34" charset="-128"/>
              </a:rPr>
              <a:t>Lien </a:t>
            </a:r>
            <a:r>
              <a:rPr lang="fr-FR" b="1" dirty="0">
                <a:latin typeface="Yu Gothic" panose="020B0400000000000000" pitchFamily="34" charset="-128"/>
                <a:ea typeface="Yu Gothic" panose="020B0400000000000000" pitchFamily="34" charset="-128"/>
              </a:rPr>
              <a:t>: </a:t>
            </a:r>
            <a:r>
              <a:rPr lang="fr-FR" b="1" dirty="0">
                <a:solidFill>
                  <a:srgbClr val="0070C0"/>
                </a:solidFill>
                <a:latin typeface="Yu Gothic" panose="020B0400000000000000" pitchFamily="34" charset="-128"/>
                <a:ea typeface="Yu Gothic" panose="020B0400000000000000" pitchFamily="34" charset="-128"/>
                <a:hlinkClick r:id="rId2">
                  <a:extLst>
                    <a:ext uri="{A12FA001-AC4F-418D-AE19-62706E023703}">
                      <ahyp:hlinkClr xmlns:ahyp="http://schemas.microsoft.com/office/drawing/2018/hyperlinkcolor" val="tx"/>
                    </a:ext>
                  </a:extLst>
                </a:hlinkClick>
              </a:rPr>
              <a:t>http://127.0.0.1:8000/</a:t>
            </a:r>
            <a:r>
              <a:rPr lang="fr-FR" b="1" dirty="0">
                <a:solidFill>
                  <a:srgbClr val="0070C0"/>
                </a:solidFill>
                <a:latin typeface="Yu Gothic" panose="020B0400000000000000" pitchFamily="34" charset="-128"/>
                <a:ea typeface="Yu Gothic" panose="020B0400000000000000" pitchFamily="34" charset="-128"/>
              </a:rPr>
              <a:t>docs </a:t>
            </a:r>
            <a:r>
              <a:rPr lang="fr-FR" b="1" dirty="0">
                <a:latin typeface="Yu Gothic" panose="020B0400000000000000" pitchFamily="34" charset="-128"/>
                <a:ea typeface="Yu Gothic" panose="020B0400000000000000" pitchFamily="34" charset="-128"/>
              </a:rPr>
              <a:t>(non exposé publiquement)</a:t>
            </a:r>
          </a:p>
          <a:p>
            <a:endParaRPr lang="fr-FR" dirty="0"/>
          </a:p>
        </p:txBody>
      </p:sp>
      <p:sp>
        <p:nvSpPr>
          <p:cNvPr id="4" name="Espace réservé du pied de page 3">
            <a:extLst>
              <a:ext uri="{FF2B5EF4-FFF2-40B4-BE49-F238E27FC236}">
                <a16:creationId xmlns:a16="http://schemas.microsoft.com/office/drawing/2014/main" id="{C72F1BCB-0BFD-7A46-CD01-2F3E81EF0202}"/>
              </a:ext>
            </a:extLst>
          </p:cNvPr>
          <p:cNvSpPr>
            <a:spLocks noGrp="1"/>
          </p:cNvSpPr>
          <p:nvPr>
            <p:ph type="ftr" sz="quarter" idx="11"/>
          </p:nvPr>
        </p:nvSpPr>
        <p:spPr>
          <a:xfrm>
            <a:off x="11561944" y="6459344"/>
            <a:ext cx="499417" cy="304801"/>
          </a:xfrm>
        </p:spPr>
        <p:txBody>
          <a:bodyPr/>
          <a:lstStyle/>
          <a:p>
            <a:r>
              <a:rPr lang="en-US" sz="2000" dirty="0"/>
              <a:t>22</a:t>
            </a:r>
          </a:p>
        </p:txBody>
      </p:sp>
      <p:pic>
        <p:nvPicPr>
          <p:cNvPr id="8" name="Image 7">
            <a:extLst>
              <a:ext uri="{FF2B5EF4-FFF2-40B4-BE49-F238E27FC236}">
                <a16:creationId xmlns:a16="http://schemas.microsoft.com/office/drawing/2014/main" id="{F983414A-8A14-98C0-1DBD-01EBF65829FB}"/>
              </a:ext>
            </a:extLst>
          </p:cNvPr>
          <p:cNvPicPr>
            <a:picLocks noChangeAspect="1"/>
          </p:cNvPicPr>
          <p:nvPr/>
        </p:nvPicPr>
        <p:blipFill>
          <a:blip r:embed="rId3"/>
          <a:stretch>
            <a:fillRect/>
          </a:stretch>
        </p:blipFill>
        <p:spPr>
          <a:xfrm>
            <a:off x="1343984" y="1896306"/>
            <a:ext cx="9021262" cy="4715438"/>
          </a:xfrm>
          <a:prstGeom prst="rect">
            <a:avLst/>
          </a:prstGeom>
          <a:ln w="28575">
            <a:solidFill>
              <a:schemeClr val="accent1"/>
            </a:solidFill>
          </a:ln>
        </p:spPr>
      </p:pic>
    </p:spTree>
    <p:extLst>
      <p:ext uri="{BB962C8B-B14F-4D97-AF65-F5344CB8AC3E}">
        <p14:creationId xmlns:p14="http://schemas.microsoft.com/office/powerpoint/2010/main" val="3467769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1518C4-C646-0028-21A2-68272F5DDE14}"/>
              </a:ext>
            </a:extLst>
          </p:cNvPr>
          <p:cNvSpPr>
            <a:spLocks noGrp="1"/>
          </p:cNvSpPr>
          <p:nvPr>
            <p:ph type="title"/>
          </p:nvPr>
        </p:nvSpPr>
        <p:spPr>
          <a:xfrm>
            <a:off x="0" y="0"/>
            <a:ext cx="12192000" cy="668923"/>
          </a:xfrm>
          <a:solidFill>
            <a:schemeClr val="tx2"/>
          </a:solidFill>
        </p:spPr>
        <p:txBody>
          <a:bodyPr/>
          <a:lstStyle/>
          <a:p>
            <a:r>
              <a:rPr lang="fr-FR" b="1" dirty="0">
                <a:solidFill>
                  <a:schemeClr val="accent4"/>
                </a:solidFill>
                <a:latin typeface="Yu Gothic" panose="020B0400000000000000" pitchFamily="34" charset="-128"/>
                <a:ea typeface="Yu Gothic" panose="020B0400000000000000" pitchFamily="34" charset="-128"/>
              </a:rPr>
              <a:t>	</a:t>
            </a:r>
            <a:br>
              <a:rPr lang="fr-FR" b="1" dirty="0">
                <a:solidFill>
                  <a:schemeClr val="accent4"/>
                </a:solidFill>
                <a:latin typeface="Yu Gothic" panose="020B0400000000000000" pitchFamily="34" charset="-128"/>
                <a:ea typeface="Yu Gothic" panose="020B0400000000000000" pitchFamily="34" charset="-128"/>
              </a:rPr>
            </a:br>
            <a:r>
              <a:rPr lang="fr-FR" b="1" dirty="0">
                <a:solidFill>
                  <a:schemeClr val="accent4"/>
                </a:solidFill>
                <a:latin typeface="Yu Gothic" panose="020B0400000000000000" pitchFamily="34" charset="-128"/>
                <a:ea typeface="Yu Gothic" panose="020B0400000000000000" pitchFamily="34" charset="-128"/>
              </a:rPr>
              <a:t>Interface utilisateur de l'application</a:t>
            </a:r>
            <a:br>
              <a:rPr lang="fr-FR" b="1" dirty="0">
                <a:solidFill>
                  <a:schemeClr val="accent4"/>
                </a:solidFill>
                <a:latin typeface="Yu Gothic" panose="020B0400000000000000" pitchFamily="34" charset="-128"/>
                <a:ea typeface="Yu Gothic" panose="020B0400000000000000" pitchFamily="34" charset="-128"/>
              </a:rPr>
            </a:br>
            <a:endParaRPr lang="fr-FR" b="1" dirty="0">
              <a:solidFill>
                <a:schemeClr val="accent4"/>
              </a:solidFill>
              <a:latin typeface="Yu Gothic" panose="020B0400000000000000" pitchFamily="34" charset="-128"/>
              <a:ea typeface="Yu Gothic" panose="020B0400000000000000" pitchFamily="34" charset="-128"/>
            </a:endParaRPr>
          </a:p>
        </p:txBody>
      </p:sp>
      <p:sp>
        <p:nvSpPr>
          <p:cNvPr id="3" name="Espace réservé du contenu 2">
            <a:extLst>
              <a:ext uri="{FF2B5EF4-FFF2-40B4-BE49-F238E27FC236}">
                <a16:creationId xmlns:a16="http://schemas.microsoft.com/office/drawing/2014/main" id="{6C92B464-CE55-7C2F-6DA9-2AA1217A57B9}"/>
              </a:ext>
            </a:extLst>
          </p:cNvPr>
          <p:cNvSpPr>
            <a:spLocks noGrp="1"/>
          </p:cNvSpPr>
          <p:nvPr>
            <p:ph idx="1"/>
          </p:nvPr>
        </p:nvSpPr>
        <p:spPr>
          <a:xfrm>
            <a:off x="0" y="668923"/>
            <a:ext cx="12192000" cy="6189077"/>
          </a:xfrm>
          <a:solidFill>
            <a:schemeClr val="bg1"/>
          </a:solidFill>
        </p:spPr>
        <p:txBody>
          <a:bodyPr>
            <a:normAutofit/>
          </a:bodyPr>
          <a:lstStyle/>
          <a:p>
            <a:pPr marL="0" indent="0">
              <a:buNone/>
            </a:pPr>
            <a:r>
              <a:rPr lang="fr-FR" b="1" dirty="0">
                <a:latin typeface="Yu Gothic" panose="020B0400000000000000" pitchFamily="34" charset="-128"/>
                <a:ea typeface="Yu Gothic" panose="020B0400000000000000" pitchFamily="34" charset="-128"/>
              </a:rPr>
              <a:t> </a:t>
            </a:r>
            <a:r>
              <a:rPr lang="fr-FR" dirty="0">
                <a:solidFill>
                  <a:prstClr val="black">
                    <a:lumMod val="75000"/>
                    <a:lumOff val="25000"/>
                  </a:prstClr>
                </a:solidFill>
                <a:latin typeface="Yu Gothic" panose="020B0400000000000000" pitchFamily="34" charset="-128"/>
                <a:ea typeface="Yu Gothic" panose="020B0400000000000000" pitchFamily="34" charset="-128"/>
              </a:rPr>
              <a:t>❑ </a:t>
            </a:r>
            <a:r>
              <a:rPr lang="fr-FR" b="1" dirty="0">
                <a:latin typeface="Yu Gothic" panose="020B0400000000000000" pitchFamily="34" charset="-128"/>
                <a:ea typeface="Yu Gothic" panose="020B0400000000000000" pitchFamily="34" charset="-128"/>
              </a:rPr>
              <a:t>Conception d'une application </a:t>
            </a:r>
            <a:r>
              <a:rPr lang="fr-FR" b="1" dirty="0" err="1">
                <a:latin typeface="Yu Gothic" panose="020B0400000000000000" pitchFamily="34" charset="-128"/>
                <a:ea typeface="Yu Gothic" panose="020B0400000000000000" pitchFamily="34" charset="-128"/>
              </a:rPr>
              <a:t>Streamlit</a:t>
            </a:r>
            <a:r>
              <a:rPr lang="fr-FR" b="1" dirty="0">
                <a:latin typeface="Yu Gothic" panose="020B0400000000000000" pitchFamily="34" charset="-128"/>
                <a:ea typeface="Yu Gothic" panose="020B0400000000000000" pitchFamily="34" charset="-128"/>
              </a:rPr>
              <a:t> qui interagit avec </a:t>
            </a:r>
            <a:r>
              <a:rPr lang="fr-FR" b="1" dirty="0" err="1">
                <a:latin typeface="Yu Gothic" panose="020B0400000000000000" pitchFamily="34" charset="-128"/>
                <a:ea typeface="Yu Gothic" panose="020B0400000000000000" pitchFamily="34" charset="-128"/>
              </a:rPr>
              <a:t>FastApi</a:t>
            </a:r>
            <a:endParaRPr lang="fr-FR" b="1" dirty="0">
              <a:latin typeface="Yu Gothic" panose="020B0400000000000000" pitchFamily="34" charset="-128"/>
              <a:ea typeface="Yu Gothic" panose="020B0400000000000000" pitchFamily="34" charset="-128"/>
            </a:endParaRPr>
          </a:p>
          <a:p>
            <a:pPr marL="0" indent="0">
              <a:buNone/>
            </a:pPr>
            <a:r>
              <a:rPr lang="fr-FR" b="1" dirty="0">
                <a:latin typeface="Yu Gothic" panose="020B0400000000000000" pitchFamily="34" charset="-128"/>
                <a:ea typeface="Yu Gothic" panose="020B0400000000000000" pitchFamily="34" charset="-128"/>
              </a:rPr>
              <a:t> </a:t>
            </a:r>
            <a:r>
              <a:rPr lang="fr-FR" dirty="0">
                <a:solidFill>
                  <a:prstClr val="black">
                    <a:lumMod val="75000"/>
                    <a:lumOff val="25000"/>
                  </a:prstClr>
                </a:solidFill>
                <a:latin typeface="Yu Gothic" panose="020B0400000000000000" pitchFamily="34" charset="-128"/>
                <a:ea typeface="Yu Gothic" panose="020B0400000000000000" pitchFamily="34" charset="-128"/>
              </a:rPr>
              <a:t>❑ </a:t>
            </a:r>
            <a:r>
              <a:rPr lang="fr-FR" b="1" dirty="0">
                <a:latin typeface="Yu Gothic" panose="020B0400000000000000" pitchFamily="34" charset="-128"/>
                <a:ea typeface="Yu Gothic" panose="020B0400000000000000" pitchFamily="34" charset="-128"/>
              </a:rPr>
              <a:t>Lien de l’application </a:t>
            </a:r>
            <a:r>
              <a:rPr lang="fr-FR" dirty="0">
                <a:latin typeface="Yu Gothic" panose="020B0400000000000000" pitchFamily="34" charset="-128"/>
                <a:ea typeface="Yu Gothic" panose="020B0400000000000000" pitchFamily="34" charset="-128"/>
              </a:rPr>
              <a:t>: </a:t>
            </a:r>
            <a:r>
              <a:rPr lang="fr-FR" b="1" dirty="0">
                <a:solidFill>
                  <a:srgbClr val="0070C0"/>
                </a:solidFill>
                <a:latin typeface="Yu Gothic" panose="020B0400000000000000" pitchFamily="34" charset="-128"/>
                <a:ea typeface="Yu Gothic" panose="020B0400000000000000" pitchFamily="34" charset="-128"/>
                <a:hlinkClick r:id="rId3">
                  <a:extLst>
                    <a:ext uri="{A12FA001-AC4F-418D-AE19-62706E023703}">
                      <ahyp:hlinkClr xmlns:ahyp="http://schemas.microsoft.com/office/drawing/2018/hyperlinkcolor" val="tx"/>
                    </a:ext>
                  </a:extLst>
                </a:hlinkClick>
              </a:rPr>
              <a:t>http://solvability-env-1.eba-3sirvjbb.eu-west-3.elasticbeanstalk.com</a:t>
            </a:r>
            <a:endParaRPr lang="fr-FR" b="1" dirty="0">
              <a:solidFill>
                <a:srgbClr val="0070C0"/>
              </a:solidFill>
              <a:latin typeface="Yu Gothic" panose="020B0400000000000000" pitchFamily="34" charset="-128"/>
              <a:ea typeface="Yu Gothic" panose="020B0400000000000000" pitchFamily="34" charset="-128"/>
            </a:endParaRPr>
          </a:p>
          <a:p>
            <a:endParaRPr lang="fr-FR" dirty="0"/>
          </a:p>
          <a:p>
            <a:endParaRPr lang="fr-FR" dirty="0"/>
          </a:p>
          <a:p>
            <a:endParaRPr lang="fr-FR" dirty="0"/>
          </a:p>
          <a:p>
            <a:endParaRPr lang="fr-FR" dirty="0"/>
          </a:p>
          <a:p>
            <a:endParaRPr lang="fr-FR" dirty="0"/>
          </a:p>
          <a:p>
            <a:endParaRPr lang="fr-FR" dirty="0"/>
          </a:p>
          <a:p>
            <a:endParaRPr lang="fr-FR" dirty="0"/>
          </a:p>
          <a:p>
            <a:endParaRPr lang="fr-FR" dirty="0"/>
          </a:p>
        </p:txBody>
      </p:sp>
      <p:sp>
        <p:nvSpPr>
          <p:cNvPr id="12" name="Espace réservé du pied de page 11">
            <a:extLst>
              <a:ext uri="{FF2B5EF4-FFF2-40B4-BE49-F238E27FC236}">
                <a16:creationId xmlns:a16="http://schemas.microsoft.com/office/drawing/2014/main" id="{0BBAEA54-0ED3-01FF-2134-9F2025360C93}"/>
              </a:ext>
            </a:extLst>
          </p:cNvPr>
          <p:cNvSpPr>
            <a:spLocks noGrp="1"/>
          </p:cNvSpPr>
          <p:nvPr>
            <p:ph type="ftr" sz="quarter" idx="11"/>
          </p:nvPr>
        </p:nvSpPr>
        <p:spPr>
          <a:xfrm>
            <a:off x="11602387" y="6466607"/>
            <a:ext cx="513264" cy="310896"/>
          </a:xfrm>
        </p:spPr>
        <p:txBody>
          <a:bodyPr/>
          <a:lstStyle/>
          <a:p>
            <a:r>
              <a:rPr lang="en-US" sz="2000" dirty="0"/>
              <a:t>23</a:t>
            </a:r>
          </a:p>
        </p:txBody>
      </p:sp>
      <p:pic>
        <p:nvPicPr>
          <p:cNvPr id="6" name="Image 5">
            <a:extLst>
              <a:ext uri="{FF2B5EF4-FFF2-40B4-BE49-F238E27FC236}">
                <a16:creationId xmlns:a16="http://schemas.microsoft.com/office/drawing/2014/main" id="{7EA6D8DE-B72F-3B52-A15F-7E69DF44A51C}"/>
              </a:ext>
            </a:extLst>
          </p:cNvPr>
          <p:cNvPicPr>
            <a:picLocks noChangeAspect="1"/>
          </p:cNvPicPr>
          <p:nvPr/>
        </p:nvPicPr>
        <p:blipFill>
          <a:blip r:embed="rId4"/>
          <a:stretch>
            <a:fillRect/>
          </a:stretch>
        </p:blipFill>
        <p:spPr>
          <a:xfrm>
            <a:off x="583007" y="1577187"/>
            <a:ext cx="11064853" cy="5200316"/>
          </a:xfrm>
          <a:prstGeom prst="rect">
            <a:avLst/>
          </a:prstGeom>
          <a:ln w="28575">
            <a:solidFill>
              <a:schemeClr val="accent1"/>
            </a:solidFill>
          </a:ln>
        </p:spPr>
      </p:pic>
    </p:spTree>
    <p:extLst>
      <p:ext uri="{BB962C8B-B14F-4D97-AF65-F5344CB8AC3E}">
        <p14:creationId xmlns:p14="http://schemas.microsoft.com/office/powerpoint/2010/main" val="4014318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226DFD-8976-90E1-E3A8-0F650F36D129}"/>
              </a:ext>
            </a:extLst>
          </p:cNvPr>
          <p:cNvSpPr>
            <a:spLocks noGrp="1"/>
          </p:cNvSpPr>
          <p:nvPr>
            <p:ph type="title"/>
          </p:nvPr>
        </p:nvSpPr>
        <p:spPr>
          <a:xfrm>
            <a:off x="0" y="1"/>
            <a:ext cx="12192000" cy="838200"/>
          </a:xfrm>
          <a:solidFill>
            <a:schemeClr val="tx2"/>
          </a:solidFill>
        </p:spPr>
        <p:txBody>
          <a:bodyPr/>
          <a:lstStyle/>
          <a:p>
            <a:r>
              <a:rPr lang="fr-FR" dirty="0"/>
              <a:t>	</a:t>
            </a:r>
            <a:r>
              <a:rPr lang="fr-FR" b="1" dirty="0">
                <a:solidFill>
                  <a:schemeClr val="accent4"/>
                </a:solidFill>
                <a:latin typeface="Yu Gothic" panose="020B0400000000000000" pitchFamily="34" charset="-128"/>
                <a:ea typeface="Yu Gothic" panose="020B0400000000000000" pitchFamily="34" charset="-128"/>
              </a:rPr>
              <a:t>Références</a:t>
            </a:r>
          </a:p>
        </p:txBody>
      </p:sp>
      <p:sp>
        <p:nvSpPr>
          <p:cNvPr id="3" name="Espace réservé du contenu 2">
            <a:extLst>
              <a:ext uri="{FF2B5EF4-FFF2-40B4-BE49-F238E27FC236}">
                <a16:creationId xmlns:a16="http://schemas.microsoft.com/office/drawing/2014/main" id="{8743AD1F-AECE-8DFF-0913-BD589C5DEDD8}"/>
              </a:ext>
            </a:extLst>
          </p:cNvPr>
          <p:cNvSpPr>
            <a:spLocks noGrp="1"/>
          </p:cNvSpPr>
          <p:nvPr>
            <p:ph idx="1"/>
          </p:nvPr>
        </p:nvSpPr>
        <p:spPr>
          <a:xfrm>
            <a:off x="0" y="838201"/>
            <a:ext cx="12192000" cy="6019798"/>
          </a:xfrm>
          <a:solidFill>
            <a:schemeClr val="bg1"/>
          </a:solidFill>
        </p:spPr>
        <p:txBody>
          <a:bodyPr>
            <a:normAutofit/>
          </a:bodyPr>
          <a:lstStyle/>
          <a:p>
            <a:endParaRPr lang="fr-FR" dirty="0"/>
          </a:p>
          <a:p>
            <a:pPr marL="0" indent="0">
              <a:buNone/>
            </a:pPr>
            <a:r>
              <a:rPr kumimoji="0" lang="fr-FR" sz="18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rPr>
              <a:t>	❑  </a:t>
            </a:r>
            <a:r>
              <a:rPr lang="fr-FR" b="1" dirty="0">
                <a:latin typeface="Yu Gothic" panose="020B0400000000000000" pitchFamily="34" charset="-128"/>
                <a:ea typeface="Yu Gothic" panose="020B0400000000000000" pitchFamily="34" charset="-128"/>
              </a:rPr>
              <a:t>Lien </a:t>
            </a:r>
            <a:r>
              <a:rPr lang="fr-FR" b="1" dirty="0" err="1">
                <a:latin typeface="Yu Gothic" panose="020B0400000000000000" pitchFamily="34" charset="-128"/>
                <a:ea typeface="Yu Gothic" panose="020B0400000000000000" pitchFamily="34" charset="-128"/>
              </a:rPr>
              <a:t>Github</a:t>
            </a:r>
            <a:r>
              <a:rPr lang="fr-FR" b="1" dirty="0">
                <a:latin typeface="Yu Gothic" panose="020B0400000000000000" pitchFamily="34" charset="-128"/>
                <a:ea typeface="Yu Gothic" panose="020B0400000000000000" pitchFamily="34" charset="-128"/>
              </a:rPr>
              <a:t> : </a:t>
            </a:r>
            <a:r>
              <a:rPr lang="fr-FR" b="1" dirty="0">
                <a:solidFill>
                  <a:srgbClr val="0070C0"/>
                </a:solidFill>
                <a:latin typeface="Yu Gothic" panose="020B0400000000000000" pitchFamily="34" charset="-128"/>
                <a:ea typeface="Yu Gothic" panose="020B0400000000000000" pitchFamily="34" charset="-128"/>
                <a:hlinkClick r:id="rId2">
                  <a:extLst>
                    <a:ext uri="{A12FA001-AC4F-418D-AE19-62706E023703}">
                      <ahyp:hlinkClr xmlns:ahyp="http://schemas.microsoft.com/office/drawing/2018/hyperlinkcolor" val="tx"/>
                    </a:ext>
                  </a:extLst>
                </a:hlinkClick>
              </a:rPr>
              <a:t>https://github.com/MatyKane/P7_Modele_Scoring/</a:t>
            </a:r>
            <a:endParaRPr lang="fr-FR" b="1" dirty="0">
              <a:solidFill>
                <a:srgbClr val="0070C0"/>
              </a:solidFill>
              <a:latin typeface="Yu Gothic" panose="020B0400000000000000" pitchFamily="34" charset="-128"/>
              <a:ea typeface="Yu Gothic" panose="020B0400000000000000" pitchFamily="34" charset="-128"/>
            </a:endParaRPr>
          </a:p>
          <a:p>
            <a:pPr marL="0" indent="0">
              <a:buNone/>
            </a:pPr>
            <a:endParaRPr lang="fr-FR" dirty="0">
              <a:latin typeface="Yu Gothic" panose="020B0400000000000000" pitchFamily="34" charset="-128"/>
              <a:ea typeface="Yu Gothic" panose="020B0400000000000000" pitchFamily="34" charset="-128"/>
            </a:endParaRPr>
          </a:p>
          <a:p>
            <a:pPr marL="0" indent="0">
              <a:buNone/>
            </a:pPr>
            <a:r>
              <a:rPr kumimoji="0" lang="fr-FR" sz="1800" b="0" i="0" u="none" strike="noStrike" kern="1200" cap="none" spc="0" normalizeH="0" baseline="0" noProof="0" dirty="0">
                <a:ln>
                  <a:noFill/>
                </a:ln>
                <a:solidFill>
                  <a:prstClr val="black">
                    <a:lumMod val="75000"/>
                    <a:lumOff val="25000"/>
                  </a:prstClr>
                </a:solidFill>
                <a:effectLst/>
                <a:uLnTx/>
                <a:uFillTx/>
                <a:latin typeface="Yu Gothic" panose="020B0400000000000000" pitchFamily="34" charset="-128"/>
                <a:ea typeface="Yu Gothic" panose="020B0400000000000000" pitchFamily="34" charset="-128"/>
              </a:rPr>
              <a:t>	</a:t>
            </a:r>
            <a:r>
              <a:rPr lang="fr-FR" dirty="0">
                <a:solidFill>
                  <a:prstClr val="black">
                    <a:lumMod val="75000"/>
                    <a:lumOff val="25000"/>
                  </a:prstClr>
                </a:solidFill>
                <a:latin typeface="Yu Gothic" panose="020B0400000000000000" pitchFamily="34" charset="-128"/>
                <a:ea typeface="Yu Gothic" panose="020B0400000000000000" pitchFamily="34" charset="-128"/>
              </a:rPr>
              <a:t>❑ </a:t>
            </a:r>
            <a:r>
              <a:rPr lang="fr-FR" b="1" dirty="0">
                <a:latin typeface="Yu Gothic" panose="020B0400000000000000" pitchFamily="34" charset="-128"/>
                <a:ea typeface="Yu Gothic" panose="020B0400000000000000" pitchFamily="34" charset="-128"/>
              </a:rPr>
              <a:t>Serveur </a:t>
            </a:r>
            <a:r>
              <a:rPr lang="fr-FR" b="1" dirty="0" err="1">
                <a:latin typeface="Yu Gothic" panose="020B0400000000000000" pitchFamily="34" charset="-128"/>
                <a:ea typeface="Yu Gothic" panose="020B0400000000000000" pitchFamily="34" charset="-128"/>
              </a:rPr>
              <a:t>MLflow</a:t>
            </a:r>
            <a:r>
              <a:rPr lang="fr-FR" b="1" dirty="0">
                <a:latin typeface="Yu Gothic" panose="020B0400000000000000" pitchFamily="34" charset="-128"/>
                <a:ea typeface="Yu Gothic" panose="020B0400000000000000" pitchFamily="34" charset="-128"/>
              </a:rPr>
              <a:t> local : </a:t>
            </a:r>
            <a:r>
              <a:rPr lang="fr-FR" b="1" dirty="0">
                <a:solidFill>
                  <a:srgbClr val="0070C0"/>
                </a:solidFill>
                <a:latin typeface="Yu Gothic" panose="020B0400000000000000" pitchFamily="34" charset="-128"/>
                <a:ea typeface="Yu Gothic" panose="020B0400000000000000" pitchFamily="34" charset="-128"/>
                <a:hlinkClick r:id="rId3">
                  <a:extLst>
                    <a:ext uri="{A12FA001-AC4F-418D-AE19-62706E023703}">
                      <ahyp:hlinkClr xmlns:ahyp="http://schemas.microsoft.com/office/drawing/2018/hyperlinkcolor" val="tx"/>
                    </a:ext>
                  </a:extLst>
                </a:hlinkClick>
              </a:rPr>
              <a:t>http://localhost:5000</a:t>
            </a:r>
            <a:r>
              <a:rPr lang="fr-FR" b="1" dirty="0">
                <a:solidFill>
                  <a:srgbClr val="0070C0"/>
                </a:solidFill>
                <a:latin typeface="Yu Gothic" panose="020B0400000000000000" pitchFamily="34" charset="-128"/>
                <a:ea typeface="Yu Gothic" panose="020B0400000000000000" pitchFamily="34" charset="-128"/>
                <a:hlinkClick r:id="rId4">
                  <a:extLst>
                    <a:ext uri="{A12FA001-AC4F-418D-AE19-62706E023703}">
                      <ahyp:hlinkClr xmlns:ahyp="http://schemas.microsoft.com/office/drawing/2018/hyperlinkcolor" val="tx"/>
                    </a:ext>
                  </a:extLst>
                </a:hlinkClick>
              </a:rPr>
              <a:t>/</a:t>
            </a:r>
            <a:r>
              <a:rPr lang="fr-FR" b="1" dirty="0">
                <a:solidFill>
                  <a:srgbClr val="0070C0"/>
                </a:solidFill>
                <a:latin typeface="Yu Gothic" panose="020B0400000000000000" pitchFamily="34" charset="-128"/>
                <a:ea typeface="Yu Gothic" panose="020B0400000000000000" pitchFamily="34" charset="-128"/>
              </a:rPr>
              <a:t> </a:t>
            </a:r>
            <a:r>
              <a:rPr lang="fr-FR" dirty="0">
                <a:latin typeface="Yu Gothic" panose="020B0400000000000000" pitchFamily="34" charset="-128"/>
                <a:ea typeface="Yu Gothic" panose="020B0400000000000000" pitchFamily="34" charset="-128"/>
              </a:rPr>
              <a:t>(non exposé publiquement)</a:t>
            </a:r>
          </a:p>
          <a:p>
            <a:pPr marL="0" indent="0">
              <a:buNone/>
            </a:pPr>
            <a:endParaRPr lang="fr-FR" dirty="0">
              <a:latin typeface="Yu Gothic" panose="020B0400000000000000" pitchFamily="34" charset="-128"/>
              <a:ea typeface="Yu Gothic" panose="020B0400000000000000" pitchFamily="34" charset="-128"/>
            </a:endParaRPr>
          </a:p>
          <a:p>
            <a:pPr marL="0" indent="0">
              <a:buNone/>
            </a:pPr>
            <a:r>
              <a:rPr lang="fr-FR" dirty="0">
                <a:latin typeface="Yu Gothic" panose="020B0400000000000000" pitchFamily="34" charset="-128"/>
                <a:ea typeface="Yu Gothic" panose="020B0400000000000000" pitchFamily="34" charset="-128"/>
              </a:rPr>
              <a:t>	</a:t>
            </a:r>
            <a:r>
              <a:rPr lang="fr-FR" dirty="0">
                <a:solidFill>
                  <a:prstClr val="black">
                    <a:lumMod val="75000"/>
                    <a:lumOff val="25000"/>
                  </a:prstClr>
                </a:solidFill>
                <a:latin typeface="Yu Gothic" panose="020B0400000000000000" pitchFamily="34" charset="-128"/>
                <a:ea typeface="Yu Gothic" panose="020B0400000000000000" pitchFamily="34" charset="-128"/>
              </a:rPr>
              <a:t>❑ </a:t>
            </a:r>
            <a:r>
              <a:rPr lang="fr-FR" b="1" dirty="0" err="1">
                <a:solidFill>
                  <a:prstClr val="black">
                    <a:lumMod val="75000"/>
                    <a:lumOff val="25000"/>
                  </a:prstClr>
                </a:solidFill>
                <a:latin typeface="Yu Gothic" panose="020B0400000000000000" pitchFamily="34" charset="-128"/>
                <a:ea typeface="Yu Gothic" panose="020B0400000000000000" pitchFamily="34" charset="-128"/>
              </a:rPr>
              <a:t>FastAPI</a:t>
            </a:r>
            <a:r>
              <a:rPr lang="fr-FR" b="1" dirty="0">
                <a:solidFill>
                  <a:prstClr val="black">
                    <a:lumMod val="75000"/>
                    <a:lumOff val="25000"/>
                  </a:prstClr>
                </a:solidFill>
                <a:latin typeface="Yu Gothic" panose="020B0400000000000000" pitchFamily="34" charset="-128"/>
                <a:ea typeface="Yu Gothic" panose="020B0400000000000000" pitchFamily="34" charset="-128"/>
              </a:rPr>
              <a:t> : </a:t>
            </a:r>
            <a:r>
              <a:rPr lang="fr-FR" b="1" dirty="0">
                <a:solidFill>
                  <a:srgbClr val="0070C0"/>
                </a:solidFill>
                <a:latin typeface="Yu Gothic" panose="020B0400000000000000" pitchFamily="34" charset="-128"/>
                <a:ea typeface="Yu Gothic" panose="020B0400000000000000" pitchFamily="34" charset="-128"/>
                <a:hlinkClick r:id="rId5">
                  <a:extLst>
                    <a:ext uri="{A12FA001-AC4F-418D-AE19-62706E023703}">
                      <ahyp:hlinkClr xmlns:ahyp="http://schemas.microsoft.com/office/drawing/2018/hyperlinkcolor" val="tx"/>
                    </a:ext>
                  </a:extLst>
                </a:hlinkClick>
              </a:rPr>
              <a:t>http://127.0.0.1:8000/</a:t>
            </a:r>
            <a:r>
              <a:rPr lang="fr-FR" b="1" dirty="0">
                <a:solidFill>
                  <a:srgbClr val="0070C0"/>
                </a:solidFill>
                <a:latin typeface="Yu Gothic" panose="020B0400000000000000" pitchFamily="34" charset="-128"/>
                <a:ea typeface="Yu Gothic" panose="020B0400000000000000" pitchFamily="34" charset="-128"/>
              </a:rPr>
              <a:t> docs </a:t>
            </a:r>
            <a:r>
              <a:rPr lang="fr-FR" dirty="0">
                <a:latin typeface="Yu Gothic" panose="020B0400000000000000" pitchFamily="34" charset="-128"/>
                <a:ea typeface="Yu Gothic" panose="020B0400000000000000" pitchFamily="34" charset="-128"/>
              </a:rPr>
              <a:t>(non exposé publiquement)</a:t>
            </a:r>
          </a:p>
          <a:p>
            <a:pPr marL="0" indent="0">
              <a:buNone/>
            </a:pPr>
            <a:endParaRPr lang="fr-FR" dirty="0">
              <a:latin typeface="Yu Gothic" panose="020B0400000000000000" pitchFamily="34" charset="-128"/>
              <a:ea typeface="Yu Gothic" panose="020B0400000000000000" pitchFamily="34" charset="-128"/>
            </a:endParaRPr>
          </a:p>
          <a:p>
            <a:pPr marL="0" indent="0">
              <a:buNone/>
            </a:pPr>
            <a:r>
              <a:rPr lang="fr-FR" dirty="0">
                <a:solidFill>
                  <a:prstClr val="black">
                    <a:lumMod val="75000"/>
                    <a:lumOff val="25000"/>
                  </a:prstClr>
                </a:solidFill>
                <a:latin typeface="Yu Gothic" panose="020B0400000000000000" pitchFamily="34" charset="-128"/>
                <a:ea typeface="Yu Gothic" panose="020B0400000000000000" pitchFamily="34" charset="-128"/>
              </a:rPr>
              <a:t>	❑ </a:t>
            </a:r>
            <a:r>
              <a:rPr lang="fr-FR" b="1" dirty="0">
                <a:latin typeface="Yu Gothic" panose="020B0400000000000000" pitchFamily="34" charset="-128"/>
                <a:ea typeface="Yu Gothic" panose="020B0400000000000000" pitchFamily="34" charset="-128"/>
              </a:rPr>
              <a:t>Interface </a:t>
            </a:r>
            <a:r>
              <a:rPr lang="fr-FR" b="1" dirty="0" err="1">
                <a:latin typeface="Yu Gothic" panose="020B0400000000000000" pitchFamily="34" charset="-128"/>
                <a:ea typeface="Yu Gothic" panose="020B0400000000000000" pitchFamily="34" charset="-128"/>
              </a:rPr>
              <a:t>Streamlit</a:t>
            </a:r>
            <a:r>
              <a:rPr lang="fr-FR" b="1" dirty="0">
                <a:latin typeface="Yu Gothic" panose="020B0400000000000000" pitchFamily="34" charset="-128"/>
                <a:ea typeface="Yu Gothic" panose="020B0400000000000000" pitchFamily="34" charset="-128"/>
              </a:rPr>
              <a:t> : </a:t>
            </a:r>
            <a:r>
              <a:rPr lang="fr-FR" b="1" dirty="0">
                <a:solidFill>
                  <a:srgbClr val="0070C0"/>
                </a:solidFill>
                <a:latin typeface="Yu Gothic" panose="020B0400000000000000" pitchFamily="34" charset="-128"/>
                <a:ea typeface="Yu Gothic" panose="020B0400000000000000" pitchFamily="34" charset="-128"/>
                <a:hlinkClick r:id="rId6">
                  <a:extLst>
                    <a:ext uri="{A12FA001-AC4F-418D-AE19-62706E023703}">
                      <ahyp:hlinkClr xmlns:ahyp="http://schemas.microsoft.com/office/drawing/2018/hyperlinkcolor" val="tx"/>
                    </a:ext>
                  </a:extLst>
                </a:hlinkClick>
              </a:rPr>
              <a:t>http://localhost:8501</a:t>
            </a:r>
            <a:r>
              <a:rPr lang="fr-FR" b="1" dirty="0">
                <a:solidFill>
                  <a:srgbClr val="0070C0"/>
                </a:solidFill>
                <a:latin typeface="Yu Gothic" panose="020B0400000000000000" pitchFamily="34" charset="-128"/>
                <a:ea typeface="Yu Gothic" panose="020B0400000000000000" pitchFamily="34" charset="-128"/>
                <a:hlinkClick r:id="rId4">
                  <a:extLst>
                    <a:ext uri="{A12FA001-AC4F-418D-AE19-62706E023703}">
                      <ahyp:hlinkClr xmlns:ahyp="http://schemas.microsoft.com/office/drawing/2018/hyperlinkcolor" val="tx"/>
                    </a:ext>
                  </a:extLst>
                </a:hlinkClick>
              </a:rPr>
              <a:t>/</a:t>
            </a:r>
            <a:r>
              <a:rPr lang="fr-FR" b="1" dirty="0">
                <a:solidFill>
                  <a:srgbClr val="0070C0"/>
                </a:solidFill>
                <a:latin typeface="Yu Gothic" panose="020B0400000000000000" pitchFamily="34" charset="-128"/>
                <a:ea typeface="Yu Gothic" panose="020B0400000000000000" pitchFamily="34" charset="-128"/>
              </a:rPr>
              <a:t>  </a:t>
            </a:r>
            <a:r>
              <a:rPr lang="fr-FR" dirty="0">
                <a:latin typeface="Yu Gothic" panose="020B0400000000000000" pitchFamily="34" charset="-128"/>
                <a:ea typeface="Yu Gothic" panose="020B0400000000000000" pitchFamily="34" charset="-128"/>
              </a:rPr>
              <a:t>(non exposé publiquement)</a:t>
            </a:r>
          </a:p>
          <a:p>
            <a:pPr marL="0" indent="0">
              <a:buNone/>
            </a:pPr>
            <a:endParaRPr lang="fr-FR" dirty="0">
              <a:solidFill>
                <a:prstClr val="black">
                  <a:lumMod val="75000"/>
                  <a:lumOff val="25000"/>
                </a:prstClr>
              </a:solidFill>
              <a:latin typeface="Yu Gothic" panose="020B0400000000000000" pitchFamily="34" charset="-128"/>
              <a:ea typeface="Yu Gothic" panose="020B0400000000000000" pitchFamily="34" charset="-128"/>
            </a:endParaRPr>
          </a:p>
          <a:p>
            <a:pPr marL="0" indent="0">
              <a:buNone/>
            </a:pPr>
            <a:r>
              <a:rPr lang="fr-FR" dirty="0">
                <a:solidFill>
                  <a:prstClr val="black">
                    <a:lumMod val="75000"/>
                    <a:lumOff val="25000"/>
                  </a:prstClr>
                </a:solidFill>
                <a:latin typeface="Yu Gothic" panose="020B0400000000000000" pitchFamily="34" charset="-128"/>
                <a:ea typeface="Yu Gothic" panose="020B0400000000000000" pitchFamily="34" charset="-128"/>
              </a:rPr>
              <a:t>	❑ </a:t>
            </a:r>
            <a:r>
              <a:rPr lang="fr-FR" b="1" dirty="0">
                <a:latin typeface="Yu Gothic" panose="020B0400000000000000" pitchFamily="34" charset="-128"/>
                <a:ea typeface="Yu Gothic" panose="020B0400000000000000" pitchFamily="34" charset="-128"/>
              </a:rPr>
              <a:t>Api déployé : </a:t>
            </a:r>
            <a:r>
              <a:rPr lang="fr-FR" b="1" u="sng" dirty="0">
                <a:solidFill>
                  <a:srgbClr val="0070C0"/>
                </a:solidFill>
                <a:latin typeface="Yu Gothic" panose="020B0400000000000000" pitchFamily="34" charset="-128"/>
                <a:ea typeface="Yu Gothic" panose="020B0400000000000000" pitchFamily="34" charset="-128"/>
              </a:rPr>
              <a:t>http://solvability-env-1.eba-3sirvjbb.eu-west-3.elasticbeanstalk.com/docs </a:t>
            </a:r>
            <a:endParaRPr lang="fr-FR" u="sng" dirty="0">
              <a:latin typeface="Yu Gothic" panose="020B0400000000000000" pitchFamily="34" charset="-128"/>
              <a:ea typeface="Yu Gothic" panose="020B0400000000000000" pitchFamily="34" charset="-128"/>
            </a:endParaRPr>
          </a:p>
          <a:p>
            <a:pPr marL="0" indent="0">
              <a:buNone/>
            </a:pPr>
            <a:endParaRPr lang="fr-FR" dirty="0">
              <a:latin typeface="Yu Gothic" panose="020B0400000000000000" pitchFamily="34" charset="-128"/>
              <a:ea typeface="Yu Gothic" panose="020B0400000000000000" pitchFamily="34" charset="-128"/>
            </a:endParaRPr>
          </a:p>
        </p:txBody>
      </p:sp>
      <p:sp>
        <p:nvSpPr>
          <p:cNvPr id="4" name="Espace réservé du pied de page 3">
            <a:extLst>
              <a:ext uri="{FF2B5EF4-FFF2-40B4-BE49-F238E27FC236}">
                <a16:creationId xmlns:a16="http://schemas.microsoft.com/office/drawing/2014/main" id="{6C3AAF4D-62CF-F620-711E-D66F5473D838}"/>
              </a:ext>
            </a:extLst>
          </p:cNvPr>
          <p:cNvSpPr>
            <a:spLocks noGrp="1"/>
          </p:cNvSpPr>
          <p:nvPr>
            <p:ph type="ftr" sz="quarter" idx="11"/>
          </p:nvPr>
        </p:nvSpPr>
        <p:spPr>
          <a:xfrm>
            <a:off x="11609882" y="6459112"/>
            <a:ext cx="505768" cy="310896"/>
          </a:xfrm>
        </p:spPr>
        <p:txBody>
          <a:bodyPr/>
          <a:lstStyle/>
          <a:p>
            <a:r>
              <a:rPr lang="en-US" sz="2000" dirty="0"/>
              <a:t>24</a:t>
            </a:r>
          </a:p>
        </p:txBody>
      </p:sp>
    </p:spTree>
    <p:extLst>
      <p:ext uri="{BB962C8B-B14F-4D97-AF65-F5344CB8AC3E}">
        <p14:creationId xmlns:p14="http://schemas.microsoft.com/office/powerpoint/2010/main" val="26196072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77B3E8-4B25-956D-88B9-85B96CA6E04A}"/>
              </a:ext>
            </a:extLst>
          </p:cNvPr>
          <p:cNvSpPr>
            <a:spLocks noGrp="1"/>
          </p:cNvSpPr>
          <p:nvPr>
            <p:ph type="title"/>
          </p:nvPr>
        </p:nvSpPr>
        <p:spPr>
          <a:xfrm>
            <a:off x="0" y="-1"/>
            <a:ext cx="12192000" cy="6858001"/>
          </a:xfrm>
          <a:solidFill>
            <a:schemeClr val="bg1"/>
          </a:solidFill>
          <a:ln>
            <a:solidFill>
              <a:schemeClr val="tx2">
                <a:lumMod val="75000"/>
              </a:schemeClr>
            </a:solidFill>
          </a:ln>
        </p:spPr>
        <p:txBody>
          <a:bodyPr/>
          <a:lstStyle/>
          <a:p>
            <a:pPr algn="ctr"/>
            <a:r>
              <a:rPr lang="fr-FR" sz="3600" b="1" dirty="0">
                <a:solidFill>
                  <a:schemeClr val="accent4"/>
                </a:solidFill>
                <a:latin typeface="Yu Gothic" panose="020B0400000000000000" pitchFamily="34" charset="-128"/>
                <a:ea typeface="Yu Gothic" panose="020B0400000000000000" pitchFamily="34" charset="-128"/>
              </a:rPr>
              <a:t>Merci de votre attention</a:t>
            </a:r>
            <a:endParaRPr lang="fr-FR" dirty="0">
              <a:solidFill>
                <a:schemeClr val="accent4"/>
              </a:solidFill>
              <a:latin typeface="Yu Gothic" panose="020B0400000000000000" pitchFamily="34" charset="-128"/>
              <a:ea typeface="Yu Gothic" panose="020B0400000000000000" pitchFamily="34" charset="-128"/>
            </a:endParaRPr>
          </a:p>
        </p:txBody>
      </p:sp>
      <p:sp>
        <p:nvSpPr>
          <p:cNvPr id="3" name="Espace réservé du pied de page 2">
            <a:extLst>
              <a:ext uri="{FF2B5EF4-FFF2-40B4-BE49-F238E27FC236}">
                <a16:creationId xmlns:a16="http://schemas.microsoft.com/office/drawing/2014/main" id="{733DD28B-735C-19F5-5479-67F42108B3D8}"/>
              </a:ext>
            </a:extLst>
          </p:cNvPr>
          <p:cNvSpPr>
            <a:spLocks noGrp="1"/>
          </p:cNvSpPr>
          <p:nvPr>
            <p:ph type="ftr" sz="quarter" idx="11"/>
          </p:nvPr>
        </p:nvSpPr>
        <p:spPr>
          <a:xfrm>
            <a:off x="11362544" y="6376665"/>
            <a:ext cx="708136" cy="310896"/>
          </a:xfrm>
        </p:spPr>
        <p:txBody>
          <a:bodyPr/>
          <a:lstStyle/>
          <a:p>
            <a:r>
              <a:rPr lang="en-US" sz="2000" dirty="0"/>
              <a:t>25</a:t>
            </a:r>
          </a:p>
        </p:txBody>
      </p:sp>
    </p:spTree>
    <p:extLst>
      <p:ext uri="{BB962C8B-B14F-4D97-AF65-F5344CB8AC3E}">
        <p14:creationId xmlns:p14="http://schemas.microsoft.com/office/powerpoint/2010/main" val="12801523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le d’ions">
  <a:themeElements>
    <a:clrScheme name="Salle d’ions">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Salle d’ions">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lle d’ions">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0</TotalTime>
  <Words>1711</Words>
  <Application>Microsoft Office PowerPoint</Application>
  <PresentationFormat>Grand écran</PresentationFormat>
  <Paragraphs>268</Paragraphs>
  <Slides>26</Slides>
  <Notes>7</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26</vt:i4>
      </vt:variant>
    </vt:vector>
  </HeadingPairs>
  <TitlesOfParts>
    <vt:vector size="36" baseType="lpstr">
      <vt:lpstr>Yu Gothic</vt:lpstr>
      <vt:lpstr>arial</vt:lpstr>
      <vt:lpstr>arial</vt:lpstr>
      <vt:lpstr>Calibri</vt:lpstr>
      <vt:lpstr>Century Gothic</vt:lpstr>
      <vt:lpstr>Gill Sans MT</vt:lpstr>
      <vt:lpstr>Times New Roman</vt:lpstr>
      <vt:lpstr>Wingdings</vt:lpstr>
      <vt:lpstr>Wingdings 3</vt:lpstr>
      <vt:lpstr>Salle d’ions</vt:lpstr>
      <vt:lpstr>Implémentez un modèle de scoring</vt:lpstr>
      <vt:lpstr> Problématique</vt:lpstr>
      <vt:lpstr> Objectifs</vt:lpstr>
      <vt:lpstr> Sommaire</vt:lpstr>
      <vt:lpstr>Présentation PowerPoint</vt:lpstr>
      <vt:lpstr>Présentation PowerPoint</vt:lpstr>
      <vt:lpstr>Présentation PowerPoint</vt:lpstr>
      <vt:lpstr> Analyse exploratoire des données</vt:lpstr>
      <vt:lpstr>  Preprocessing – Merging - Feature engineering</vt:lpstr>
      <vt:lpstr>Présentation PowerPoint</vt:lpstr>
      <vt:lpstr>Traitement du déséquilibre des classes</vt:lpstr>
      <vt:lpstr>Traitement du déséquilibre des classes</vt:lpstr>
      <vt:lpstr>Modèle DummyClassifier (baseline)</vt:lpstr>
      <vt:lpstr>Modèle Régression Logistique  (avec gestion du déséquilibre des classes)</vt:lpstr>
      <vt:lpstr>Modèle RandomForestClassifier (avec gestion du déséquilibre des classes)</vt:lpstr>
      <vt:lpstr>Modèle XGBClassifier (avec gestion du déséquilibre des classes)</vt:lpstr>
      <vt:lpstr>Modèle LGBMClassifier (avec gestion du déséquilibre des classes)</vt:lpstr>
      <vt:lpstr>Optimisation des modèles en fonction du coût spécifique au métier et des hyperparamètres </vt:lpstr>
      <vt:lpstr>Interprétabilité</vt:lpstr>
      <vt:lpstr> Analyse du DataDrift  </vt:lpstr>
      <vt:lpstr>Présentation PowerPoint</vt:lpstr>
      <vt:lpstr> Présentation du dashboard</vt:lpstr>
      <vt:lpstr>Interface Swagger (FastAPI)</vt:lpstr>
      <vt:lpstr>  Interface utilisateur de l'application </vt:lpstr>
      <vt:lpstr> Références</vt:lpstr>
      <vt:lpstr>Merci de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MATY KANE</dc:creator>
  <cp:lastModifiedBy>MATY KANE</cp:lastModifiedBy>
  <cp:revision>14</cp:revision>
  <dcterms:created xsi:type="dcterms:W3CDTF">2025-03-14T09:09:25Z</dcterms:created>
  <dcterms:modified xsi:type="dcterms:W3CDTF">2025-06-12T08:17:03Z</dcterms:modified>
</cp:coreProperties>
</file>